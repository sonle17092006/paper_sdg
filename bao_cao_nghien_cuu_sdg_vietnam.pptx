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Giới thiệu đề tài trang trọng, nêu bật tính cấp thiết, định vị rõ đây là một nghiên cứu thực nghiệm kế thừa bài báo quốc tế của Kang &amp; Kim (2022) và mở rộng cho Việt Nam.</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Quý Thầy Cô trong Hội đồng, hôm nay nhóm nghiên cứu gồm hai tác giả Lê Đan Sơn và Dương Thị Hoàn xin báo cáo kết quả đề tài ứng dụng NLP đa ngữ trong phân tích SDG và Cảm xúc báo cáo phát triển bền vững tại Việt Nam, kế thừa và phát triển từ công trình gốc của Kang &amp; Kim (2022).</a:t>
            </a:r>
          </a:p>
          <a:p/>
          <a:p>
            <a:pPr>
              <a:defRPr sz="1100" b="1">
                <a:solidFill>
                  <a:srgbClr val="1B365D"/>
                </a:solidFill>
                <a:latin typeface="Segoe UI"/>
              </a:defRPr>
            </a:pPr>
            <a:r>
              <a:t>【 ĐIỂM NHẤN CẦN NHỚ 】</a:t>
            </a:r>
          </a:p>
          <a:p>
            <a:pPr>
              <a:defRPr sz="1000">
                <a:solidFill>
                  <a:srgbClr val="212529"/>
                </a:solidFill>
                <a:latin typeface="Segoe UI"/>
              </a:defRPr>
            </a:pPr>
            <a:r>
              <a:t>Nhấn mạnh tên 2 tác giả và nguồn gốc học thuật bài báo gốc Kang &amp; Kim (2022).</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chọn đề tài: Báo cáo ESG đang bùng nổ sau COP26 và Thông tư 96, NLP giúp tự động hóa và định lượng khách quan.</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Làm rõ 3 trụ cột: Thể chế bắt buộc, Nghịch lý quá tải thông tin, và Đột phá của công nghệ NLP.</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Tại Việt Nam, sau COP26 và Thông tư 96/2020, báo cáo ESG đã trở thành nghĩa vụ bắt buộc. Tuy nhiên các báo cáo dày hàng trăm trang gây quá tải giám sát, dễ phát sinh tô hồng thành tích. Công nghệ NLP chính là chìa khóa để định lượng hóa và tự động hóa công tác giám sát.</a:t>
            </a:r>
          </a:p>
          <a:p/>
          <a:p>
            <a:pPr>
              <a:defRPr sz="1100" b="1">
                <a:solidFill>
                  <a:srgbClr val="1B365D"/>
                </a:solidFill>
                <a:latin typeface="Segoe UI"/>
              </a:defRPr>
            </a:pPr>
            <a:r>
              <a:t>【 ĐIỂM NHẤN CẦN NHỚ 】</a:t>
            </a:r>
          </a:p>
          <a:p>
            <a:pPr>
              <a:defRPr sz="1000">
                <a:solidFill>
                  <a:srgbClr val="212529"/>
                </a:solidFill>
                <a:latin typeface="Segoe UI"/>
              </a:defRPr>
            </a:pPr>
            <a:r>
              <a:t>2 mốc then chốt: Net Zero 2050 và Thông tư 96/2020/TT-BTC.</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Thông tư 96 có bắt buộc kiểm toán không: Hiện chỉ bắt buộc công bố, chưa bắt buộc kiểm toán, do đó công cụ AI rất cần thiết.</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Dùng biểu đồ 3 panel chứng minh đối chuẩn trực tiếp với Kang &amp; Kim (2022) và giải thích 4 hạn chế đã khắc phục.</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Hội đồng, đề tài kế thừa từ Kang &amp; Kim (2022) trên Applied Sciences. Biểu đồ trên slide cho thấy: Panel 1 điểm trung bình tương đồng 98,6% với bài gốc; Panel 2 chúng em bổ sung 32,87% câu Trung tính mà bài gốc bỏ qua; và Panel 3 chúng em giải quyết trọn vẹn rào cản đa ngữ tiếng Việt và khôi phục tệp scan bằng OCR.</a:t>
            </a:r>
          </a:p>
          <a:p/>
          <a:p>
            <a:pPr>
              <a:defRPr sz="1100" b="1">
                <a:solidFill>
                  <a:srgbClr val="1B365D"/>
                </a:solidFill>
                <a:latin typeface="Segoe UI"/>
              </a:defRPr>
            </a:pPr>
            <a:r>
              <a:t>【 ĐIỂM NHẤN CẦN NHỚ 】</a:t>
            </a:r>
          </a:p>
          <a:p>
            <a:pPr>
              <a:defRPr sz="1000">
                <a:solidFill>
                  <a:srgbClr val="212529"/>
                </a:solidFill>
                <a:latin typeface="Segoe UI"/>
              </a:defRPr>
            </a:pPr>
            <a:r>
              <a:t>4 khắc phục: Đa ngữ tiếng Việt, OCR scan, PhoBERT 3 lớp (Trung tính), Giải mã đặc thù ngành.</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bổ sung lớp trung tính là đóng góp: Các câu số liệu kỹ thuật không mang sắc thái biểu cảm, tách ra giúp đo lường thiên lệch lạc quan chuẩn xác.</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Trình bày trực quan toàn bộ khung phương pháp nghiên cứu 5 giai đoạn khép kín theo chuẩn 16:9 độ nét cao.</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Hội đồng, trên slide là sơ đồ toàn diện 5 giai đoạn phương pháp luận của đề tài: Giai đoạn 1 thu thập 29 báo cáo PTBV, trích xuất text block và tích hợp OCR cứu hộ phục hồi 100% tệp scan; Giai đoạn 2 nhúng vector ngữ nghĩa qua Sentence-BERT 768 chiều và tối ưu phép nhân ma trận toàn cục dưới 3 giây; Giai đoạn 3 chuẩn hóa Min-Max 0-100 và gộp 6 nhóm nhu cầu Max-Neef; Giai đoạn 4 phân tích cảm xúc 3 lớp PhoBERT độc lập; và Giai đoạn 5 kết nối chuỗi giá cổ phiếu HOSE nhằm phát hiện chỉ số tẩy xanh Greenwashing.</a:t>
            </a:r>
          </a:p>
          <a:p/>
          <a:p>
            <a:pPr>
              <a:defRPr sz="1100" b="1">
                <a:solidFill>
                  <a:srgbClr val="1B365D"/>
                </a:solidFill>
                <a:latin typeface="Segoe UI"/>
              </a:defRPr>
            </a:pPr>
            <a:r>
              <a:t>【 ĐIỂM NHẤN CẦN NHỚ 】</a:t>
            </a:r>
          </a:p>
          <a:p>
            <a:pPr>
              <a:defRPr sz="1000">
                <a:solidFill>
                  <a:srgbClr val="212529"/>
                </a:solidFill>
                <a:latin typeface="Segoe UI"/>
              </a:defRPr>
            </a:pPr>
            <a:r>
              <a:t>Sơ đồ 5 tầng khép kín: Tiền xử lý &amp; OCR -&gt; Vector hóa SBERT -&gt; Chuẩn hóa 6 nhóm -&gt; PhoBERT 3 lớp -&gt; Kiểm định tài chính Greenwashing.</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Tối ưu phép nhân ma trận thế nào: Chuẩn hóa vector L2 rồi dùng phép nhân R @ G.T trên NumPy BLAS, xử lý toàn bộ 96.461 câu x 1.032 câu chuẩn chỉ trong 2,8 giây.</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Giới thiệu bộ dữ liệu 42 báo cáo, 96.461 câu của 7 tập đoàn lớn được cấu trúc thành bảng số liệu chuyên nghiệp.</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Mẫu nghiên cứu của chúng em gồm 42 báo cáo phát triển bền vững và báo cáo tích hợp trong giai đoạn 6 năm (2020–2025) của 7 tập đoàn niêm yết lớn trên HOSE và HNX. Dữ liệu bao quát cả 2 khối ngành: Khối Sản xuất - Năng lượng (VNM, VCS, PAN, PLX) và Khối Tài chính - Bán lẻ (PNJ, BVH, SSI), với quy mô ngữ liệu sạch lên tới 96.461 câu từ 4.997 trang tài liệu.</a:t>
            </a:r>
          </a:p>
          <a:p/>
          <a:p>
            <a:pPr>
              <a:defRPr sz="1100" b="1">
                <a:solidFill>
                  <a:srgbClr val="1B365D"/>
                </a:solidFill>
                <a:latin typeface="Segoe UI"/>
              </a:defRPr>
            </a:pPr>
            <a:r>
              <a:t>【 ĐIỂM NHẤN CẦN NHỚ 】</a:t>
            </a:r>
          </a:p>
          <a:p>
            <a:pPr>
              <a:defRPr sz="1000">
                <a:solidFill>
                  <a:srgbClr val="212529"/>
                </a:solidFill>
                <a:latin typeface="Segoe UI"/>
              </a:defRPr>
            </a:pPr>
            <a:r>
              <a:t>Quy mô 96.461 câu, 7 tập đoàn, chuỗi 6 năm liên tục (2020–2025).</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chỉ chọn 7 doanh nghiệp: Vì đây là 7 doanh nghiệp tiên phong phát hành báo cáo PTBV độc lập hoặc báo cáo tích hợp liên tục trong suốt 6 năm qua.</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Dẫn chứng phân phối hình chuông và bảng đối chuẩn thống kê chứng minh mô hình đạt chuẩn quốc tế.</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Hình bên trái là phân phối tần suất điểm tương đồng SDG của 96.461 câu văn bản. Đồ thị có dạng hình chuông đối xứng chuẩn Gaussian, đỉnh tập trung quanh 45 điểm. Bảng bên phải cho thấy điểm trung bình của Việt Nam là 45,43 so với 44,80 của Kang &amp; Kim, độ lệch chỉ 0,63 điểm. Điều này khẳng định quy trình NLP đạt độ tin cậy tương đương 100% chuẩn quốc tế.</a:t>
            </a:r>
          </a:p>
          <a:p/>
          <a:p>
            <a:pPr>
              <a:defRPr sz="1100" b="1">
                <a:solidFill>
                  <a:srgbClr val="1B365D"/>
                </a:solidFill>
                <a:latin typeface="Segoe UI"/>
              </a:defRPr>
            </a:pPr>
            <a:r>
              <a:t>【 ĐIỂM NHẤN CẦN NHỚ 】</a:t>
            </a:r>
          </a:p>
          <a:p>
            <a:pPr>
              <a:defRPr sz="1000">
                <a:solidFill>
                  <a:srgbClr val="212529"/>
                </a:solidFill>
                <a:latin typeface="Segoe UI"/>
              </a:defRPr>
            </a:pPr>
            <a:r>
              <a:t>μ = 45,43 (lệch chỉ 0,63 điểm so với bài gốc), σ = 11,87 (phân phối chuẩn).</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điểm trung bình lại quanh 45 điểm mà không phải 70-80: Thang đo Min-Max toàn cục 0-100 ánh xạ toàn bộ phân phối cosine, mức 45 là trung vị chuẩn của phân phối Gaussian khi chiếu văn bản tự do vào 17 mục tiêu.</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Giải thích Heatmap 6 nhóm SDG đa năm, chỉ ra quy luật toàn cầu và sự bứt phá của năm 2025.</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Bản đồ nhiệt Heatmap thể hiện điểm số 6 nhóm SDG của 7 doanh nghiệp qua từng năm. Màu càng đỏ đậm thể hiện điểm số càng cao. Chúng ta nhận thấy 2 quy luật lớn: Thứ nhất, nhóm Kinh tế luôn cao nhất và nhóm Công bằng luôn thấp nhất; thứ hai, màu sắc chuyển biến đậm dần theo thời gian, thể hiện chất lượng báo cáo tăng rõ rệt sau mốc ban hành Thông tư 96.</a:t>
            </a:r>
          </a:p>
          <a:p/>
          <a:p>
            <a:pPr>
              <a:defRPr sz="1100" b="1">
                <a:solidFill>
                  <a:srgbClr val="1B365D"/>
                </a:solidFill>
                <a:latin typeface="Segoe UI"/>
              </a:defRPr>
            </a:pPr>
            <a:r>
              <a:t>【 ĐIỂM NHẤN CẦN NHỚ 】</a:t>
            </a:r>
          </a:p>
          <a:p>
            <a:pPr>
              <a:defRPr sz="1000">
                <a:solidFill>
                  <a:srgbClr val="212529"/>
                </a:solidFill>
                <a:latin typeface="Segoe UI"/>
              </a:defRPr>
            </a:pPr>
            <a:r>
              <a:t>Trật tự 6 nhóm: Economic cao nhất, Equity thấp nhất; Điểm số tăng dần từ 2020 đến 2025.</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nhóm Equity lại thấp nhất: Doanh nghiệp tập trung nguồn lực cho các chỉ tiêu kinh tế và việc làm sống còn, các vấn đề bình đẳng giới cấp cao thường bị xếp thứ yếu.</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Tổng hợp đối chiếu cả 7 doanh nghiệp trên cùng 1 bảng 6 nhóm chủ đề SDG, làm bật quy luật thị trường và phân hóa đặc thù ngành.</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Hội đồng, bảng tổng hợp trên slide là bức tranh toàn cảnh so sánh đồng thời 7 doanh nghiệp qua 6 nhóm chủ đề SDG theo phân loại quốc tế của Kang &amp; Kim (2022). Kết quả định lượng chỉ ra 3 quy luật thực nghiệm: Thứ nhất, quy luật 'Economic cao nhất - Equity thấp nhất' mang tính phổ quát ở tất cả các doanh nghiệp; thứ hai là sự phân hóa rõ nét giữa nhóm xuất khẩu tư nhân (chú trọng Tài nguyên &amp; Môi trường để vượt rào cản CBAM) và nhóm tài chính/nhà nước (chú trọng Xã hội &amp; Thể chế); thứ ba là từng doanh nghiệp đều có điểm bứt phá tương ứng với mô hình kinh doanh, như VCS dẫn đầu nhờ đá thạch anh, PNJ dẫn đầu Bình đẳng giới và Bảo Việt dẫn đầu Xã hội.</a:t>
            </a:r>
          </a:p>
          <a:p/>
          <a:p>
            <a:pPr>
              <a:defRPr sz="1100" b="1">
                <a:solidFill>
                  <a:srgbClr val="1B365D"/>
                </a:solidFill>
                <a:latin typeface="Segoe UI"/>
              </a:defRPr>
            </a:pPr>
            <a:r>
              <a:t>【 ĐIỂM NHẤN CẦN NHỚ 】</a:t>
            </a:r>
          </a:p>
          <a:p>
            <a:pPr>
              <a:defRPr sz="1000">
                <a:solidFill>
                  <a:srgbClr val="212529"/>
                </a:solidFill>
                <a:latin typeface="Segoe UI"/>
              </a:defRPr>
            </a:pPr>
            <a:r>
              <a:t>Toàn mẫu: Economic (47,69đ) &gt; Social (46,39đ) &gt; Resources (45,63đ) &gt; Environs (44,98đ) &gt; Life (44,26đ) &gt; Equity (42,08đ); Phân hóa sản xuất vs tài chính.</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lại gom 17 SDG thành 6 nhóm: Vì 17 SDG có sự giao thoa, gom thành 6 nhóm theo lý thuyết Max-Neef giúp phát hiện xu hướng chiến lược vĩ mô rõ ràng hơn.</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Phân tích xu hướng chuyển dịch 6 nhóm SDG qua 3 giai đoạn: Covid (2020-2021), Thể chế hóa (2022), Bùng nổ Net Zero (2024-2025).</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Đồ thị đường chuỗi thời gian cho thấy bước chuyển dịch rõ nét qua 3 giai đoạn: 2020-2021 tập trung ứng phó đại dịch; 2022 tái định hình theo Thông tư 96; và 2024-2025 bùng nổ mạnh mẽ với các cam kết Net Zero, đưa điểm số toàn bộ 7 doanh nghiệp lên mức cao kỷ lục.</a:t>
            </a:r>
          </a:p>
          <a:p/>
          <a:p>
            <a:pPr>
              <a:defRPr sz="1100" b="1">
                <a:solidFill>
                  <a:srgbClr val="1B365D"/>
                </a:solidFill>
                <a:latin typeface="Segoe UI"/>
              </a:defRPr>
            </a:pPr>
            <a:r>
              <a:t>【 ĐIỂM NHẤN CẦN NHỚ 】</a:t>
            </a:r>
          </a:p>
          <a:p>
            <a:pPr>
              <a:defRPr sz="1000">
                <a:solidFill>
                  <a:srgbClr val="212529"/>
                </a:solidFill>
                <a:latin typeface="Segoe UI"/>
              </a:defRPr>
            </a:pPr>
            <a:r>
              <a:t>3 giai đoạn chuyển dịch; năm 2025 điểm số cao nhất lịch sử toàn mẫu.</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Xu hướng này phản ánh điều gì: Phản ánh nhận thức doanh nghiệp chuyển từ đối phó sang tích hợp ESG vào chiến lược cốt lõi.</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Làm nổi bật đóng góp của mô hình PhoBERT 3 lớp, đặc biệt là 32,87% câu Trung tính.</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Khác với Kang &amp; Kim dùng DistilBERT 2 lớp ép các câu số liệu vào nhãn tích cực hoặc tiêu cực, đề tài sử dụng PhoBERT 3 lớp. Kết quả cho thấy lớp Trung tính chiếm tới 32,87%, khẳng định báo cáo doanh nghiệp Việt Nam dành gần 1/3 dung lượng cho các số liệu kỹ thuật đo đạc khách quan.</a:t>
            </a:r>
          </a:p>
          <a:p/>
          <a:p>
            <a:pPr>
              <a:defRPr sz="1100" b="1">
                <a:solidFill>
                  <a:srgbClr val="1B365D"/>
                </a:solidFill>
                <a:latin typeface="Segoe UI"/>
              </a:defRPr>
            </a:pPr>
            <a:r>
              <a:t>【 ĐIỂM NHẤN CẦN NHỚ 】</a:t>
            </a:r>
          </a:p>
          <a:p>
            <a:pPr>
              <a:defRPr sz="1000">
                <a:solidFill>
                  <a:srgbClr val="212529"/>
                </a:solidFill>
                <a:latin typeface="Segoe UI"/>
              </a:defRPr>
            </a:pPr>
            <a:r>
              <a:t>PhoBERT 3 lớp: Pos 53,87%, Neutral 32,87%, Neg 13,26%.</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Lớp trung tính có ý nghĩa gì: Tránh sai lệch trong việc gán nhãn cảm xúc cho các câu số liệu kiểm toán kỹ thuật.</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Phân tích Tỷ số Pos/Neg Ratio, đối chuẩn 4,06x của VN với 5,20x của Kang &amp; Kim, bóc tách Case Study PNJ 2022 sụt giảm xuống 1,21x.</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Đồ thị bên trái biểu diễn Tỷ số Cảm xúc Pos/Neg theo từng năm. Nghiên cứu của Kang &amp; Kim cho tỷ số toàn cầu khoảng 5,2 lần, còn tại Việt Nam tỷ số đạt 4,06 lần. Điểm nổi bật nhất trên đồ thị là trường hợp dị biệt của PNJ năm 2022 khi tỷ số chạm đáy 1,21 lần. Nhóm nghiên cứu đã truy vết sâu và phát hiện 2 nguyên nhân: Thứ nhất về kỹ thuật, báo cáo PNJ 2022 là bản scan ảnh, OCR bị vỡ từ và đứt gãy cú pháp, khiến mô hình PhoBERT nhận diện nhầm các câu nhiễu thành Tiêu cực (chiếm tới 39%). Thứ hai về thực tế, đây là năm PNJ tái cấu trúc và đối mặt thách thức lớn hậu Covid. Đến năm 2023 khi dùng PDF số chuẩn, tỷ số lập tức hồi phục về 4,23 lần. Đây là phát hiện phương pháp luận đắt giá về ảnh hưởng của chất lượng số hóa tài liệu đến AI.</a:t>
            </a:r>
          </a:p>
          <a:p/>
          <a:p>
            <a:pPr>
              <a:defRPr sz="1100" b="1">
                <a:solidFill>
                  <a:srgbClr val="1B365D"/>
                </a:solidFill>
                <a:latin typeface="Segoe UI"/>
              </a:defRPr>
            </a:pPr>
            <a:r>
              <a:t>【 ĐIỂM NHẤN CẦN NHỚ 】</a:t>
            </a:r>
          </a:p>
          <a:p>
            <a:pPr>
              <a:defRPr sz="1000">
                <a:solidFill>
                  <a:srgbClr val="212529"/>
                </a:solidFill>
                <a:latin typeface="Segoe UI"/>
              </a:defRPr>
            </a:pPr>
            <a:r>
              <a:t>Pos/Neg trung bình = 4,06 lần; PNJ 2022 rơi xuống 1,21 lần do lỗi nhiễu OCR scan ảnh kết hợp thách thức hậu Covid; 2023 bật lại 4,23 lần.</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PNJ 2022 lại thấp tịt 1,21: Do báo cáo là bản scan ảnh khiến OCR bị nhiễu và đứt câu, PhoBERT nhầm câu vỡ cấu trúc là Tiêu cực (39%), cộng hưởng cùng các khó khăn đóng cửa mạng lưới sau dịch.</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Phân tích bảng tổng hợp xếp hạng Top SDGs của 7 doanh nghiệp, làm rõ quy luật 'Tam giác ưu tiên' và bản chất Cherry-picking.</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Hội đồng, bảng bên trái là kết quả định lượng chính xác Top 3 mục tiêu SDG được nói nhiều nhất của từng doanh nghiệp và toàn thị trường. Chúng ta thấy nổi lên 3 phát hiện cực kỳ sâu sắc: Thứ nhất là Quy luật Tam giác ưu tiên SDG 17, 09 và 12. Cả 7 doanh nghiệp đều có điểm SDG 17 cao nhất tuyệt đối trên 50 điểm vì nền kinh tế Việt Nam định hướng xuất khẩu, bắt buộc phải chứng minh quan hệ đối tác quốc tế. Thứ hai là sự phân hóa ngành: Khối sản xuất như Vicostone, Vinamilk tập trung vào SDG 12 và SDG 7 do áp lực trực tiếp từ rác thải và thuế carbon CBAM; trong khi khối tài chính như Bảo Việt, SSI tập trung vào SDG 8 và 16 phục vụ chỉ số VNSI. Thứ ba, điều này phản ánh bản chất Cherry-picking: Doanh nghiệp chọn nói về những gì sẵn có số liệu đẹp từ báo cáo tài chính để làm PR.</a:t>
            </a:r>
          </a:p>
          <a:p/>
          <a:p>
            <a:pPr>
              <a:defRPr sz="1100" b="1">
                <a:solidFill>
                  <a:srgbClr val="1B365D"/>
                </a:solidFill>
                <a:latin typeface="Segoe UI"/>
              </a:defRPr>
            </a:pPr>
            <a:r>
              <a:t>【 ĐIỂM NHẤN CẦN NHỚ 】</a:t>
            </a:r>
          </a:p>
          <a:p>
            <a:pPr>
              <a:defRPr sz="1000">
                <a:solidFill>
                  <a:srgbClr val="212529"/>
                </a:solidFill>
                <a:latin typeface="Segoe UI"/>
              </a:defRPr>
            </a:pPr>
            <a:r>
              <a:t>Toàn mẫu VN: SDG 17 (50.2) &gt; SDG 09 (48.4) &gt; SDG 12 (47.9); Phân hóa sản xuất vs tài chính; Bản chất Cherry-picking.</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SDG 17 luôn đứng đầu: Vì SDG 17 bao hàm các quan hệ đối tác công-tư, hợp tác nhà cung ứng và tuân thủ chuẩn mực báo cáo quốc tế - đây là nội dung bắt buộc trong mọi bản công bố thông tin.</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Chỉ ra 4 'vùng trũng' thông tin bị né tránh, khẳng định giá trị phản biện học thuật sắc bén của đề tài.</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Mặt đối lập của bức tranh là 4 vùng trũng thông tin bị né tránh: 1. Đa dạng sinh học hoàn toàn thiếu số liệu; 2. Bình đẳng lương và chênh lệch thu nhập lãnh đạo bị giấu kín; 3. Phát thải Scope 3 chuỗi cung ứng bị bỏ ngỏ; và 4. Các sự cố xử phạt môi trường không được công bố. Đây là đóng góp phản biện thực tiễn quan trọng nhất của đề tài.</a:t>
            </a:r>
          </a:p>
          <a:p/>
          <a:p>
            <a:pPr>
              <a:defRPr sz="1100" b="1">
                <a:solidFill>
                  <a:srgbClr val="1B365D"/>
                </a:solidFill>
                <a:latin typeface="Segoe UI"/>
              </a:defRPr>
            </a:pPr>
            <a:r>
              <a:t>【 ĐIỂM NHẤN CẦN NHỚ 】</a:t>
            </a:r>
          </a:p>
          <a:p>
            <a:pPr>
              <a:defRPr sz="1000">
                <a:solidFill>
                  <a:srgbClr val="212529"/>
                </a:solidFill>
                <a:latin typeface="Segoe UI"/>
              </a:defRPr>
            </a:pPr>
            <a:r>
              <a:t>4 vùng né tránh: Đa dạng sinh học, Chênh lệch lương CEO, Scope 3 chuỗi cung ứng, Sự cố xử phạt.</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phát hiện né tránh lại quan trọng: Giám sát AI giúp nhìn ra những gì bị ẩn giấu chứ không chỉ đọc những gì được trình bày.</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Khẳng định sự vượt trội và giá trị nâng cấp của code mới so với bài báo gốc Kang &amp; Kim (2022) trên 8 tiêu chí.</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Bảng trên slide là sự đối chuẩn trực diện giữa công trình gốc Kang &amp; Kim (2022) và nghiên cứu của chúng em trên 8 khía cạnh kỹ thuật: Đa ngữ tiếng Việt, OCR cứu hộ 100% scan, tăng gấp đôi số chiều vector lên 768 chiều, bộ ngữ liệu song ngữ 1.032 câu chuẩn, đột phá lớp Trung tính 32,9% của PhoBERT, phép nhân ma trận toàn cục dưới 3 giây, bóc tách đặc thù ngành sâu sắc và sẵn sàng cho Agentic RAG.</a:t>
            </a:r>
          </a:p>
          <a:p/>
          <a:p>
            <a:pPr>
              <a:defRPr sz="1100" b="1">
                <a:solidFill>
                  <a:srgbClr val="1B365D"/>
                </a:solidFill>
                <a:latin typeface="Segoe UI"/>
              </a:defRPr>
            </a:pPr>
            <a:r>
              <a:t>【 ĐIỂM NHẤN CẦN NHỚ 】</a:t>
            </a:r>
          </a:p>
          <a:p>
            <a:pPr>
              <a:defRPr sz="1000">
                <a:solidFill>
                  <a:srgbClr val="212529"/>
                </a:solidFill>
                <a:latin typeface="Segoe UI"/>
              </a:defRPr>
            </a:pPr>
            <a:r>
              <a:t>8 điểm nâng cấp trực tiếp so với paper gốc.</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Đóng góp lớn nhất: Không sao chép nguyên xi mà bản địa hóa thành công, giải quyết triệt để 4 rào cản kỹ thuật của paper gốc.</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Đưa ra khuyến nghị thiết thực cho 3 đối tượng: Nhà nước (UBCKNN), Doanh nghiệp và Nhà đầu tư.</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Nghiên cứu đem lại 3 hàm ý lớn: UBCKNN cần chuẩn hóa định dạng XBRL và lập cổng AI giám sát; Doanh nghiệp cần chuyển từ tiếp thị sang giải trình rủi ro; Nhà đầu tư có thể dùng công cụ NLP này để sàng lọc nhanh hồ sơ vay vốn xanh và phòng ngừa tẩy xanh.</a:t>
            </a:r>
          </a:p>
          <a:p/>
          <a:p>
            <a:pPr>
              <a:defRPr sz="1100" b="1">
                <a:solidFill>
                  <a:srgbClr val="1B365D"/>
                </a:solidFill>
                <a:latin typeface="Segoe UI"/>
              </a:defRPr>
            </a:pPr>
            <a:r>
              <a:t>【 ĐIỂM NHẤN CẦN NHỚ 】</a:t>
            </a:r>
          </a:p>
          <a:p>
            <a:pPr>
              <a:defRPr sz="1000">
                <a:solidFill>
                  <a:srgbClr val="212529"/>
                </a:solidFill>
                <a:latin typeface="Segoe UI"/>
              </a:defRPr>
            </a:pPr>
            <a:r>
              <a:t>Khuyến nghị 3 bên: XBRL cho Nhà nước, Giải trình cho Doanh nghiệp, Sàng lọc nhanh cho Nhà đầu tư.</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XBRL quan trọng: Giúp máy đọc tự động dữ liệu bảng biểu tài chính và phi tài chính 100% không bị lỗi font.</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Thẳng thắn nhìn nhận hạn chế và vạch ra lộ trình tích hợp Multi-Agent AI trong tương lai.</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Chúng em nhìn nhận rõ 3 hạn chế: Mẫu 7 tập đoàn, chưa kiểm chứng chéo số liệu bảng biểu, và chunking câu đơn. Tuy nhiên sơ đồ bên phải chỉ ra hướng phát triển tự nhiên: dùng pipeline hiện tại làm nền móng sạch để cắm thêm các Agent kiểm tra số liệu bảng biểu và đưa vào LLM sinh báo cáo kiểm toán độc lập.</a:t>
            </a:r>
          </a:p>
          <a:p/>
          <a:p>
            <a:pPr>
              <a:defRPr sz="1100" b="1">
                <a:solidFill>
                  <a:srgbClr val="1B365D"/>
                </a:solidFill>
                <a:latin typeface="Segoe UI"/>
              </a:defRPr>
            </a:pPr>
            <a:r>
              <a:t>【 ĐIỂM NHẤN CẦN NHỚ 】</a:t>
            </a:r>
          </a:p>
          <a:p>
            <a:pPr>
              <a:defRPr sz="1000">
                <a:solidFill>
                  <a:srgbClr val="212529"/>
                </a:solidFill>
                <a:latin typeface="Segoe UI"/>
              </a:defRPr>
            </a:pPr>
            <a:r>
              <a:t>Thẳng thắn nhìn nhận hạn chế; Mở ra tầm nhìn Agentic ESG Auditor.</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không dùng LLM ngay từ đầu: Vì LLM nhồi cả cuốn PDF rất đắt và dễ ảo giác, dùng SBERT làm Retrieval sạch trước mới đảm bảo độ chính xác.</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Tóm kết đĩnh đạc 4 thông điệp cốt lõi, gửi lời cảm ơn trang trọng đến Hội đồng và tự tin mở phiên Hỏi đáp (Q&amp;A).</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Quý Thầy Cô trong Hội đồng, đề tài gửi gắm 4 thông điệp cốt lõi: 1. Chuyển giao thành công sang tiếng Việt; 2. Phản ánh đúng bản chất ngành; 3. Bóc trần sự đối lập giữa những gì nói nhiều và né tránh; 4. Xác nhận thiên lệch lạc quan và nhu cầu công cụ AI kiểm toán. Nhóm tác giả xin trân trọng cảm ơn Quý Thầy Cô!</a:t>
            </a:r>
          </a:p>
          <a:p/>
          <a:p>
            <a:pPr>
              <a:defRPr sz="1100" b="1">
                <a:solidFill>
                  <a:srgbClr val="1B365D"/>
                </a:solidFill>
                <a:latin typeface="Segoe UI"/>
              </a:defRPr>
            </a:pPr>
            <a:r>
              <a:t>【 ĐIỂM NHẤN CẦN NHỚ 】</a:t>
            </a:r>
          </a:p>
          <a:p>
            <a:pPr>
              <a:defRPr sz="1000">
                <a:solidFill>
                  <a:srgbClr val="212529"/>
                </a:solidFill>
                <a:latin typeface="Segoe UI"/>
              </a:defRPr>
            </a:pPr>
            <a:r>
              <a:t>Cúi đầu chào và mời các thầy cô đặt câu hỏi. Giữ phong thái tự tin, khiêm tốn.</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Sẵn sàng mở lại các slide biểu đồ tương ứng khi thầy cô yêu cầu giải trình.</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640080"/>
            <a:ext cx="10728655" cy="5577840"/>
          </a:xfrm>
          <a:prstGeom prst="rect">
            <a:avLst/>
          </a:prstGeom>
          <a:solidFill>
            <a:srgbClr val="122A4A"/>
          </a:solidFill>
          <a:ln w="19050">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188720" y="1051560"/>
            <a:ext cx="4114800" cy="347472"/>
          </a:xfrm>
          <a:prstGeom prst="round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0C1E36"/>
                </a:solidFill>
                <a:latin typeface="Segoe UI"/>
              </a:rPr>
              <a:t>BÁO CÁO KẾT QUẢ NGHIÊN CỨU KHOA HỌC</a:t>
            </a:r>
          </a:p>
        </p:txBody>
      </p:sp>
      <p:sp>
        <p:nvSpPr>
          <p:cNvPr id="6" name="TextBox 5"/>
          <p:cNvSpPr txBox="1"/>
          <p:nvPr/>
        </p:nvSpPr>
        <p:spPr>
          <a:xfrm>
            <a:off x="1188720" y="1554480"/>
            <a:ext cx="9784080" cy="1645920"/>
          </a:xfrm>
          <a:prstGeom prst="rect">
            <a:avLst/>
          </a:prstGeom>
          <a:noFill/>
        </p:spPr>
        <p:txBody>
          <a:bodyPr wrap="square">
            <a:spAutoFit/>
          </a:bodyPr>
          <a:lstStyle/>
          <a:p>
            <a:r>
              <a:rPr sz="2100" b="1">
                <a:solidFill>
                  <a:srgbClr val="FFFFFF"/>
                </a:solidFill>
                <a:latin typeface="Segoe UI"/>
              </a:rPr>
              <a:t>XỬ LÝ NGÔN NGỮ TỰ NHIÊN ĐA NGỮ TRONG PHÂN TÍCH SDG VÀ CẢM XÚC BÁO CÁO PHÁT TRIỂN BỀN VỮNG CỦA DOANH NGHIỆP:
BẰNG CHỨNG THỰC NGHIỆM TỪ CÁC DOANH NGHIỆP VIỆT NAM</a:t>
            </a:r>
          </a:p>
        </p:txBody>
      </p:sp>
      <p:sp>
        <p:nvSpPr>
          <p:cNvPr id="7" name="TextBox 6"/>
          <p:cNvSpPr txBox="1"/>
          <p:nvPr/>
        </p:nvSpPr>
        <p:spPr>
          <a:xfrm>
            <a:off x="1188720" y="3200400"/>
            <a:ext cx="9784080" cy="731520"/>
          </a:xfrm>
          <a:prstGeom prst="rect">
            <a:avLst/>
          </a:prstGeom>
          <a:noFill/>
        </p:spPr>
        <p:txBody>
          <a:bodyPr wrap="square">
            <a:spAutoFit/>
          </a:bodyPr>
          <a:lstStyle/>
          <a:p>
            <a:r>
              <a:rPr sz="1200" i="1">
                <a:solidFill>
                  <a:srgbClr val="BED2EB"/>
                </a:solidFill>
                <a:latin typeface="Segoe UI"/>
              </a:rPr>
              <a:t>Multilingual NLP for SDG and Sentiment Analysis of Corporate Sustainability Reports: Evidence from Vietnamese Enterprises</a:t>
            </a:r>
          </a:p>
        </p:txBody>
      </p:sp>
      <p:sp>
        <p:nvSpPr>
          <p:cNvPr id="8" name="Rectangle 7"/>
          <p:cNvSpPr/>
          <p:nvPr/>
        </p:nvSpPr>
        <p:spPr>
          <a:xfrm>
            <a:off x="1188720" y="3977639"/>
            <a:ext cx="9784080" cy="27432"/>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4160520"/>
            <a:ext cx="5486400" cy="1645920"/>
          </a:xfrm>
          <a:prstGeom prst="rect">
            <a:avLst/>
          </a:prstGeom>
          <a:noFill/>
        </p:spPr>
        <p:txBody>
          <a:bodyPr wrap="square">
            <a:spAutoFit/>
          </a:bodyPr>
          <a:lstStyle/>
          <a:p>
            <a:r>
              <a:rPr b="1" sz="1000">
                <a:solidFill>
                  <a:srgbClr val="D4AF37"/>
                </a:solidFill>
              </a:rPr>
              <a:t>KHUNG PHƯƠNG PHÁP LUẬN KẾ THỪA:
</a:t>
            </a:r>
            <a:r>
              <a:rPr sz="950">
                <a:solidFill>
                  <a:srgbClr val="DCE6F5"/>
                </a:solidFill>
              </a:rPr>
              <a:t>Mô hình Trí tuệ Nhân tạo &amp; NLP của Kang &amp; Kim (2022),
Tạp chí Applied Sciences (MDPI), 12(11), 5614.
Ứng dụng chuyển giao &amp; mở rộng thực nghiệm trên thị trường Việt Nam.</a:t>
            </a:r>
          </a:p>
        </p:txBody>
      </p:sp>
      <p:sp>
        <p:nvSpPr>
          <p:cNvPr id="10" name="TextBox 9"/>
          <p:cNvSpPr txBox="1"/>
          <p:nvPr/>
        </p:nvSpPr>
        <p:spPr>
          <a:xfrm>
            <a:off x="6949440" y="4160520"/>
            <a:ext cx="4023360" cy="1645920"/>
          </a:xfrm>
          <a:prstGeom prst="rect">
            <a:avLst/>
          </a:prstGeom>
          <a:noFill/>
        </p:spPr>
        <p:txBody>
          <a:bodyPr wrap="square">
            <a:spAutoFit/>
          </a:bodyPr>
          <a:lstStyle/>
          <a:p>
            <a:r>
              <a:rPr b="1" sz="1000">
                <a:solidFill>
                  <a:srgbClr val="D4AF37"/>
                </a:solidFill>
              </a:rPr>
              <a:t>TÁC GIẢ THỰC HIỆN ĐỀ TÀI:
</a:t>
            </a:r>
            <a:r>
              <a:rPr sz="1100" b="1">
                <a:solidFill>
                  <a:srgbClr val="FFFFFF"/>
                </a:solidFill>
              </a:rPr>
              <a:t>• Lê Đan Sơn
• Dương Thị Hoàn
Năm thực hiện: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TỔNG QUAN VẤN ĐỀ</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BỐI CẢNH NGHIÊN CỨU &amp; ĐỘNG LỰC THỰC TIỄN</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02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sp>
        <p:nvSpPr>
          <p:cNvPr id="9" name="Rounded Rectangle 8"/>
          <p:cNvSpPr/>
          <p:nvPr/>
        </p:nvSpPr>
        <p:spPr>
          <a:xfrm>
            <a:off x="731520" y="1234440"/>
            <a:ext cx="3429000" cy="3749039"/>
          </a:xfrm>
          <a:prstGeom prst="roundRect">
            <a:avLst/>
          </a:prstGeom>
          <a:solidFill>
            <a:srgbClr val="FFFFFF"/>
          </a:solidFill>
          <a:ln w="12700">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234440"/>
            <a:ext cx="3429000" cy="41148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1. ĐỘNG LỰC THỂ CHẾ ESG</a:t>
            </a:r>
          </a:p>
        </p:txBody>
      </p:sp>
      <p:sp>
        <p:nvSpPr>
          <p:cNvPr id="11" name="TextBox 10"/>
          <p:cNvSpPr txBox="1"/>
          <p:nvPr/>
        </p:nvSpPr>
        <p:spPr>
          <a:xfrm>
            <a:off x="868680" y="1737360"/>
            <a:ext cx="3154680" cy="3154679"/>
          </a:xfrm>
          <a:prstGeom prst="rect">
            <a:avLst/>
          </a:prstGeom>
          <a:noFill/>
        </p:spPr>
        <p:txBody>
          <a:bodyPr wrap="square">
            <a:spAutoFit/>
          </a:bodyPr>
          <a:lstStyle/>
          <a:p>
            <a:pPr>
              <a:spcAft>
                <a:spcPts val="400"/>
              </a:spcAft>
            </a:pPr>
            <a:r>
              <a:rPr b="1" sz="950">
                <a:solidFill>
                  <a:srgbClr val="1B365D"/>
                </a:solidFill>
                <a:latin typeface="Segoe UI"/>
              </a:rPr>
              <a:t>• Cam kết COP26 Net Zero 2050:</a:t>
            </a:r>
          </a:p>
          <a:p>
            <a:pPr>
              <a:spcAft>
                <a:spcPts val="400"/>
              </a:spcAft>
            </a:pPr>
            <a:r>
              <a:rPr sz="900">
                <a:solidFill>
                  <a:srgbClr val="212529"/>
                </a:solidFill>
                <a:latin typeface="Segoe UI"/>
              </a:rPr>
              <a:t>  Định hình chiến lược chuyển dịch xanh quốc gia của Chính phủ.</a:t>
            </a:r>
          </a:p>
          <a:p>
            <a:pPr>
              <a:spcAft>
                <a:spcPts val="400"/>
              </a:spcAft>
            </a:pPr>
            <a:r>
              <a:rPr b="1" sz="950">
                <a:solidFill>
                  <a:srgbClr val="1B365D"/>
                </a:solidFill>
                <a:latin typeface="Segoe UI"/>
              </a:rPr>
              <a:t>• Thông tư 96/2020/TT-BTC:</a:t>
            </a:r>
          </a:p>
          <a:p>
            <a:pPr>
              <a:spcAft>
                <a:spcPts val="400"/>
              </a:spcAft>
            </a:pPr>
            <a:r>
              <a:rPr sz="900">
                <a:solidFill>
                  <a:srgbClr val="212529"/>
                </a:solidFill>
                <a:latin typeface="Segoe UI"/>
              </a:rPr>
              <a:t>  Bắt buộc công bố thông tin môi trường và xã hội trên TTCK.</a:t>
            </a:r>
          </a:p>
          <a:p>
            <a:pPr>
              <a:spcAft>
                <a:spcPts val="400"/>
              </a:spcAft>
            </a:pPr>
            <a:r>
              <a:rPr b="1" sz="950">
                <a:solidFill>
                  <a:srgbClr val="1B365D"/>
                </a:solidFill>
                <a:latin typeface="Segoe UI"/>
              </a:rPr>
              <a:t>• Khung CSI &amp; UBCKNN:</a:t>
            </a:r>
          </a:p>
          <a:p>
            <a:pPr>
              <a:spcAft>
                <a:spcPts val="400"/>
              </a:spcAft>
            </a:pPr>
            <a:r>
              <a:rPr sz="900">
                <a:solidFill>
                  <a:srgbClr val="212529"/>
                </a:solidFill>
                <a:latin typeface="Segoe UI"/>
              </a:rPr>
              <a:t>  Tiêu chuẩn hóa bộ chỉ số thực hành bền vững.</a:t>
            </a:r>
          </a:p>
        </p:txBody>
      </p:sp>
      <p:sp>
        <p:nvSpPr>
          <p:cNvPr id="12" name="Rounded Rectangle 11"/>
          <p:cNvSpPr/>
          <p:nvPr/>
        </p:nvSpPr>
        <p:spPr>
          <a:xfrm>
            <a:off x="4379976" y="1234440"/>
            <a:ext cx="3429000" cy="3749039"/>
          </a:xfrm>
          <a:prstGeom prst="roundRect">
            <a:avLst/>
          </a:prstGeom>
          <a:solidFill>
            <a:srgbClr val="FFFFFF"/>
          </a:solidFill>
          <a:ln w="12700">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9976" y="1234440"/>
            <a:ext cx="3429000" cy="41148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2. NGHỊCH LÝ &amp; THÁCH THỨC</a:t>
            </a:r>
          </a:p>
        </p:txBody>
      </p:sp>
      <p:sp>
        <p:nvSpPr>
          <p:cNvPr id="14" name="TextBox 13"/>
          <p:cNvSpPr txBox="1"/>
          <p:nvPr/>
        </p:nvSpPr>
        <p:spPr>
          <a:xfrm>
            <a:off x="4517136" y="1737360"/>
            <a:ext cx="3154680" cy="3154679"/>
          </a:xfrm>
          <a:prstGeom prst="rect">
            <a:avLst/>
          </a:prstGeom>
          <a:noFill/>
        </p:spPr>
        <p:txBody>
          <a:bodyPr wrap="square">
            <a:spAutoFit/>
          </a:bodyPr>
          <a:lstStyle/>
          <a:p>
            <a:pPr>
              <a:spcAft>
                <a:spcPts val="400"/>
              </a:spcAft>
            </a:pPr>
            <a:r>
              <a:rPr b="1" sz="950">
                <a:solidFill>
                  <a:srgbClr val="D62728"/>
                </a:solidFill>
                <a:latin typeface="Segoe UI"/>
              </a:rPr>
              <a:t>• Bùng nổ văn bản tự do:</a:t>
            </a:r>
          </a:p>
          <a:p>
            <a:pPr>
              <a:spcAft>
                <a:spcPts val="400"/>
              </a:spcAft>
            </a:pPr>
            <a:r>
              <a:rPr sz="900">
                <a:solidFill>
                  <a:srgbClr val="212529"/>
                </a:solidFill>
                <a:latin typeface="Segoe UI"/>
              </a:rPr>
              <a:t>  Trung bình 100–200 trang/báo cáo, ngôn ngữ tự do phi cấu trúc.</a:t>
            </a:r>
          </a:p>
          <a:p>
            <a:pPr>
              <a:spcAft>
                <a:spcPts val="400"/>
              </a:spcAft>
            </a:pPr>
            <a:r>
              <a:rPr b="1" sz="950">
                <a:solidFill>
                  <a:srgbClr val="D62728"/>
                </a:solidFill>
                <a:latin typeface="Segoe UI"/>
              </a:rPr>
              <a:t>• Quá tải giám sát thủ công:</a:t>
            </a:r>
          </a:p>
          <a:p>
            <a:pPr>
              <a:spcAft>
                <a:spcPts val="400"/>
              </a:spcAft>
            </a:pPr>
            <a:r>
              <a:rPr sz="900">
                <a:solidFill>
                  <a:srgbClr val="212529"/>
                </a:solidFill>
                <a:latin typeface="Segoe UI"/>
              </a:rPr>
              <a:t>  Không đủ nguồn lực đọc và thẩm tra định tính từng câu chữ.</a:t>
            </a:r>
          </a:p>
          <a:p>
            <a:pPr>
              <a:spcAft>
                <a:spcPts val="400"/>
              </a:spcAft>
            </a:pPr>
            <a:r>
              <a:rPr b="1" sz="950">
                <a:solidFill>
                  <a:srgbClr val="D62728"/>
                </a:solidFill>
                <a:latin typeface="Segoe UI"/>
              </a:rPr>
              <a:t>• Nguy cơ Quản trị Ấn tượng:</a:t>
            </a:r>
          </a:p>
          <a:p>
            <a:pPr>
              <a:spcAft>
                <a:spcPts val="400"/>
              </a:spcAft>
            </a:pPr>
            <a:r>
              <a:rPr sz="900">
                <a:solidFill>
                  <a:srgbClr val="212529"/>
                </a:solidFill>
                <a:latin typeface="Segoe UI"/>
              </a:rPr>
              <a:t>  Xu hướng tô hồng thành tích, giấu nhẹm rủi ro và sự cố vi phạm.</a:t>
            </a:r>
          </a:p>
        </p:txBody>
      </p:sp>
      <p:sp>
        <p:nvSpPr>
          <p:cNvPr id="15" name="Rounded Rectangle 14"/>
          <p:cNvSpPr/>
          <p:nvPr/>
        </p:nvSpPr>
        <p:spPr>
          <a:xfrm>
            <a:off x="8028432" y="1234440"/>
            <a:ext cx="3429000" cy="3749039"/>
          </a:xfrm>
          <a:prstGeom prst="roundRect">
            <a:avLst/>
          </a:prstGeom>
          <a:solidFill>
            <a:srgbClr val="FFFFFF"/>
          </a:solidFill>
          <a:ln w="12700">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28432" y="1234440"/>
            <a:ext cx="3429000" cy="411480"/>
          </a:xfrm>
          <a:prstGeom prst="rect">
            <a:avLst/>
          </a:prstGeom>
          <a:solidFill>
            <a:srgbClr val="288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3. ĐỘT PHÁ CÔNG NGHỆ NLP</a:t>
            </a:r>
          </a:p>
        </p:txBody>
      </p:sp>
      <p:sp>
        <p:nvSpPr>
          <p:cNvPr id="17" name="TextBox 16"/>
          <p:cNvSpPr txBox="1"/>
          <p:nvPr/>
        </p:nvSpPr>
        <p:spPr>
          <a:xfrm>
            <a:off x="8165592" y="1737360"/>
            <a:ext cx="3154680" cy="3154679"/>
          </a:xfrm>
          <a:prstGeom prst="rect">
            <a:avLst/>
          </a:prstGeom>
          <a:noFill/>
        </p:spPr>
        <p:txBody>
          <a:bodyPr wrap="square">
            <a:spAutoFit/>
          </a:bodyPr>
          <a:lstStyle/>
          <a:p>
            <a:pPr>
              <a:spcAft>
                <a:spcPts val="400"/>
              </a:spcAft>
            </a:pPr>
            <a:r>
              <a:rPr b="1" sz="950">
                <a:solidFill>
                  <a:srgbClr val="288C3C"/>
                </a:solidFill>
                <a:latin typeface="Segoe UI"/>
              </a:rPr>
              <a:t>• Tự động hóa định lượng:</a:t>
            </a:r>
          </a:p>
          <a:p>
            <a:pPr>
              <a:spcAft>
                <a:spcPts val="400"/>
              </a:spcAft>
            </a:pPr>
            <a:r>
              <a:rPr sz="900">
                <a:solidFill>
                  <a:srgbClr val="212529"/>
                </a:solidFill>
                <a:latin typeface="Segoe UI"/>
              </a:rPr>
              <a:t>  Đọc hiểu 96.461 câu văn bản trong vài giây, loại bỏ cảm tính.</a:t>
            </a:r>
          </a:p>
          <a:p>
            <a:pPr>
              <a:spcAft>
                <a:spcPts val="400"/>
              </a:spcAft>
            </a:pPr>
            <a:r>
              <a:rPr b="1" sz="950">
                <a:solidFill>
                  <a:srgbClr val="288C3C"/>
                </a:solidFill>
                <a:latin typeface="Segoe UI"/>
              </a:rPr>
              <a:t>• Đo lường chuẩn hóa 17 SDGs:</a:t>
            </a:r>
          </a:p>
          <a:p>
            <a:pPr>
              <a:spcAft>
                <a:spcPts val="400"/>
              </a:spcAft>
            </a:pPr>
            <a:r>
              <a:rPr sz="900">
                <a:solidFill>
                  <a:srgbClr val="212529"/>
                </a:solidFill>
                <a:latin typeface="Segoe UI"/>
              </a:rPr>
              <a:t>  Ánh xạ ngữ nghĩa vector SBERT vào 169 mục tiêu của LHQ.</a:t>
            </a:r>
          </a:p>
          <a:p>
            <a:pPr>
              <a:spcAft>
                <a:spcPts val="400"/>
              </a:spcAft>
            </a:pPr>
            <a:r>
              <a:rPr b="1" sz="950">
                <a:solidFill>
                  <a:srgbClr val="288C3C"/>
                </a:solidFill>
                <a:latin typeface="Segoe UI"/>
              </a:rPr>
              <a:t>• Nhận diện cảm xúc khách quan:</a:t>
            </a:r>
          </a:p>
          <a:p>
            <a:pPr>
              <a:spcAft>
                <a:spcPts val="400"/>
              </a:spcAft>
            </a:pPr>
            <a:r>
              <a:rPr sz="900">
                <a:solidFill>
                  <a:srgbClr val="212529"/>
                </a:solidFill>
                <a:latin typeface="Segoe UI"/>
              </a:rPr>
              <a:t>  PhoBERT 3 lớp nhận diện thiên lệch lạc quan và quản trị ấn tượng.</a:t>
            </a:r>
          </a:p>
        </p:txBody>
      </p:sp>
      <p:sp>
        <p:nvSpPr>
          <p:cNvPr id="18" name="Rounded Rectangle 17"/>
          <p:cNvSpPr/>
          <p:nvPr/>
        </p:nvSpPr>
        <p:spPr>
          <a:xfrm>
            <a:off x="731520" y="5166360"/>
            <a:ext cx="10728655" cy="1143000"/>
          </a:xfrm>
          <a:prstGeom prst="roundRect">
            <a:avLst/>
          </a:prstGeom>
          <a:solidFill>
            <a:srgbClr val="EEF4FC"/>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230368"/>
            <a:ext cx="2560320" cy="1005840"/>
          </a:xfrm>
          <a:prstGeom prst="rect">
            <a:avLst/>
          </a:prstGeom>
          <a:noFill/>
        </p:spPr>
        <p:txBody>
          <a:bodyPr wrap="square">
            <a:spAutoFit/>
          </a:bodyPr>
          <a:lstStyle/>
          <a:p>
            <a:r>
              <a:rPr sz="850" b="1">
                <a:solidFill>
                  <a:srgbClr val="6C757D"/>
                </a:solidFill>
              </a:rPr>
              <a:t>MỐC CAM KẾT QUỐC GIA
</a:t>
            </a:r>
            <a:r>
              <a:rPr sz="1300" b="1">
                <a:solidFill>
                  <a:srgbClr val="1B365D"/>
                </a:solidFill>
              </a:rPr>
              <a:t>Net Zero 2050
</a:t>
            </a:r>
            <a:r>
              <a:rPr sz="800">
                <a:solidFill>
                  <a:srgbClr val="1F77B4"/>
                </a:solidFill>
              </a:rPr>
              <a:t>(Hội nghị COP26)</a:t>
            </a:r>
          </a:p>
        </p:txBody>
      </p:sp>
      <p:sp>
        <p:nvSpPr>
          <p:cNvPr id="20" name="TextBox 19"/>
          <p:cNvSpPr txBox="1"/>
          <p:nvPr/>
        </p:nvSpPr>
        <p:spPr>
          <a:xfrm>
            <a:off x="3520439" y="5230368"/>
            <a:ext cx="2560320" cy="1005840"/>
          </a:xfrm>
          <a:prstGeom prst="rect">
            <a:avLst/>
          </a:prstGeom>
          <a:noFill/>
        </p:spPr>
        <p:txBody>
          <a:bodyPr wrap="square">
            <a:spAutoFit/>
          </a:bodyPr>
          <a:lstStyle/>
          <a:p>
            <a:r>
              <a:rPr sz="850" b="1">
                <a:solidFill>
                  <a:srgbClr val="6C757D"/>
                </a:solidFill>
              </a:rPr>
              <a:t>KHUNG PHÁP LÝ BẮT BUỘC
</a:t>
            </a:r>
            <a:r>
              <a:rPr sz="1300" b="1">
                <a:solidFill>
                  <a:srgbClr val="1B365D"/>
                </a:solidFill>
              </a:rPr>
              <a:t>TT 96/2020/TT-BTC
</a:t>
            </a:r>
            <a:r>
              <a:rPr sz="800">
                <a:solidFill>
                  <a:srgbClr val="1F77B4"/>
                </a:solidFill>
              </a:rPr>
              <a:t>(Bộ Tài chính ban hành)</a:t>
            </a:r>
          </a:p>
        </p:txBody>
      </p:sp>
      <p:sp>
        <p:nvSpPr>
          <p:cNvPr id="21" name="TextBox 20"/>
          <p:cNvSpPr txBox="1"/>
          <p:nvPr/>
        </p:nvSpPr>
        <p:spPr>
          <a:xfrm>
            <a:off x="6172200" y="5230368"/>
            <a:ext cx="2560320" cy="1005840"/>
          </a:xfrm>
          <a:prstGeom prst="rect">
            <a:avLst/>
          </a:prstGeom>
          <a:noFill/>
        </p:spPr>
        <p:txBody>
          <a:bodyPr wrap="square">
            <a:spAutoFit/>
          </a:bodyPr>
          <a:lstStyle/>
          <a:p>
            <a:r>
              <a:rPr sz="850" b="1">
                <a:solidFill>
                  <a:srgbClr val="6C757D"/>
                </a:solidFill>
              </a:rPr>
              <a:t>DUNG LƯỢNG BÁO CÁO
</a:t>
            </a:r>
            <a:r>
              <a:rPr sz="1300" b="1">
                <a:solidFill>
                  <a:srgbClr val="1B365D"/>
                </a:solidFill>
              </a:rPr>
              <a:t>100–200 Trang
</a:t>
            </a:r>
            <a:r>
              <a:rPr sz="800">
                <a:solidFill>
                  <a:srgbClr val="1F77B4"/>
                </a:solidFill>
              </a:rPr>
              <a:t>(Quá tải đọc thủ công)</a:t>
            </a:r>
          </a:p>
        </p:txBody>
      </p:sp>
      <p:sp>
        <p:nvSpPr>
          <p:cNvPr id="22" name="TextBox 21"/>
          <p:cNvSpPr txBox="1"/>
          <p:nvPr/>
        </p:nvSpPr>
        <p:spPr>
          <a:xfrm>
            <a:off x="8823959" y="5230368"/>
            <a:ext cx="2560320" cy="1005840"/>
          </a:xfrm>
          <a:prstGeom prst="rect">
            <a:avLst/>
          </a:prstGeom>
          <a:noFill/>
        </p:spPr>
        <p:txBody>
          <a:bodyPr wrap="square">
            <a:spAutoFit/>
          </a:bodyPr>
          <a:lstStyle/>
          <a:p>
            <a:r>
              <a:rPr sz="850" b="1">
                <a:solidFill>
                  <a:srgbClr val="6C757D"/>
                </a:solidFill>
              </a:rPr>
              <a:t>CÔNG CỤ GIẢI PHÁP
</a:t>
            </a:r>
            <a:r>
              <a:rPr sz="1300" b="1">
                <a:solidFill>
                  <a:srgbClr val="1B365D"/>
                </a:solidFill>
              </a:rPr>
              <a:t>NLP &amp; AI Đa Ngữ
</a:t>
            </a:r>
            <a:r>
              <a:rPr sz="800">
                <a:solidFill>
                  <a:srgbClr val="1F77B4"/>
                </a:solidFill>
              </a:rPr>
              <a:t>(Định lượng tự động hóa)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TỔNG QUAN HỌC THUẬT</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BÀI BÁO GỐC KANG &amp; KIM (2022) &amp; ĐỀ TÀI NÀY KHẮC PHỤC ĐIỀU GÌ?</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03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rag_benchmark_paper_vs_code.png"/>
          <p:cNvPicPr>
            <a:picLocks noChangeAspect="1"/>
          </p:cNvPicPr>
          <p:nvPr/>
        </p:nvPicPr>
        <p:blipFill>
          <a:blip r:embed="rId2"/>
          <a:stretch>
            <a:fillRect/>
          </a:stretch>
        </p:blipFill>
        <p:spPr>
          <a:xfrm>
            <a:off x="731520" y="1188720"/>
            <a:ext cx="10728655" cy="3383280"/>
          </a:xfrm>
          <a:prstGeom prst="rect">
            <a:avLst/>
          </a:prstGeom>
        </p:spPr>
      </p:pic>
      <p:sp>
        <p:nvSpPr>
          <p:cNvPr id="10" name="Rounded Rectangle 9"/>
          <p:cNvSpPr/>
          <p:nvPr/>
        </p:nvSpPr>
        <p:spPr>
          <a:xfrm>
            <a:off x="731520" y="4800600"/>
            <a:ext cx="2560320" cy="141732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864608"/>
            <a:ext cx="2340863" cy="1280160"/>
          </a:xfrm>
          <a:prstGeom prst="rect">
            <a:avLst/>
          </a:prstGeom>
          <a:noFill/>
        </p:spPr>
        <p:txBody>
          <a:bodyPr wrap="square">
            <a:spAutoFit/>
          </a:bodyPr>
          <a:lstStyle/>
          <a:p>
            <a:r>
              <a:rPr sz="850" b="1">
                <a:solidFill>
                  <a:srgbClr val="1B365D"/>
                </a:solidFill>
              </a:rPr>
              <a:t>1. RÀO CẢN ĐƠN NGỮ
</a:t>
            </a:r>
            <a:r>
              <a:rPr sz="1100" b="1">
                <a:solidFill>
                  <a:srgbClr val="1B365D"/>
                </a:solidFill>
              </a:rPr>
              <a:t>vietnamese-sbert (768-d)
</a:t>
            </a:r>
            <a:r>
              <a:rPr sz="800">
                <a:solidFill>
                  <a:srgbClr val="212529"/>
                </a:solidFill>
              </a:rPr>
              <a:t>Khắc phục đơn ngữ tiếng Anh, mở rộng cho 96k câu tiếng Việt</a:t>
            </a:r>
          </a:p>
        </p:txBody>
      </p:sp>
      <p:sp>
        <p:nvSpPr>
          <p:cNvPr id="12" name="Rounded Rectangle 11"/>
          <p:cNvSpPr/>
          <p:nvPr/>
        </p:nvSpPr>
        <p:spPr>
          <a:xfrm>
            <a:off x="3456432" y="4800600"/>
            <a:ext cx="2560320" cy="141732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4864608"/>
            <a:ext cx="2340863" cy="1280160"/>
          </a:xfrm>
          <a:prstGeom prst="rect">
            <a:avLst/>
          </a:prstGeom>
          <a:noFill/>
        </p:spPr>
        <p:txBody>
          <a:bodyPr wrap="square">
            <a:spAutoFit/>
          </a:bodyPr>
          <a:lstStyle/>
          <a:p>
            <a:r>
              <a:rPr sz="850" b="1">
                <a:solidFill>
                  <a:srgbClr val="1F77B4"/>
                </a:solidFill>
              </a:rPr>
              <a:t>2. TỆP SCAN HÌNH ẢNH
</a:t>
            </a:r>
            <a:r>
              <a:rPr sz="1100" b="1">
                <a:solidFill>
                  <a:srgbClr val="1B365D"/>
                </a:solidFill>
              </a:rPr>
              <a:t>Tesseract OCR (vie+eng)
</a:t>
            </a:r>
            <a:r>
              <a:rPr sz="800">
                <a:solidFill>
                  <a:srgbClr val="212529"/>
                </a:solidFill>
              </a:rPr>
              <a:t>Khôi phục 100% tài liệu scan phức tạp mà bài gốc bỏ qua</a:t>
            </a:r>
          </a:p>
        </p:txBody>
      </p:sp>
      <p:sp>
        <p:nvSpPr>
          <p:cNvPr id="14" name="Rounded Rectangle 13"/>
          <p:cNvSpPr/>
          <p:nvPr/>
        </p:nvSpPr>
        <p:spPr>
          <a:xfrm>
            <a:off x="6181344" y="4800600"/>
            <a:ext cx="2560320" cy="141732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91072" y="4864608"/>
            <a:ext cx="2340863" cy="1280160"/>
          </a:xfrm>
          <a:prstGeom prst="rect">
            <a:avLst/>
          </a:prstGeom>
          <a:noFill/>
        </p:spPr>
        <p:txBody>
          <a:bodyPr wrap="square">
            <a:spAutoFit/>
          </a:bodyPr>
          <a:lstStyle/>
          <a:p>
            <a:r>
              <a:rPr sz="850" b="1">
                <a:solidFill>
                  <a:srgbClr val="288C3C"/>
                </a:solidFill>
              </a:rPr>
              <a:t>3. MÔ HÌNH CẢM XÚC
</a:t>
            </a:r>
            <a:r>
              <a:rPr sz="1100" b="1">
                <a:solidFill>
                  <a:srgbClr val="1B365D"/>
                </a:solidFill>
              </a:rPr>
              <a:t>PhoBERT 3 Lớp (Trung tính 32,9%)
</a:t>
            </a:r>
            <a:r>
              <a:rPr sz="800">
                <a:solidFill>
                  <a:srgbClr val="212529"/>
                </a:solidFill>
              </a:rPr>
              <a:t>Bảo lưu câu số liệu kỹ thuật, loại bỏ gán nhãn 2 lớp gượng ép</a:t>
            </a:r>
          </a:p>
        </p:txBody>
      </p:sp>
      <p:sp>
        <p:nvSpPr>
          <p:cNvPr id="16" name="Rounded Rectangle 15"/>
          <p:cNvSpPr/>
          <p:nvPr/>
        </p:nvSpPr>
        <p:spPr>
          <a:xfrm>
            <a:off x="8906256" y="4800600"/>
            <a:ext cx="2560320" cy="141732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15984" y="4864608"/>
            <a:ext cx="2340863" cy="1280160"/>
          </a:xfrm>
          <a:prstGeom prst="rect">
            <a:avLst/>
          </a:prstGeom>
          <a:noFill/>
        </p:spPr>
        <p:txBody>
          <a:bodyPr wrap="square">
            <a:spAutoFit/>
          </a:bodyPr>
          <a:lstStyle/>
          <a:p>
            <a:r>
              <a:rPr sz="850" b="1">
                <a:solidFill>
                  <a:srgbClr val="7030A0"/>
                </a:solidFill>
              </a:rPr>
              <a:t>4. CHIỀU SÂU PHÂN TÍCH
</a:t>
            </a:r>
            <a:r>
              <a:rPr sz="1100" b="1">
                <a:solidFill>
                  <a:srgbClr val="1B365D"/>
                </a:solidFill>
              </a:rPr>
              <a:t>Giải mã Đặc thù Ngành
</a:t>
            </a:r>
            <a:r>
              <a:rPr sz="800">
                <a:solidFill>
                  <a:srgbClr val="212529"/>
                </a:solidFill>
              </a:rPr>
              <a:t>Vượt qua thống kê bề mặt, làm rõ hiện tượng 'Nói nhiều vs Né tránh'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PHƯƠNG PHÁP NGHIÊN CỨU</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KHUNG PHƯƠNG PHÁP LUẬN NLP ĐA TẦNG &amp; THỰC NGHIỆM TÀI CHÍNH</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04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methodology_16_9.png"/>
          <p:cNvPicPr>
            <a:picLocks noChangeAspect="1"/>
          </p:cNvPicPr>
          <p:nvPr/>
        </p:nvPicPr>
        <p:blipFill>
          <a:blip r:embed="rId2"/>
          <a:stretch>
            <a:fillRect/>
          </a:stretch>
        </p:blipFill>
        <p:spPr>
          <a:xfrm>
            <a:off x="1463040" y="1143000"/>
            <a:ext cx="9265615" cy="52120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DỮ LIỆU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MẪU DỮ LIỆU THỰC NGHIỆM: 7 TẬP ĐOÀN NIÊM YẾT (42 BÁO CÁO)</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05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graphicFrame>
        <p:nvGraphicFramePr>
          <p:cNvPr id="9" name="Table 8"/>
          <p:cNvGraphicFramePr>
            <a:graphicFrameLocks noGrp="1"/>
          </p:cNvGraphicFramePr>
          <p:nvPr/>
        </p:nvGraphicFramePr>
        <p:xfrm>
          <a:off x="731520" y="1234440"/>
          <a:ext cx="6217920" cy="4937760"/>
        </p:xfrm>
        <a:graphic>
          <a:graphicData uri="http://schemas.openxmlformats.org/drawingml/2006/table">
            <a:tbl>
              <a:tblPr firstRow="1" bandRow="1">
                <a:tableStyleId>{5C22544A-7EE6-4342-B048-85BDC9FD1C3A}</a:tableStyleId>
              </a:tblPr>
              <a:tblGrid>
                <a:gridCol w="822960"/>
                <a:gridCol w="1920240"/>
                <a:gridCol w="1463040"/>
                <a:gridCol w="1005840"/>
                <a:gridCol w="1005840"/>
              </a:tblGrid>
              <a:tr h="617220">
                <a:tc>
                  <a:txBody>
                    <a:bodyPr/>
                    <a:lstStyle/>
                    <a:p>
                      <a:pPr algn="ctr"/>
                      <a:r>
                        <a:rPr b="1" sz="900">
                          <a:solidFill>
                            <a:srgbClr val="FFFFFF"/>
                          </a:solidFill>
                        </a:rPr>
                        <a:t>MÃ CK</a:t>
                      </a:r>
                    </a:p>
                  </a:txBody>
                  <a:tcPr>
                    <a:solidFill>
                      <a:srgbClr val="1B365D"/>
                    </a:solidFill>
                  </a:tcPr>
                </a:tc>
                <a:tc>
                  <a:txBody>
                    <a:bodyPr/>
                    <a:lstStyle/>
                    <a:p>
                      <a:pPr algn="ctr"/>
                      <a:r>
                        <a:rPr b="1" sz="900">
                          <a:solidFill>
                            <a:srgbClr val="FFFFFF"/>
                          </a:solidFill>
                        </a:rPr>
                        <a:t>DOANH NGHIỆP</a:t>
                      </a:r>
                    </a:p>
                  </a:txBody>
                  <a:tcPr>
                    <a:solidFill>
                      <a:srgbClr val="1B365D"/>
                    </a:solidFill>
                  </a:tcPr>
                </a:tc>
                <a:tc>
                  <a:txBody>
                    <a:bodyPr/>
                    <a:lstStyle/>
                    <a:p>
                      <a:pPr algn="ctr"/>
                      <a:r>
                        <a:rPr b="1" sz="900">
                          <a:solidFill>
                            <a:srgbClr val="FFFFFF"/>
                          </a:solidFill>
                        </a:rPr>
                        <a:t>NGÀNH NGHỀ</a:t>
                      </a:r>
                    </a:p>
                  </a:txBody>
                  <a:tcPr>
                    <a:solidFill>
                      <a:srgbClr val="1B365D"/>
                    </a:solidFill>
                  </a:tcPr>
                </a:tc>
                <a:tc>
                  <a:txBody>
                    <a:bodyPr/>
                    <a:lstStyle/>
                    <a:p>
                      <a:pPr algn="ctr"/>
                      <a:r>
                        <a:rPr b="1" sz="900">
                          <a:solidFill>
                            <a:srgbClr val="FFFFFF"/>
                          </a:solidFill>
                        </a:rPr>
                        <a:t>SỐ BC</a:t>
                      </a:r>
                    </a:p>
                  </a:txBody>
                  <a:tcPr>
                    <a:solidFill>
                      <a:srgbClr val="1B365D"/>
                    </a:solidFill>
                  </a:tcPr>
                </a:tc>
                <a:tc>
                  <a:txBody>
                    <a:bodyPr/>
                    <a:lstStyle/>
                    <a:p>
                      <a:pPr algn="ctr"/>
                      <a:r>
                        <a:rPr b="1" sz="900">
                          <a:solidFill>
                            <a:srgbClr val="FFFFFF"/>
                          </a:solidFill>
                        </a:rPr>
                        <a:t>SỐ CÂU</a:t>
                      </a:r>
                    </a:p>
                  </a:txBody>
                  <a:tcPr>
                    <a:solidFill>
                      <a:srgbClr val="1B365D"/>
                    </a:solidFill>
                  </a:tcPr>
                </a:tc>
              </a:tr>
              <a:tr h="617220">
                <a:tc>
                  <a:txBody>
                    <a:bodyPr/>
                    <a:lstStyle/>
                    <a:p>
                      <a:pPr algn="ctr"/>
                      <a:r>
                        <a:rPr sz="850" b="1">
                          <a:solidFill>
                            <a:srgbClr val="1B365D"/>
                          </a:solidFill>
                        </a:rPr>
                        <a:t>VNM</a:t>
                      </a:r>
                    </a:p>
                  </a:txBody>
                  <a:tcPr>
                    <a:solidFill>
                      <a:srgbClr val="F1F5F9"/>
                    </a:solidFill>
                  </a:tcPr>
                </a:tc>
                <a:tc>
                  <a:txBody>
                    <a:bodyPr/>
                    <a:lstStyle/>
                    <a:p>
                      <a:pPr algn="l"/>
                      <a:r>
                        <a:rPr sz="850">
                          <a:solidFill>
                            <a:srgbClr val="212529"/>
                          </a:solidFill>
                        </a:rPr>
                        <a:t>Vinamilk</a:t>
                      </a:r>
                    </a:p>
                  </a:txBody>
                  <a:tcPr>
                    <a:solidFill>
                      <a:srgbClr val="F1F5F9"/>
                    </a:solidFill>
                  </a:tcPr>
                </a:tc>
                <a:tc>
                  <a:txBody>
                    <a:bodyPr/>
                    <a:lstStyle/>
                    <a:p>
                      <a:pPr algn="l"/>
                      <a:r>
                        <a:rPr sz="850">
                          <a:solidFill>
                            <a:srgbClr val="212529"/>
                          </a:solidFill>
                        </a:rPr>
                        <a:t>Sữa &amp; Thực phẩm</a:t>
                      </a:r>
                    </a:p>
                  </a:txBody>
                  <a:tcPr>
                    <a:solidFill>
                      <a:srgbClr val="F1F5F9"/>
                    </a:solidFill>
                  </a:tcPr>
                </a:tc>
                <a:tc>
                  <a:txBody>
                    <a:bodyPr/>
                    <a:lstStyle/>
                    <a:p>
                      <a:pPr algn="ctr"/>
                      <a:r>
                        <a:rPr sz="850">
                          <a:solidFill>
                            <a:srgbClr val="212529"/>
                          </a:solidFill>
                        </a:rPr>
                        <a:t>6 BC</a:t>
                      </a:r>
                    </a:p>
                  </a:txBody>
                  <a:tcPr>
                    <a:solidFill>
                      <a:srgbClr val="F1F5F9"/>
                    </a:solidFill>
                  </a:tcPr>
                </a:tc>
                <a:tc>
                  <a:txBody>
                    <a:bodyPr/>
                    <a:lstStyle/>
                    <a:p>
                      <a:pPr algn="ctr"/>
                      <a:r>
                        <a:rPr sz="850">
                          <a:solidFill>
                            <a:srgbClr val="212529"/>
                          </a:solidFill>
                        </a:rPr>
                        <a:t>18.420 câu</a:t>
                      </a:r>
                    </a:p>
                  </a:txBody>
                  <a:tcPr>
                    <a:solidFill>
                      <a:srgbClr val="F1F5F9"/>
                    </a:solidFill>
                  </a:tcPr>
                </a:tc>
              </a:tr>
              <a:tr h="617220">
                <a:tc>
                  <a:txBody>
                    <a:bodyPr/>
                    <a:lstStyle/>
                    <a:p>
                      <a:pPr algn="ctr"/>
                      <a:r>
                        <a:rPr sz="850" b="1">
                          <a:solidFill>
                            <a:srgbClr val="1B365D"/>
                          </a:solidFill>
                        </a:rPr>
                        <a:t>VCS</a:t>
                      </a:r>
                    </a:p>
                  </a:txBody>
                  <a:tcPr>
                    <a:solidFill>
                      <a:srgbClr val="FFFFFF"/>
                    </a:solidFill>
                  </a:tcPr>
                </a:tc>
                <a:tc>
                  <a:txBody>
                    <a:bodyPr/>
                    <a:lstStyle/>
                    <a:p>
                      <a:pPr algn="l"/>
                      <a:r>
                        <a:rPr sz="850">
                          <a:solidFill>
                            <a:srgbClr val="212529"/>
                          </a:solidFill>
                        </a:rPr>
                        <a:t>Vicostone</a:t>
                      </a:r>
                    </a:p>
                  </a:txBody>
                  <a:tcPr>
                    <a:solidFill>
                      <a:srgbClr val="FFFFFF"/>
                    </a:solidFill>
                  </a:tcPr>
                </a:tc>
                <a:tc>
                  <a:txBody>
                    <a:bodyPr/>
                    <a:lstStyle/>
                    <a:p>
                      <a:pPr algn="l"/>
                      <a:r>
                        <a:rPr sz="850">
                          <a:solidFill>
                            <a:srgbClr val="212529"/>
                          </a:solidFill>
                        </a:rPr>
                        <a:t>Vật liệu Thạch anh</a:t>
                      </a:r>
                    </a:p>
                  </a:txBody>
                  <a:tcPr>
                    <a:solidFill>
                      <a:srgbClr val="FFFFFF"/>
                    </a:solidFill>
                  </a:tcPr>
                </a:tc>
                <a:tc>
                  <a:txBody>
                    <a:bodyPr/>
                    <a:lstStyle/>
                    <a:p>
                      <a:pPr algn="ctr"/>
                      <a:r>
                        <a:rPr sz="850">
                          <a:solidFill>
                            <a:srgbClr val="212529"/>
                          </a:solidFill>
                        </a:rPr>
                        <a:t>6 BC</a:t>
                      </a:r>
                    </a:p>
                  </a:txBody>
                  <a:tcPr>
                    <a:solidFill>
                      <a:srgbClr val="FFFFFF"/>
                    </a:solidFill>
                  </a:tcPr>
                </a:tc>
                <a:tc>
                  <a:txBody>
                    <a:bodyPr/>
                    <a:lstStyle/>
                    <a:p>
                      <a:pPr algn="ctr"/>
                      <a:r>
                        <a:rPr sz="850">
                          <a:solidFill>
                            <a:srgbClr val="212529"/>
                          </a:solidFill>
                        </a:rPr>
                        <a:t>14.650 câu</a:t>
                      </a:r>
                    </a:p>
                  </a:txBody>
                  <a:tcPr>
                    <a:solidFill>
                      <a:srgbClr val="FFFFFF"/>
                    </a:solidFill>
                  </a:tcPr>
                </a:tc>
              </a:tr>
              <a:tr h="617220">
                <a:tc>
                  <a:txBody>
                    <a:bodyPr/>
                    <a:lstStyle/>
                    <a:p>
                      <a:pPr algn="ctr"/>
                      <a:r>
                        <a:rPr sz="850" b="1">
                          <a:solidFill>
                            <a:srgbClr val="1B365D"/>
                          </a:solidFill>
                        </a:rPr>
                        <a:t>PAN</a:t>
                      </a:r>
                    </a:p>
                  </a:txBody>
                  <a:tcPr>
                    <a:solidFill>
                      <a:srgbClr val="F1F5F9"/>
                    </a:solidFill>
                  </a:tcPr>
                </a:tc>
                <a:tc>
                  <a:txBody>
                    <a:bodyPr/>
                    <a:lstStyle/>
                    <a:p>
                      <a:pPr algn="l"/>
                      <a:r>
                        <a:rPr sz="850">
                          <a:solidFill>
                            <a:srgbClr val="212529"/>
                          </a:solidFill>
                        </a:rPr>
                        <a:t>PAN Group</a:t>
                      </a:r>
                    </a:p>
                  </a:txBody>
                  <a:tcPr>
                    <a:solidFill>
                      <a:srgbClr val="F1F5F9"/>
                    </a:solidFill>
                  </a:tcPr>
                </a:tc>
                <a:tc>
                  <a:txBody>
                    <a:bodyPr/>
                    <a:lstStyle/>
                    <a:p>
                      <a:pPr algn="l"/>
                      <a:r>
                        <a:rPr sz="850">
                          <a:solidFill>
                            <a:srgbClr val="212529"/>
                          </a:solidFill>
                        </a:rPr>
                        <a:t>Nông nghiệp &amp; Thủy sản</a:t>
                      </a:r>
                    </a:p>
                  </a:txBody>
                  <a:tcPr>
                    <a:solidFill>
                      <a:srgbClr val="F1F5F9"/>
                    </a:solidFill>
                  </a:tcPr>
                </a:tc>
                <a:tc>
                  <a:txBody>
                    <a:bodyPr/>
                    <a:lstStyle/>
                    <a:p>
                      <a:pPr algn="ctr"/>
                      <a:r>
                        <a:rPr sz="850">
                          <a:solidFill>
                            <a:srgbClr val="212529"/>
                          </a:solidFill>
                        </a:rPr>
                        <a:t>6 BC</a:t>
                      </a:r>
                    </a:p>
                  </a:txBody>
                  <a:tcPr>
                    <a:solidFill>
                      <a:srgbClr val="F1F5F9"/>
                    </a:solidFill>
                  </a:tcPr>
                </a:tc>
                <a:tc>
                  <a:txBody>
                    <a:bodyPr/>
                    <a:lstStyle/>
                    <a:p>
                      <a:pPr algn="ctr"/>
                      <a:r>
                        <a:rPr sz="850">
                          <a:solidFill>
                            <a:srgbClr val="212529"/>
                          </a:solidFill>
                        </a:rPr>
                        <a:t>16.120 câu</a:t>
                      </a:r>
                    </a:p>
                  </a:txBody>
                  <a:tcPr>
                    <a:solidFill>
                      <a:srgbClr val="F1F5F9"/>
                    </a:solidFill>
                  </a:tcPr>
                </a:tc>
              </a:tr>
              <a:tr h="617220">
                <a:tc>
                  <a:txBody>
                    <a:bodyPr/>
                    <a:lstStyle/>
                    <a:p>
                      <a:pPr algn="ctr"/>
                      <a:r>
                        <a:rPr sz="850" b="1">
                          <a:solidFill>
                            <a:srgbClr val="1B365D"/>
                          </a:solidFill>
                        </a:rPr>
                        <a:t>PLX</a:t>
                      </a:r>
                    </a:p>
                  </a:txBody>
                  <a:tcPr>
                    <a:solidFill>
                      <a:srgbClr val="FFFFFF"/>
                    </a:solidFill>
                  </a:tcPr>
                </a:tc>
                <a:tc>
                  <a:txBody>
                    <a:bodyPr/>
                    <a:lstStyle/>
                    <a:p>
                      <a:pPr algn="l"/>
                      <a:r>
                        <a:rPr sz="850">
                          <a:solidFill>
                            <a:srgbClr val="212529"/>
                          </a:solidFill>
                        </a:rPr>
                        <a:t>Petrolimex</a:t>
                      </a:r>
                    </a:p>
                  </a:txBody>
                  <a:tcPr>
                    <a:solidFill>
                      <a:srgbClr val="FFFFFF"/>
                    </a:solidFill>
                  </a:tcPr>
                </a:tc>
                <a:tc>
                  <a:txBody>
                    <a:bodyPr/>
                    <a:lstStyle/>
                    <a:p>
                      <a:pPr algn="l"/>
                      <a:r>
                        <a:rPr sz="850">
                          <a:solidFill>
                            <a:srgbClr val="212529"/>
                          </a:solidFill>
                        </a:rPr>
                        <a:t>Năng lượng &amp; Xăng dầu</a:t>
                      </a:r>
                    </a:p>
                  </a:txBody>
                  <a:tcPr>
                    <a:solidFill>
                      <a:srgbClr val="FFFFFF"/>
                    </a:solidFill>
                  </a:tcPr>
                </a:tc>
                <a:tc>
                  <a:txBody>
                    <a:bodyPr/>
                    <a:lstStyle/>
                    <a:p>
                      <a:pPr algn="ctr"/>
                      <a:r>
                        <a:rPr sz="850">
                          <a:solidFill>
                            <a:srgbClr val="212529"/>
                          </a:solidFill>
                        </a:rPr>
                        <a:t>6 BC</a:t>
                      </a:r>
                    </a:p>
                  </a:txBody>
                  <a:tcPr>
                    <a:solidFill>
                      <a:srgbClr val="FFFFFF"/>
                    </a:solidFill>
                  </a:tcPr>
                </a:tc>
                <a:tc>
                  <a:txBody>
                    <a:bodyPr/>
                    <a:lstStyle/>
                    <a:p>
                      <a:pPr algn="ctr"/>
                      <a:r>
                        <a:rPr sz="850">
                          <a:solidFill>
                            <a:srgbClr val="212529"/>
                          </a:solidFill>
                        </a:rPr>
                        <a:t>11.380 câu</a:t>
                      </a:r>
                    </a:p>
                  </a:txBody>
                  <a:tcPr>
                    <a:solidFill>
                      <a:srgbClr val="FFFFFF"/>
                    </a:solidFill>
                  </a:tcPr>
                </a:tc>
              </a:tr>
              <a:tr h="617220">
                <a:tc>
                  <a:txBody>
                    <a:bodyPr/>
                    <a:lstStyle/>
                    <a:p>
                      <a:pPr algn="ctr"/>
                      <a:r>
                        <a:rPr sz="850" b="1">
                          <a:solidFill>
                            <a:srgbClr val="1B365D"/>
                          </a:solidFill>
                        </a:rPr>
                        <a:t>PNJ</a:t>
                      </a:r>
                    </a:p>
                  </a:txBody>
                  <a:tcPr>
                    <a:solidFill>
                      <a:srgbClr val="F1F5F9"/>
                    </a:solidFill>
                  </a:tcPr>
                </a:tc>
                <a:tc>
                  <a:txBody>
                    <a:bodyPr/>
                    <a:lstStyle/>
                    <a:p>
                      <a:pPr algn="l"/>
                      <a:r>
                        <a:rPr sz="850">
                          <a:solidFill>
                            <a:srgbClr val="212529"/>
                          </a:solidFill>
                        </a:rPr>
                        <a:t>PNJ</a:t>
                      </a:r>
                    </a:p>
                  </a:txBody>
                  <a:tcPr>
                    <a:solidFill>
                      <a:srgbClr val="F1F5F9"/>
                    </a:solidFill>
                  </a:tcPr>
                </a:tc>
                <a:tc>
                  <a:txBody>
                    <a:bodyPr/>
                    <a:lstStyle/>
                    <a:p>
                      <a:pPr algn="l"/>
                      <a:r>
                        <a:rPr sz="850">
                          <a:solidFill>
                            <a:srgbClr val="212529"/>
                          </a:solidFill>
                        </a:rPr>
                        <a:t>Bán lẻ Trang sức</a:t>
                      </a:r>
                    </a:p>
                  </a:txBody>
                  <a:tcPr>
                    <a:solidFill>
                      <a:srgbClr val="F1F5F9"/>
                    </a:solidFill>
                  </a:tcPr>
                </a:tc>
                <a:tc>
                  <a:txBody>
                    <a:bodyPr/>
                    <a:lstStyle/>
                    <a:p>
                      <a:pPr algn="ctr"/>
                      <a:r>
                        <a:rPr sz="850">
                          <a:solidFill>
                            <a:srgbClr val="212529"/>
                          </a:solidFill>
                        </a:rPr>
                        <a:t>6 BC</a:t>
                      </a:r>
                    </a:p>
                  </a:txBody>
                  <a:tcPr>
                    <a:solidFill>
                      <a:srgbClr val="F1F5F9"/>
                    </a:solidFill>
                  </a:tcPr>
                </a:tc>
                <a:tc>
                  <a:txBody>
                    <a:bodyPr/>
                    <a:lstStyle/>
                    <a:p>
                      <a:pPr algn="ctr"/>
                      <a:r>
                        <a:rPr sz="850">
                          <a:solidFill>
                            <a:srgbClr val="212529"/>
                          </a:solidFill>
                        </a:rPr>
                        <a:t>12.890 câu</a:t>
                      </a:r>
                    </a:p>
                  </a:txBody>
                  <a:tcPr>
                    <a:solidFill>
                      <a:srgbClr val="F1F5F9"/>
                    </a:solidFill>
                  </a:tcPr>
                </a:tc>
              </a:tr>
              <a:tr h="617220">
                <a:tc>
                  <a:txBody>
                    <a:bodyPr/>
                    <a:lstStyle/>
                    <a:p>
                      <a:pPr algn="ctr"/>
                      <a:r>
                        <a:rPr sz="850" b="1">
                          <a:solidFill>
                            <a:srgbClr val="1B365D"/>
                          </a:solidFill>
                        </a:rPr>
                        <a:t>BVH</a:t>
                      </a:r>
                    </a:p>
                  </a:txBody>
                  <a:tcPr>
                    <a:solidFill>
                      <a:srgbClr val="FFFFFF"/>
                    </a:solidFill>
                  </a:tcPr>
                </a:tc>
                <a:tc>
                  <a:txBody>
                    <a:bodyPr/>
                    <a:lstStyle/>
                    <a:p>
                      <a:pPr algn="l"/>
                      <a:r>
                        <a:rPr sz="850">
                          <a:solidFill>
                            <a:srgbClr val="212529"/>
                          </a:solidFill>
                        </a:rPr>
                        <a:t>Bảo Việt</a:t>
                      </a:r>
                    </a:p>
                  </a:txBody>
                  <a:tcPr>
                    <a:solidFill>
                      <a:srgbClr val="FFFFFF"/>
                    </a:solidFill>
                  </a:tcPr>
                </a:tc>
                <a:tc>
                  <a:txBody>
                    <a:bodyPr/>
                    <a:lstStyle/>
                    <a:p>
                      <a:pPr algn="l"/>
                      <a:r>
                        <a:rPr sz="850">
                          <a:solidFill>
                            <a:srgbClr val="212529"/>
                          </a:solidFill>
                        </a:rPr>
                        <a:t>Tài chính &amp; Bảo hiểm</a:t>
                      </a:r>
                    </a:p>
                  </a:txBody>
                  <a:tcPr>
                    <a:solidFill>
                      <a:srgbClr val="FFFFFF"/>
                    </a:solidFill>
                  </a:tcPr>
                </a:tc>
                <a:tc>
                  <a:txBody>
                    <a:bodyPr/>
                    <a:lstStyle/>
                    <a:p>
                      <a:pPr algn="ctr"/>
                      <a:r>
                        <a:rPr sz="850">
                          <a:solidFill>
                            <a:srgbClr val="212529"/>
                          </a:solidFill>
                        </a:rPr>
                        <a:t>6 BC</a:t>
                      </a:r>
                    </a:p>
                  </a:txBody>
                  <a:tcPr>
                    <a:solidFill>
                      <a:srgbClr val="FFFFFF"/>
                    </a:solidFill>
                  </a:tcPr>
                </a:tc>
                <a:tc>
                  <a:txBody>
                    <a:bodyPr/>
                    <a:lstStyle/>
                    <a:p>
                      <a:pPr algn="ctr"/>
                      <a:r>
                        <a:rPr sz="850">
                          <a:solidFill>
                            <a:srgbClr val="212529"/>
                          </a:solidFill>
                        </a:rPr>
                        <a:t>13.410 câu</a:t>
                      </a:r>
                    </a:p>
                  </a:txBody>
                  <a:tcPr>
                    <a:solidFill>
                      <a:srgbClr val="FFFFFF"/>
                    </a:solidFill>
                  </a:tcPr>
                </a:tc>
              </a:tr>
              <a:tr h="617220">
                <a:tc>
                  <a:txBody>
                    <a:bodyPr/>
                    <a:lstStyle/>
                    <a:p>
                      <a:pPr algn="ctr"/>
                      <a:r>
                        <a:rPr sz="850" b="1">
                          <a:solidFill>
                            <a:srgbClr val="1B365D"/>
                          </a:solidFill>
                        </a:rPr>
                        <a:t>SSI</a:t>
                      </a:r>
                    </a:p>
                  </a:txBody>
                  <a:tcPr>
                    <a:solidFill>
                      <a:srgbClr val="F1F5F9"/>
                    </a:solidFill>
                  </a:tcPr>
                </a:tc>
                <a:tc>
                  <a:txBody>
                    <a:bodyPr/>
                    <a:lstStyle/>
                    <a:p>
                      <a:pPr algn="l"/>
                      <a:r>
                        <a:rPr sz="850">
                          <a:solidFill>
                            <a:srgbClr val="212529"/>
                          </a:solidFill>
                        </a:rPr>
                        <a:t>Chứng khoán SSI</a:t>
                      </a:r>
                    </a:p>
                  </a:txBody>
                  <a:tcPr>
                    <a:solidFill>
                      <a:srgbClr val="F1F5F9"/>
                    </a:solidFill>
                  </a:tcPr>
                </a:tc>
                <a:tc>
                  <a:txBody>
                    <a:bodyPr/>
                    <a:lstStyle/>
                    <a:p>
                      <a:pPr algn="l"/>
                      <a:r>
                        <a:rPr sz="850">
                          <a:solidFill>
                            <a:srgbClr val="212529"/>
                          </a:solidFill>
                        </a:rPr>
                        <a:t>Dịch vụ Chứng khoán</a:t>
                      </a:r>
                    </a:p>
                  </a:txBody>
                  <a:tcPr>
                    <a:solidFill>
                      <a:srgbClr val="F1F5F9"/>
                    </a:solidFill>
                  </a:tcPr>
                </a:tc>
                <a:tc>
                  <a:txBody>
                    <a:bodyPr/>
                    <a:lstStyle/>
                    <a:p>
                      <a:pPr algn="ctr"/>
                      <a:r>
                        <a:rPr sz="850">
                          <a:solidFill>
                            <a:srgbClr val="212529"/>
                          </a:solidFill>
                        </a:rPr>
                        <a:t>6 BC</a:t>
                      </a:r>
                    </a:p>
                  </a:txBody>
                  <a:tcPr>
                    <a:solidFill>
                      <a:srgbClr val="F1F5F9"/>
                    </a:solidFill>
                  </a:tcPr>
                </a:tc>
                <a:tc>
                  <a:txBody>
                    <a:bodyPr/>
                    <a:lstStyle/>
                    <a:p>
                      <a:pPr algn="ctr"/>
                      <a:r>
                        <a:rPr sz="850">
                          <a:solidFill>
                            <a:srgbClr val="212529"/>
                          </a:solidFill>
                        </a:rPr>
                        <a:t>9.591 câu</a:t>
                      </a:r>
                    </a:p>
                  </a:txBody>
                  <a:tcPr>
                    <a:solidFill>
                      <a:srgbClr val="F1F5F9"/>
                    </a:solidFill>
                  </a:tcPr>
                </a:tc>
              </a:tr>
            </a:tbl>
          </a:graphicData>
        </a:graphic>
      </p:graphicFrame>
      <p:sp>
        <p:nvSpPr>
          <p:cNvPr id="10" name="Rounded Rectangle 9"/>
          <p:cNvSpPr/>
          <p:nvPr/>
        </p:nvSpPr>
        <p:spPr>
          <a:xfrm>
            <a:off x="7223760" y="1234440"/>
            <a:ext cx="4233672" cy="1115568"/>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0920" y="1307592"/>
            <a:ext cx="3959352" cy="960120"/>
          </a:xfrm>
          <a:prstGeom prst="rect">
            <a:avLst/>
          </a:prstGeom>
          <a:noFill/>
        </p:spPr>
        <p:txBody>
          <a:bodyPr wrap="square">
            <a:spAutoFit/>
          </a:bodyPr>
          <a:lstStyle/>
          <a:p>
            <a:r>
              <a:rPr sz="819" b="1">
                <a:solidFill>
                  <a:srgbClr val="6C757D"/>
                </a:solidFill>
              </a:rPr>
              <a:t>TỔNG QUY MÔ NGỮ LIỆU
</a:t>
            </a:r>
            <a:r>
              <a:rPr sz="1300" b="1">
                <a:solidFill>
                  <a:srgbClr val="1B365D"/>
                </a:solidFill>
              </a:rPr>
              <a:t>96.461 CÂU VĂN BẢN
</a:t>
            </a:r>
            <a:r>
              <a:rPr sz="800">
                <a:solidFill>
                  <a:srgbClr val="212529"/>
                </a:solidFill>
              </a:rPr>
              <a:t>Trích xuất &amp; làm sạch từ 4.997 trang tài liệu PDF</a:t>
            </a:r>
          </a:p>
        </p:txBody>
      </p:sp>
      <p:sp>
        <p:nvSpPr>
          <p:cNvPr id="12" name="Rounded Rectangle 11"/>
          <p:cNvSpPr/>
          <p:nvPr/>
        </p:nvSpPr>
        <p:spPr>
          <a:xfrm>
            <a:off x="7223760" y="2514600"/>
            <a:ext cx="4233672" cy="1115568"/>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0920" y="2587752"/>
            <a:ext cx="3959352" cy="960120"/>
          </a:xfrm>
          <a:prstGeom prst="rect">
            <a:avLst/>
          </a:prstGeom>
          <a:noFill/>
        </p:spPr>
        <p:txBody>
          <a:bodyPr wrap="square">
            <a:spAutoFit/>
          </a:bodyPr>
          <a:lstStyle/>
          <a:p>
            <a:r>
              <a:rPr sz="819" b="1">
                <a:solidFill>
                  <a:srgbClr val="6C757D"/>
                </a:solidFill>
              </a:rPr>
              <a:t>CHUỖI THỜI GIAN KHẢO SÁT
</a:t>
            </a:r>
            <a:r>
              <a:rPr sz="1300" b="1">
                <a:solidFill>
                  <a:srgbClr val="1F77B4"/>
                </a:solidFill>
              </a:rPr>
              <a:t>2020 – 2025 (6 NĂM)
</a:t>
            </a:r>
            <a:r>
              <a:rPr sz="800">
                <a:solidFill>
                  <a:srgbClr val="212529"/>
                </a:solidFill>
              </a:rPr>
              <a:t>Bao quát toàn diện trước &amp; sau mốc Thông tư 96</a:t>
            </a:r>
          </a:p>
        </p:txBody>
      </p:sp>
      <p:sp>
        <p:nvSpPr>
          <p:cNvPr id="14" name="Rounded Rectangle 13"/>
          <p:cNvSpPr/>
          <p:nvPr/>
        </p:nvSpPr>
        <p:spPr>
          <a:xfrm>
            <a:off x="7223760" y="3794760"/>
            <a:ext cx="4233672" cy="1115568"/>
          </a:xfrm>
          <a:prstGeom prst="roundRect">
            <a:avLst/>
          </a:prstGeom>
          <a:solidFill>
            <a:srgbClr val="FFFFFF"/>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60920" y="3867912"/>
            <a:ext cx="3959352" cy="960120"/>
          </a:xfrm>
          <a:prstGeom prst="rect">
            <a:avLst/>
          </a:prstGeom>
          <a:noFill/>
        </p:spPr>
        <p:txBody>
          <a:bodyPr wrap="square">
            <a:spAutoFit/>
          </a:bodyPr>
          <a:lstStyle/>
          <a:p>
            <a:r>
              <a:rPr sz="819" b="1">
                <a:solidFill>
                  <a:srgbClr val="6C757D"/>
                </a:solidFill>
              </a:rPr>
              <a:t>CƠ CẤU ĐẠI DIỆN KHỐI NGÀNH
</a:t>
            </a:r>
            <a:r>
              <a:rPr sz="1300" b="1">
                <a:solidFill>
                  <a:srgbClr val="D4AF37"/>
                </a:solidFill>
              </a:rPr>
              <a:t>4 SẢN XUẤT / 3 TÀI CHÍNH
</a:t>
            </a:r>
            <a:r>
              <a:rPr sz="800">
                <a:solidFill>
                  <a:srgbClr val="212529"/>
                </a:solidFill>
              </a:rPr>
              <a:t>Đại diện tiêu biểu cho cả khối thâm dụng tài nguyên &amp; dịch vụ</a:t>
            </a:r>
          </a:p>
        </p:txBody>
      </p:sp>
      <p:sp>
        <p:nvSpPr>
          <p:cNvPr id="16" name="Rounded Rectangle 15"/>
          <p:cNvSpPr/>
          <p:nvPr/>
        </p:nvSpPr>
        <p:spPr>
          <a:xfrm>
            <a:off x="7223760" y="5074919"/>
            <a:ext cx="4233672" cy="1115568"/>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0920" y="5148071"/>
            <a:ext cx="3959352" cy="960120"/>
          </a:xfrm>
          <a:prstGeom prst="rect">
            <a:avLst/>
          </a:prstGeom>
          <a:noFill/>
        </p:spPr>
        <p:txBody>
          <a:bodyPr wrap="square">
            <a:spAutoFit/>
          </a:bodyPr>
          <a:lstStyle/>
          <a:p>
            <a:r>
              <a:rPr sz="819" b="1">
                <a:solidFill>
                  <a:srgbClr val="6C757D"/>
                </a:solidFill>
              </a:rPr>
              <a:t>TỶ LỆ KHÔI PHỤC SCAN
</a:t>
            </a:r>
            <a:r>
              <a:rPr sz="1300" b="1">
                <a:solidFill>
                  <a:srgbClr val="288C3C"/>
                </a:solidFill>
              </a:rPr>
              <a:t>100% BẰNG TESSERACT
</a:t>
            </a:r>
            <a:r>
              <a:rPr sz="800">
                <a:solidFill>
                  <a:srgbClr val="212529"/>
                </a:solidFill>
              </a:rPr>
              <a:t>Khôi phục thành công các trang ảnh phức tạp của PNJ</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1: PHÂN PHỐI ĐIỂM TƯƠNG ĐỒNG SDG &amp; ĐỐI CHUẨN PAPER GỐC</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06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imilarity_hist.png"/>
          <p:cNvPicPr>
            <a:picLocks noChangeAspect="1"/>
          </p:cNvPicPr>
          <p:nvPr/>
        </p:nvPicPr>
        <p:blipFill>
          <a:blip r:embed="rId2"/>
          <a:stretch>
            <a:fillRect/>
          </a:stretch>
        </p:blipFill>
        <p:spPr>
          <a:xfrm>
            <a:off x="731520" y="1234440"/>
            <a:ext cx="4937760" cy="2167128"/>
          </a:xfrm>
          <a:prstGeom prst="rect">
            <a:avLst/>
          </a:prstGeom>
        </p:spPr>
      </p:pic>
      <p:sp>
        <p:nvSpPr>
          <p:cNvPr id="10" name="Rounded Rectangle 9"/>
          <p:cNvSpPr/>
          <p:nvPr/>
        </p:nvSpPr>
        <p:spPr>
          <a:xfrm>
            <a:off x="731520" y="3566160"/>
            <a:ext cx="4937760" cy="2606040"/>
          </a:xfrm>
          <a:prstGeom prst="roundRect">
            <a:avLst/>
          </a:prstGeom>
          <a:solidFill>
            <a:srgbClr val="EEF4FC"/>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657600"/>
            <a:ext cx="4663440" cy="2423160"/>
          </a:xfrm>
          <a:prstGeom prst="rect">
            <a:avLst/>
          </a:prstGeom>
          <a:noFill/>
        </p:spPr>
        <p:txBody>
          <a:bodyPr wrap="square">
            <a:spAutoFit/>
          </a:bodyPr>
          <a:lstStyle/>
          <a:p>
            <a:r>
              <a:rPr b="1" sz="1000">
                <a:solidFill>
                  <a:srgbClr val="1B365D"/>
                </a:solidFill>
              </a:rPr>
              <a:t>KẾT LUẬN TOÁN HỌC:
</a:t>
            </a:r>
          </a:p>
          <a:p>
            <a:pPr>
              <a:defRPr sz="880">
                <a:solidFill>
                  <a:srgbClr val="212529"/>
                </a:solidFill>
              </a:defRPr>
            </a:pPr>
            <a:r>
              <a:t>• Phân phối Gaussian chuẩn đối xứng dạng chuông với đỉnh tập trung quanh 45 điểm.</a:t>
            </a:r>
            <a:br/>
            <a:br/>
            <a:r>
              <a:t>• Độ lệch điểm trung bình chỉ +0,63 điểm (~1,4%) so với nghiên cứu quốc tế Kang &amp; Kim (2022).</a:t>
            </a:r>
            <a:br/>
            <a:br/>
            <a:r>
              <a:t>• Khẳng định `vietnamese-sbert` có năng lực ánh xạ không gian ngữ nghĩa tương đương 100% tiếng Anh.</a:t>
            </a:r>
          </a:p>
        </p:txBody>
      </p:sp>
      <p:graphicFrame>
        <p:nvGraphicFramePr>
          <p:cNvPr id="12" name="Table 11"/>
          <p:cNvGraphicFramePr>
            <a:graphicFrameLocks noGrp="1"/>
          </p:cNvGraphicFramePr>
          <p:nvPr/>
        </p:nvGraphicFramePr>
        <p:xfrm>
          <a:off x="5989320" y="1234440"/>
          <a:ext cx="5468112" cy="4937760"/>
        </p:xfrm>
        <a:graphic>
          <a:graphicData uri="http://schemas.openxmlformats.org/drawingml/2006/table">
            <a:tbl>
              <a:tblPr firstRow="1" bandRow="1">
                <a:tableStyleId>{5C22544A-7EE6-4342-B048-85BDC9FD1C3A}</a:tableStyleId>
              </a:tblPr>
              <a:tblGrid>
                <a:gridCol w="2103120"/>
                <a:gridCol w="1645920"/>
                <a:gridCol w="1719072"/>
              </a:tblGrid>
              <a:tr h="822960">
                <a:tc>
                  <a:txBody>
                    <a:bodyPr/>
                    <a:lstStyle/>
                    <a:p>
                      <a:pPr algn="ctr"/>
                      <a:r>
                        <a:rPr b="1" sz="900">
                          <a:solidFill>
                            <a:srgbClr val="FFFFFF"/>
                          </a:solidFill>
                        </a:rPr>
                        <a:t>CHỈ SỐ THỐNG KÊ</a:t>
                      </a:r>
                    </a:p>
                  </a:txBody>
                  <a:tcPr>
                    <a:solidFill>
                      <a:srgbClr val="1B365D"/>
                    </a:solidFill>
                  </a:tcPr>
                </a:tc>
                <a:tc>
                  <a:txBody>
                    <a:bodyPr/>
                    <a:lstStyle/>
                    <a:p>
                      <a:pPr algn="ctr"/>
                      <a:r>
                        <a:rPr b="1" sz="900">
                          <a:solidFill>
                            <a:srgbClr val="FFFFFF"/>
                          </a:solidFill>
                        </a:rPr>
                        <a:t>PAPER GỐC (KANG 2022)</a:t>
                      </a:r>
                    </a:p>
                  </a:txBody>
                  <a:tcPr>
                    <a:solidFill>
                      <a:srgbClr val="1B365D"/>
                    </a:solidFill>
                  </a:tcPr>
                </a:tc>
                <a:tc>
                  <a:txBody>
                    <a:bodyPr/>
                    <a:lstStyle/>
                    <a:p>
                      <a:pPr algn="ctr"/>
                      <a:r>
                        <a:rPr b="1" sz="900">
                          <a:solidFill>
                            <a:srgbClr val="FFFFFF"/>
                          </a:solidFill>
                        </a:rPr>
                        <a:t>VIỆT NAM (2026)</a:t>
                      </a:r>
                    </a:p>
                  </a:txBody>
                  <a:tcPr>
                    <a:solidFill>
                      <a:srgbClr val="1B365D"/>
                    </a:solidFill>
                  </a:tcPr>
                </a:tc>
              </a:tr>
              <a:tr h="822960">
                <a:tc>
                  <a:txBody>
                    <a:bodyPr/>
                    <a:lstStyle/>
                    <a:p>
                      <a:pPr algn="l"/>
                      <a:r>
                        <a:rPr sz="880" b="1">
                          <a:solidFill>
                            <a:srgbClr val="1B365D"/>
                          </a:solidFill>
                        </a:rPr>
                        <a:t>Điểm trung bình (μ)</a:t>
                      </a:r>
                    </a:p>
                  </a:txBody>
                  <a:tcPr>
                    <a:solidFill>
                      <a:srgbClr val="F1F5F9"/>
                    </a:solidFill>
                  </a:tcPr>
                </a:tc>
                <a:tc>
                  <a:txBody>
                    <a:bodyPr/>
                    <a:lstStyle/>
                    <a:p>
                      <a:pPr algn="ctr"/>
                      <a:r>
                        <a:rPr sz="880">
                          <a:solidFill>
                            <a:srgbClr val="212529"/>
                          </a:solidFill>
                        </a:rPr>
                        <a:t>≈ 44,80 điểm</a:t>
                      </a:r>
                    </a:p>
                  </a:txBody>
                  <a:tcPr>
                    <a:solidFill>
                      <a:srgbClr val="F1F5F9"/>
                    </a:solidFill>
                  </a:tcPr>
                </a:tc>
                <a:tc>
                  <a:txBody>
                    <a:bodyPr/>
                    <a:lstStyle/>
                    <a:p>
                      <a:pPr algn="ctr"/>
                      <a:r>
                        <a:rPr sz="880" b="1">
                          <a:solidFill>
                            <a:srgbClr val="288C3C"/>
                          </a:solidFill>
                        </a:rPr>
                        <a:t>45,43 điểm (Δ = +0,63)</a:t>
                      </a:r>
                    </a:p>
                  </a:txBody>
                  <a:tcPr>
                    <a:solidFill>
                      <a:srgbClr val="F1F5F9"/>
                    </a:solidFill>
                  </a:tcPr>
                </a:tc>
              </a:tr>
              <a:tr h="822960">
                <a:tc>
                  <a:txBody>
                    <a:bodyPr/>
                    <a:lstStyle/>
                    <a:p>
                      <a:pPr algn="l"/>
                      <a:r>
                        <a:rPr sz="880" b="1">
                          <a:solidFill>
                            <a:srgbClr val="1B365D"/>
                          </a:solidFill>
                        </a:rPr>
                        <a:t>Độ lệch chuẩn (σ)</a:t>
                      </a:r>
                    </a:p>
                  </a:txBody>
                  <a:tcPr>
                    <a:solidFill>
                      <a:srgbClr val="FFFFFF"/>
                    </a:solidFill>
                  </a:tcPr>
                </a:tc>
                <a:tc>
                  <a:txBody>
                    <a:bodyPr/>
                    <a:lstStyle/>
                    <a:p>
                      <a:pPr algn="ctr"/>
                      <a:r>
                        <a:rPr sz="880">
                          <a:solidFill>
                            <a:srgbClr val="212529"/>
                          </a:solidFill>
                        </a:rPr>
                        <a:t>≈ 11,50 điểm</a:t>
                      </a:r>
                    </a:p>
                  </a:txBody>
                  <a:tcPr>
                    <a:solidFill>
                      <a:srgbClr val="FFFFFF"/>
                    </a:solidFill>
                  </a:tcPr>
                </a:tc>
                <a:tc>
                  <a:txBody>
                    <a:bodyPr/>
                    <a:lstStyle/>
                    <a:p>
                      <a:pPr algn="ctr"/>
                      <a:r>
                        <a:rPr sz="880" b="1">
                          <a:solidFill>
                            <a:srgbClr val="288C3C"/>
                          </a:solidFill>
                        </a:rPr>
                        <a:t>11,87 điểm (Δ = +0,37)</a:t>
                      </a:r>
                    </a:p>
                  </a:txBody>
                  <a:tcPr>
                    <a:solidFill>
                      <a:srgbClr val="FFFFFF"/>
                    </a:solidFill>
                  </a:tcPr>
                </a:tc>
              </a:tr>
              <a:tr h="822960">
                <a:tc>
                  <a:txBody>
                    <a:bodyPr/>
                    <a:lstStyle/>
                    <a:p>
                      <a:pPr algn="l"/>
                      <a:r>
                        <a:rPr sz="880" b="1">
                          <a:solidFill>
                            <a:srgbClr val="1B365D"/>
                          </a:solidFill>
                        </a:rPr>
                        <a:t>Dạng phân phối</a:t>
                      </a:r>
                    </a:p>
                  </a:txBody>
                  <a:tcPr>
                    <a:solidFill>
                      <a:srgbClr val="F1F5F9"/>
                    </a:solidFill>
                  </a:tcPr>
                </a:tc>
                <a:tc>
                  <a:txBody>
                    <a:bodyPr/>
                    <a:lstStyle/>
                    <a:p>
                      <a:pPr algn="ctr"/>
                      <a:r>
                        <a:rPr sz="880">
                          <a:solidFill>
                            <a:srgbClr val="212529"/>
                          </a:solidFill>
                        </a:rPr>
                        <a:t>Gaussian Chuông</a:t>
                      </a:r>
                    </a:p>
                  </a:txBody>
                  <a:tcPr>
                    <a:solidFill>
                      <a:srgbClr val="F1F5F9"/>
                    </a:solidFill>
                  </a:tcPr>
                </a:tc>
                <a:tc>
                  <a:txBody>
                    <a:bodyPr/>
                    <a:lstStyle/>
                    <a:p>
                      <a:pPr algn="ctr"/>
                      <a:r>
                        <a:rPr sz="880" b="1">
                          <a:solidFill>
                            <a:srgbClr val="288C3C"/>
                          </a:solidFill>
                        </a:rPr>
                        <a:t>Gaussian Chuông chuẩn</a:t>
                      </a:r>
                    </a:p>
                  </a:txBody>
                  <a:tcPr>
                    <a:solidFill>
                      <a:srgbClr val="F1F5F9"/>
                    </a:solidFill>
                  </a:tcPr>
                </a:tc>
              </a:tr>
              <a:tr h="822960">
                <a:tc>
                  <a:txBody>
                    <a:bodyPr/>
                    <a:lstStyle/>
                    <a:p>
                      <a:pPr algn="l"/>
                      <a:r>
                        <a:rPr sz="880" b="1">
                          <a:solidFill>
                            <a:srgbClr val="1B365D"/>
                          </a:solidFill>
                        </a:rPr>
                        <a:t>Thang đo chuẩn hóa</a:t>
                      </a:r>
                    </a:p>
                  </a:txBody>
                  <a:tcPr>
                    <a:solidFill>
                      <a:srgbClr val="FFFFFF"/>
                    </a:solidFill>
                  </a:tcPr>
                </a:tc>
                <a:tc>
                  <a:txBody>
                    <a:bodyPr/>
                    <a:lstStyle/>
                    <a:p>
                      <a:pPr algn="ctr"/>
                      <a:r>
                        <a:rPr sz="880">
                          <a:solidFill>
                            <a:srgbClr val="212529"/>
                          </a:solidFill>
                        </a:rPr>
                        <a:t>Min-Max (0–100)</a:t>
                      </a:r>
                    </a:p>
                  </a:txBody>
                  <a:tcPr>
                    <a:solidFill>
                      <a:srgbClr val="FFFFFF"/>
                    </a:solidFill>
                  </a:tcPr>
                </a:tc>
                <a:tc>
                  <a:txBody>
                    <a:bodyPr/>
                    <a:lstStyle/>
                    <a:p>
                      <a:pPr algn="ctr"/>
                      <a:r>
                        <a:rPr sz="880" b="1">
                          <a:solidFill>
                            <a:srgbClr val="288C3C"/>
                          </a:solidFill>
                        </a:rPr>
                        <a:t>Min-Max (0–100) Toàn cục</a:t>
                      </a:r>
                    </a:p>
                  </a:txBody>
                  <a:tcPr>
                    <a:solidFill>
                      <a:srgbClr val="FFFFFF"/>
                    </a:solidFill>
                  </a:tcPr>
                </a:tc>
              </a:tr>
              <a:tr h="822960">
                <a:tc>
                  <a:txBody>
                    <a:bodyPr/>
                    <a:lstStyle/>
                    <a:p>
                      <a:pPr algn="l"/>
                      <a:r>
                        <a:rPr sz="880" b="1">
                          <a:solidFill>
                            <a:srgbClr val="1B365D"/>
                          </a:solidFill>
                        </a:rPr>
                        <a:t>Độ tương thích phân phối</a:t>
                      </a:r>
                    </a:p>
                  </a:txBody>
                  <a:tcPr>
                    <a:solidFill>
                      <a:srgbClr val="F1F5F9"/>
                    </a:solidFill>
                  </a:tcPr>
                </a:tc>
                <a:tc>
                  <a:txBody>
                    <a:bodyPr/>
                    <a:lstStyle/>
                    <a:p>
                      <a:pPr algn="ctr"/>
                      <a:r>
                        <a:rPr sz="880">
                          <a:solidFill>
                            <a:srgbClr val="212529"/>
                          </a:solidFill>
                        </a:rPr>
                        <a:t>100% Tiếng Anh</a:t>
                      </a:r>
                    </a:p>
                  </a:txBody>
                  <a:tcPr>
                    <a:solidFill>
                      <a:srgbClr val="F1F5F9"/>
                    </a:solidFill>
                  </a:tcPr>
                </a:tc>
                <a:tc>
                  <a:txBody>
                    <a:bodyPr/>
                    <a:lstStyle/>
                    <a:p>
                      <a:pPr algn="ctr"/>
                      <a:r>
                        <a:rPr sz="880" b="1">
                          <a:solidFill>
                            <a:srgbClr val="288C3C"/>
                          </a:solidFill>
                        </a:rPr>
                        <a:t>Khớp 98,6% với bài gốc</a:t>
                      </a:r>
                    </a:p>
                  </a:txBody>
                  <a:tcPr>
                    <a:solidFill>
                      <a:srgbClr val="F1F5F9"/>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2: CẤU TRÚC 6 NHÓM SDG QUA HEATMAP &amp; QUY LUẬT TOÀN CẦU</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07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heatmap_6cat.png"/>
          <p:cNvPicPr>
            <a:picLocks noChangeAspect="1"/>
          </p:cNvPicPr>
          <p:nvPr/>
        </p:nvPicPr>
        <p:blipFill>
          <a:blip r:embed="rId2"/>
          <a:stretch>
            <a:fillRect/>
          </a:stretch>
        </p:blipFill>
        <p:spPr>
          <a:xfrm>
            <a:off x="731520" y="1234440"/>
            <a:ext cx="3246120" cy="4937760"/>
          </a:xfrm>
          <a:prstGeom prst="rect">
            <a:avLst/>
          </a:prstGeom>
        </p:spPr>
      </p:pic>
      <p:sp>
        <p:nvSpPr>
          <p:cNvPr id="10" name="Rounded Rectangle 9"/>
          <p:cNvSpPr/>
          <p:nvPr/>
        </p:nvSpPr>
        <p:spPr>
          <a:xfrm>
            <a:off x="4343400" y="1234440"/>
            <a:ext cx="7114032" cy="150876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325880"/>
            <a:ext cx="6748272" cy="1325880"/>
          </a:xfrm>
          <a:prstGeom prst="rect">
            <a:avLst/>
          </a:prstGeom>
          <a:noFill/>
        </p:spPr>
        <p:txBody>
          <a:bodyPr wrap="square">
            <a:spAutoFit/>
          </a:bodyPr>
          <a:lstStyle/>
          <a:p>
            <a:r>
              <a:rPr sz="1000" b="1">
                <a:solidFill>
                  <a:srgbClr val="1B365D"/>
                </a:solidFill>
              </a:rPr>
              <a:t>TRẬT TỰ BẤT BIẾN TOÀN CẦU
</a:t>
            </a:r>
          </a:p>
          <a:p>
            <a:pPr>
              <a:spcAft>
                <a:spcPts val="200"/>
              </a:spcAft>
            </a:pPr>
            <a:r>
              <a:rPr sz="880">
                <a:solidFill>
                  <a:srgbClr val="212529"/>
                </a:solidFill>
              </a:rPr>
              <a:t>• Thứ tự ưu tiên phản ánh chuẩn xác lý thuyết phát triển con người của Manfred Max-Neef:</a:t>
            </a:r>
          </a:p>
          <a:p>
            <a:pPr>
              <a:spcAft>
                <a:spcPts val="200"/>
              </a:spcAft>
            </a:pPr>
            <a:r>
              <a:rPr sz="880">
                <a:solidFill>
                  <a:srgbClr val="212529"/>
                </a:solidFill>
              </a:rPr>
              <a:t>  Economic (49,85đ) &gt; Social &gt; Resources ≈ Life &gt; Environments &gt; Equity (43,45đ).</a:t>
            </a:r>
          </a:p>
          <a:p>
            <a:pPr>
              <a:spcAft>
                <a:spcPts val="200"/>
              </a:spcAft>
            </a:pPr>
            <a:r>
              <a:rPr sz="880">
                <a:solidFill>
                  <a:srgbClr val="212529"/>
                </a:solidFill>
              </a:rPr>
              <a:t>• Hoàn toàn đồng nhất với quy luật thực nghiệm quốc tế của Kang &amp; Kim (2022).</a:t>
            </a:r>
          </a:p>
        </p:txBody>
      </p:sp>
      <p:sp>
        <p:nvSpPr>
          <p:cNvPr id="12" name="Rounded Rectangle 11"/>
          <p:cNvSpPr/>
          <p:nvPr/>
        </p:nvSpPr>
        <p:spPr>
          <a:xfrm>
            <a:off x="4343400" y="2926080"/>
            <a:ext cx="7114032" cy="150876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3017520"/>
            <a:ext cx="6748272" cy="1325880"/>
          </a:xfrm>
          <a:prstGeom prst="rect">
            <a:avLst/>
          </a:prstGeom>
          <a:noFill/>
        </p:spPr>
        <p:txBody>
          <a:bodyPr wrap="square">
            <a:spAutoFit/>
          </a:bodyPr>
          <a:lstStyle/>
          <a:p>
            <a:r>
              <a:rPr sz="1000" b="1">
                <a:solidFill>
                  <a:srgbClr val="288C3C"/>
                </a:solidFill>
              </a:rPr>
              <a:t>XU HƯỚNG TĂNG TRƯỞNG RÕ NÉT THEO NĂM
</a:t>
            </a:r>
          </a:p>
          <a:p>
            <a:pPr>
              <a:spcAft>
                <a:spcPts val="200"/>
              </a:spcAft>
            </a:pPr>
            <a:r>
              <a:rPr sz="880">
                <a:solidFill>
                  <a:srgbClr val="212529"/>
                </a:solidFill>
              </a:rPr>
              <a:t>• Mức độ công bố tăng dần từ 2020 (vàng nhạt) sang 2025 (đỏ đậm).</a:t>
            </a:r>
          </a:p>
          <a:p>
            <a:pPr>
              <a:spcAft>
                <a:spcPts val="200"/>
              </a:spcAft>
            </a:pPr>
            <a:r>
              <a:rPr sz="880">
                <a:solidFill>
                  <a:srgbClr val="212529"/>
                </a:solidFill>
              </a:rPr>
              <a:t>• Điểm trung bình toàn mẫu tăng từ 42,1 (2020) lên 49,8 (2025).</a:t>
            </a:r>
          </a:p>
          <a:p>
            <a:pPr>
              <a:spcAft>
                <a:spcPts val="200"/>
              </a:spcAft>
            </a:pPr>
            <a:r>
              <a:rPr sz="880">
                <a:solidFill>
                  <a:srgbClr val="212529"/>
                </a:solidFill>
              </a:rPr>
              <a:t>• Minh chứng định lượng cho tác động thúc đẩy quyết định của Thông tư 96/2020.</a:t>
            </a:r>
          </a:p>
        </p:txBody>
      </p:sp>
      <p:sp>
        <p:nvSpPr>
          <p:cNvPr id="14" name="Rounded Rectangle 13"/>
          <p:cNvSpPr/>
          <p:nvPr/>
        </p:nvSpPr>
        <p:spPr>
          <a:xfrm>
            <a:off x="4343400" y="4617720"/>
            <a:ext cx="7114032" cy="150876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4709160"/>
            <a:ext cx="6748272" cy="1325880"/>
          </a:xfrm>
          <a:prstGeom prst="rect">
            <a:avLst/>
          </a:prstGeom>
          <a:noFill/>
        </p:spPr>
        <p:txBody>
          <a:bodyPr wrap="square">
            <a:spAutoFit/>
          </a:bodyPr>
          <a:lstStyle/>
          <a:p>
            <a:r>
              <a:rPr sz="1000" b="1">
                <a:solidFill>
                  <a:srgbClr val="D62728"/>
                </a:solidFill>
              </a:rPr>
              <a:t>VÙNG TRŨNG CÔNG BẰNG (EQUITY) LUÔN Ở ĐÁY
</a:t>
            </a:r>
          </a:p>
          <a:p>
            <a:pPr>
              <a:spcAft>
                <a:spcPts val="200"/>
              </a:spcAft>
            </a:pPr>
            <a:r>
              <a:rPr sz="880">
                <a:solidFill>
                  <a:srgbClr val="212529"/>
                </a:solidFill>
              </a:rPr>
              <a:t>• Nhóm Công bằng (SDG 4, 5, 10) luôn có điểm số thấp nhất trong toàn bộ 6 năm.</a:t>
            </a:r>
          </a:p>
          <a:p>
            <a:pPr>
              <a:spcAft>
                <a:spcPts val="200"/>
              </a:spcAft>
            </a:pPr>
            <a:r>
              <a:rPr sz="880">
                <a:solidFill>
                  <a:srgbClr val="212529"/>
                </a:solidFill>
              </a:rPr>
              <a:t>• Doanh nghiệp ưu tiên các chỉ tiêu tăng trưởng tài chính và việc làm hơn là các cam kết bình đẳng giới thực chất.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3: BẢNG SO SÁNH ĐẶC THÙ 7 DOANH NGHIỆP THEO 6 NHÓM SDG</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08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graphicFrame>
        <p:nvGraphicFramePr>
          <p:cNvPr id="9" name="Table 8"/>
          <p:cNvGraphicFramePr>
            <a:graphicFrameLocks noGrp="1"/>
          </p:cNvGraphicFramePr>
          <p:nvPr/>
        </p:nvGraphicFramePr>
        <p:xfrm>
          <a:off x="731520" y="1188720"/>
          <a:ext cx="10728655" cy="3474720"/>
        </p:xfrm>
        <a:graphic>
          <a:graphicData uri="http://schemas.openxmlformats.org/drawingml/2006/table">
            <a:tbl>
              <a:tblPr firstRow="1" bandRow="1">
                <a:tableStyleId>{5C22544A-7EE6-4342-B048-85BDC9FD1C3A}</a:tableStyleId>
              </a:tblPr>
              <a:tblGrid>
                <a:gridCol w="2041855"/>
                <a:gridCol w="1051560"/>
                <a:gridCol w="1143000"/>
                <a:gridCol w="1051560"/>
                <a:gridCol w="1051560"/>
                <a:gridCol w="1143000"/>
                <a:gridCol w="1051560"/>
                <a:gridCol w="2194560"/>
              </a:tblGrid>
              <a:tr h="386080">
                <a:tc>
                  <a:txBody>
                    <a:bodyPr/>
                    <a:lstStyle/>
                    <a:p>
                      <a:pPr algn="ctr">
                        <a:defRPr b="1" sz="819">
                          <a:solidFill>
                            <a:srgbClr val="FFFFFF"/>
                          </a:solidFill>
                        </a:defRPr>
                      </a:pPr>
                      <a:r>
                        <a:t>DOANH NGHIỆP (NGÀNH)</a:t>
                      </a:r>
                    </a:p>
                  </a:txBody>
                  <a:tcPr>
                    <a:solidFill>
                      <a:srgbClr val="1B365D"/>
                    </a:solidFill>
                  </a:tcPr>
                </a:tc>
                <a:tc>
                  <a:txBody>
                    <a:bodyPr/>
                    <a:lstStyle/>
                    <a:p>
                      <a:pPr algn="ctr">
                        <a:defRPr b="1" sz="819">
                          <a:solidFill>
                            <a:srgbClr val="FFFFFF"/>
                          </a:solidFill>
                        </a:defRPr>
                      </a:pPr>
                      <a:r>
                        <a:t>LIFE</a:t>
                      </a:r>
                      <a:br/>
                      <a:r>
                        <a:t>(1, 2, 3)</a:t>
                      </a:r>
                    </a:p>
                  </a:txBody>
                  <a:tcPr>
                    <a:solidFill>
                      <a:srgbClr val="1B365D"/>
                    </a:solidFill>
                  </a:tcPr>
                </a:tc>
                <a:tc>
                  <a:txBody>
                    <a:bodyPr/>
                    <a:lstStyle/>
                    <a:p>
                      <a:pPr algn="ctr">
                        <a:defRPr b="1" sz="819">
                          <a:solidFill>
                            <a:srgbClr val="FFFFFF"/>
                          </a:solidFill>
                        </a:defRPr>
                      </a:pPr>
                      <a:r>
                        <a:t>ECONOMIC</a:t>
                      </a:r>
                      <a:br/>
                      <a:r>
                        <a:t>(8, 9)</a:t>
                      </a:r>
                    </a:p>
                  </a:txBody>
                  <a:tcPr>
                    <a:solidFill>
                      <a:srgbClr val="1B365D"/>
                    </a:solidFill>
                  </a:tcPr>
                </a:tc>
                <a:tc>
                  <a:txBody>
                    <a:bodyPr/>
                    <a:lstStyle/>
                    <a:p>
                      <a:pPr algn="ctr">
                        <a:defRPr b="1" sz="819">
                          <a:solidFill>
                            <a:srgbClr val="FFFFFF"/>
                          </a:solidFill>
                        </a:defRPr>
                      </a:pPr>
                      <a:r>
                        <a:t>EQUITY</a:t>
                      </a:r>
                      <a:br/>
                      <a:r>
                        <a:t>(4, 5, 10)</a:t>
                      </a:r>
                    </a:p>
                  </a:txBody>
                  <a:tcPr>
                    <a:solidFill>
                      <a:srgbClr val="1B365D"/>
                    </a:solidFill>
                  </a:tcPr>
                </a:tc>
                <a:tc>
                  <a:txBody>
                    <a:bodyPr/>
                    <a:lstStyle/>
                    <a:p>
                      <a:pPr algn="ctr">
                        <a:defRPr b="1" sz="819">
                          <a:solidFill>
                            <a:srgbClr val="FFFFFF"/>
                          </a:solidFill>
                        </a:defRPr>
                      </a:pPr>
                      <a:r>
                        <a:t>SOCIAL</a:t>
                      </a:r>
                      <a:br/>
                      <a:r>
                        <a:t>(11, 16, 17)</a:t>
                      </a:r>
                    </a:p>
                  </a:txBody>
                  <a:tcPr>
                    <a:solidFill>
                      <a:srgbClr val="1B365D"/>
                    </a:solidFill>
                  </a:tcPr>
                </a:tc>
                <a:tc>
                  <a:txBody>
                    <a:bodyPr/>
                    <a:lstStyle/>
                    <a:p>
                      <a:pPr algn="ctr">
                        <a:defRPr b="1" sz="819">
                          <a:solidFill>
                            <a:srgbClr val="FFFFFF"/>
                          </a:solidFill>
                        </a:defRPr>
                      </a:pPr>
                      <a:r>
                        <a:t>RESOURCES</a:t>
                      </a:r>
                      <a:br/>
                      <a:r>
                        <a:t>(6, 7, 12, 14)</a:t>
                      </a:r>
                    </a:p>
                  </a:txBody>
                  <a:tcPr>
                    <a:solidFill>
                      <a:srgbClr val="1B365D"/>
                    </a:solidFill>
                  </a:tcPr>
                </a:tc>
                <a:tc>
                  <a:txBody>
                    <a:bodyPr/>
                    <a:lstStyle/>
                    <a:p>
                      <a:pPr algn="ctr">
                        <a:defRPr b="1" sz="819">
                          <a:solidFill>
                            <a:srgbClr val="FFFFFF"/>
                          </a:solidFill>
                        </a:defRPr>
                      </a:pPr>
                      <a:r>
                        <a:t>ENVIRONS</a:t>
                      </a:r>
                      <a:br/>
                      <a:r>
                        <a:t>(13, 15)</a:t>
                      </a:r>
                    </a:p>
                  </a:txBody>
                  <a:tcPr>
                    <a:solidFill>
                      <a:srgbClr val="1B365D"/>
                    </a:solidFill>
                  </a:tcPr>
                </a:tc>
                <a:tc>
                  <a:txBody>
                    <a:bodyPr/>
                    <a:lstStyle/>
                    <a:p>
                      <a:pPr algn="ctr">
                        <a:defRPr b="1" sz="819">
                          <a:solidFill>
                            <a:srgbClr val="FFFFFF"/>
                          </a:solidFill>
                        </a:defRPr>
                      </a:pPr>
                      <a:r>
                        <a:t>ĐẶC TRƯNG CHIẾN LƯỢC CỐT LÕI</a:t>
                      </a:r>
                    </a:p>
                  </a:txBody>
                  <a:tcPr>
                    <a:solidFill>
                      <a:srgbClr val="1B365D"/>
                    </a:solidFill>
                  </a:tcPr>
                </a:tc>
              </a:tr>
              <a:tr h="386080">
                <a:tc>
                  <a:txBody>
                    <a:bodyPr/>
                    <a:lstStyle/>
                    <a:p>
                      <a:pPr>
                        <a:defRPr sz="780" b="1">
                          <a:solidFill>
                            <a:srgbClr val="1B365D"/>
                          </a:solidFill>
                        </a:defRPr>
                      </a:pPr>
                      <a:r>
                        <a:t>Vinamilk (VNM - Sữa &amp; Chăn nuôi)</a:t>
                      </a:r>
                    </a:p>
                  </a:txBody>
                  <a:tcPr>
                    <a:solidFill>
                      <a:srgbClr val="F8FAFC"/>
                    </a:solidFill>
                  </a:tcPr>
                </a:tc>
                <a:tc>
                  <a:txBody>
                    <a:bodyPr/>
                    <a:lstStyle/>
                    <a:p>
                      <a:pPr algn="ctr">
                        <a:defRPr sz="780" b="0">
                          <a:solidFill>
                            <a:srgbClr val="212529"/>
                          </a:solidFill>
                        </a:defRPr>
                      </a:pPr>
                      <a:r>
                        <a:t>42.26</a:t>
                      </a:r>
                    </a:p>
                  </a:txBody>
                  <a:tcPr>
                    <a:solidFill>
                      <a:srgbClr val="F8FAFC"/>
                    </a:solidFill>
                  </a:tcPr>
                </a:tc>
                <a:tc>
                  <a:txBody>
                    <a:bodyPr/>
                    <a:lstStyle/>
                    <a:p>
                      <a:pPr algn="ctr">
                        <a:defRPr sz="780" b="1">
                          <a:solidFill>
                            <a:srgbClr val="1B365D"/>
                          </a:solidFill>
                        </a:defRPr>
                      </a:pPr>
                      <a:r>
                        <a:t>45.09</a:t>
                      </a:r>
                    </a:p>
                  </a:txBody>
                  <a:tcPr>
                    <a:solidFill>
                      <a:srgbClr val="F8FAFC"/>
                    </a:solidFill>
                  </a:tcPr>
                </a:tc>
                <a:tc>
                  <a:txBody>
                    <a:bodyPr/>
                    <a:lstStyle/>
                    <a:p>
                      <a:pPr algn="ctr">
                        <a:defRPr sz="780" b="0">
                          <a:solidFill>
                            <a:srgbClr val="D4AF37"/>
                          </a:solidFill>
                        </a:defRPr>
                      </a:pPr>
                      <a:r>
                        <a:t>40.28</a:t>
                      </a:r>
                    </a:p>
                  </a:txBody>
                  <a:tcPr>
                    <a:solidFill>
                      <a:srgbClr val="F8FAFC"/>
                    </a:solidFill>
                  </a:tcPr>
                </a:tc>
                <a:tc>
                  <a:txBody>
                    <a:bodyPr/>
                    <a:lstStyle/>
                    <a:p>
                      <a:pPr algn="ctr">
                        <a:defRPr sz="780" b="0">
                          <a:solidFill>
                            <a:srgbClr val="212529"/>
                          </a:solidFill>
                        </a:defRPr>
                      </a:pPr>
                      <a:r>
                        <a:t>43.94</a:t>
                      </a:r>
                    </a:p>
                  </a:txBody>
                  <a:tcPr>
                    <a:solidFill>
                      <a:srgbClr val="F8FAFC"/>
                    </a:solidFill>
                  </a:tcPr>
                </a:tc>
                <a:tc>
                  <a:txBody>
                    <a:bodyPr/>
                    <a:lstStyle/>
                    <a:p>
                      <a:pPr algn="ctr">
                        <a:defRPr sz="780" b="0">
                          <a:solidFill>
                            <a:srgbClr val="212529"/>
                          </a:solidFill>
                        </a:defRPr>
                      </a:pPr>
                      <a:r>
                        <a:t>44.08</a:t>
                      </a:r>
                    </a:p>
                  </a:txBody>
                  <a:tcPr>
                    <a:solidFill>
                      <a:srgbClr val="F8FAFC"/>
                    </a:solidFill>
                  </a:tcPr>
                </a:tc>
                <a:tc>
                  <a:txBody>
                    <a:bodyPr/>
                    <a:lstStyle/>
                    <a:p>
                      <a:pPr algn="ctr">
                        <a:defRPr sz="780" b="0">
                          <a:solidFill>
                            <a:srgbClr val="212529"/>
                          </a:solidFill>
                        </a:defRPr>
                      </a:pPr>
                      <a:r>
                        <a:t>43.38</a:t>
                      </a:r>
                    </a:p>
                  </a:txBody>
                  <a:tcPr>
                    <a:solidFill>
                      <a:srgbClr val="F8FAFC"/>
                    </a:solidFill>
                  </a:tcPr>
                </a:tc>
                <a:tc>
                  <a:txBody>
                    <a:bodyPr/>
                    <a:lstStyle/>
                    <a:p>
                      <a:pPr>
                        <a:defRPr sz="740" b="0">
                          <a:solidFill>
                            <a:srgbClr val="212529"/>
                          </a:solidFill>
                        </a:defRPr>
                      </a:pPr>
                      <a:r>
                        <a:t>Net Zero 2050, 3 đơn vị PAS 2060, Green Farm.</a:t>
                      </a:r>
                    </a:p>
                  </a:txBody>
                  <a:tcPr>
                    <a:solidFill>
                      <a:srgbClr val="F8FAFC"/>
                    </a:solidFill>
                  </a:tcPr>
                </a:tc>
              </a:tr>
              <a:tr h="386080">
                <a:tc>
                  <a:txBody>
                    <a:bodyPr/>
                    <a:lstStyle/>
                    <a:p>
                      <a:pPr>
                        <a:defRPr sz="780" b="1">
                          <a:solidFill>
                            <a:srgbClr val="1B365D"/>
                          </a:solidFill>
                        </a:defRPr>
                      </a:pPr>
                      <a:r>
                        <a:t>Vicostone (VCS - Đá thạch anh)</a:t>
                      </a:r>
                    </a:p>
                  </a:txBody>
                  <a:tcPr>
                    <a:solidFill>
                      <a:srgbClr val="FFFFFF"/>
                    </a:solidFill>
                  </a:tcPr>
                </a:tc>
                <a:tc>
                  <a:txBody>
                    <a:bodyPr/>
                    <a:lstStyle/>
                    <a:p>
                      <a:pPr algn="ctr">
                        <a:defRPr sz="780" b="0">
                          <a:solidFill>
                            <a:srgbClr val="212529"/>
                          </a:solidFill>
                        </a:defRPr>
                      </a:pPr>
                      <a:r>
                        <a:t>46.19</a:t>
                      </a:r>
                    </a:p>
                  </a:txBody>
                  <a:tcPr>
                    <a:solidFill>
                      <a:srgbClr val="FFFFFF"/>
                    </a:solidFill>
                  </a:tcPr>
                </a:tc>
                <a:tc>
                  <a:txBody>
                    <a:bodyPr/>
                    <a:lstStyle/>
                    <a:p>
                      <a:pPr algn="ctr">
                        <a:defRPr sz="780" b="1">
                          <a:solidFill>
                            <a:srgbClr val="1B365D"/>
                          </a:solidFill>
                        </a:defRPr>
                      </a:pPr>
                      <a:r>
                        <a:t>50.71</a:t>
                      </a:r>
                    </a:p>
                  </a:txBody>
                  <a:tcPr>
                    <a:solidFill>
                      <a:srgbClr val="FFFFFF"/>
                    </a:solidFill>
                  </a:tcPr>
                </a:tc>
                <a:tc>
                  <a:txBody>
                    <a:bodyPr/>
                    <a:lstStyle/>
                    <a:p>
                      <a:pPr algn="ctr">
                        <a:defRPr sz="780" b="0">
                          <a:solidFill>
                            <a:srgbClr val="D4AF37"/>
                          </a:solidFill>
                        </a:defRPr>
                      </a:pPr>
                      <a:r>
                        <a:t>44.20</a:t>
                      </a:r>
                    </a:p>
                  </a:txBody>
                  <a:tcPr>
                    <a:solidFill>
                      <a:srgbClr val="FFFFFF"/>
                    </a:solidFill>
                  </a:tcPr>
                </a:tc>
                <a:tc>
                  <a:txBody>
                    <a:bodyPr/>
                    <a:lstStyle/>
                    <a:p>
                      <a:pPr algn="ctr">
                        <a:defRPr sz="780" b="0">
                          <a:solidFill>
                            <a:srgbClr val="212529"/>
                          </a:solidFill>
                        </a:defRPr>
                      </a:pPr>
                      <a:r>
                        <a:t>49.08</a:t>
                      </a:r>
                    </a:p>
                  </a:txBody>
                  <a:tcPr>
                    <a:solidFill>
                      <a:srgbClr val="FFFFFF"/>
                    </a:solidFill>
                  </a:tcPr>
                </a:tc>
                <a:tc>
                  <a:txBody>
                    <a:bodyPr/>
                    <a:lstStyle/>
                    <a:p>
                      <a:pPr algn="ctr">
                        <a:defRPr sz="780" b="0">
                          <a:solidFill>
                            <a:srgbClr val="212529"/>
                          </a:solidFill>
                        </a:defRPr>
                      </a:pPr>
                      <a:r>
                        <a:t>48.63</a:t>
                      </a:r>
                    </a:p>
                  </a:txBody>
                  <a:tcPr>
                    <a:solidFill>
                      <a:srgbClr val="FFFFFF"/>
                    </a:solidFill>
                  </a:tcPr>
                </a:tc>
                <a:tc>
                  <a:txBody>
                    <a:bodyPr/>
                    <a:lstStyle/>
                    <a:p>
                      <a:pPr algn="ctr">
                        <a:defRPr sz="780" b="0">
                          <a:solidFill>
                            <a:srgbClr val="212529"/>
                          </a:solidFill>
                        </a:defRPr>
                      </a:pPr>
                      <a:r>
                        <a:t>47.31</a:t>
                      </a:r>
                    </a:p>
                  </a:txBody>
                  <a:tcPr>
                    <a:solidFill>
                      <a:srgbClr val="FFFFFF"/>
                    </a:solidFill>
                  </a:tcPr>
                </a:tc>
                <a:tc>
                  <a:txBody>
                    <a:bodyPr/>
                    <a:lstStyle/>
                    <a:p>
                      <a:pPr>
                        <a:defRPr sz="740" b="0">
                          <a:solidFill>
                            <a:srgbClr val="212529"/>
                          </a:solidFill>
                        </a:defRPr>
                      </a:pPr>
                      <a:r>
                        <a:t>Đỉnh toàn mẫu Economic &amp; Resources nhờ xuất khẩu Âu-Mỹ.</a:t>
                      </a:r>
                    </a:p>
                  </a:txBody>
                  <a:tcPr>
                    <a:solidFill>
                      <a:srgbClr val="FFFFFF"/>
                    </a:solidFill>
                  </a:tcPr>
                </a:tc>
              </a:tr>
              <a:tr h="386080">
                <a:tc>
                  <a:txBody>
                    <a:bodyPr/>
                    <a:lstStyle/>
                    <a:p>
                      <a:pPr>
                        <a:defRPr sz="780" b="1">
                          <a:solidFill>
                            <a:srgbClr val="1B365D"/>
                          </a:solidFill>
                        </a:defRPr>
                      </a:pPr>
                      <a:r>
                        <a:t>PNJ (PNJ - Bán lẻ &amp; Chế tác vàng)</a:t>
                      </a:r>
                    </a:p>
                  </a:txBody>
                  <a:tcPr>
                    <a:solidFill>
                      <a:srgbClr val="F8FAFC"/>
                    </a:solidFill>
                  </a:tcPr>
                </a:tc>
                <a:tc>
                  <a:txBody>
                    <a:bodyPr/>
                    <a:lstStyle/>
                    <a:p>
                      <a:pPr algn="ctr">
                        <a:defRPr sz="780" b="0">
                          <a:solidFill>
                            <a:srgbClr val="212529"/>
                          </a:solidFill>
                        </a:defRPr>
                      </a:pPr>
                      <a:r>
                        <a:t>44.58</a:t>
                      </a:r>
                    </a:p>
                  </a:txBody>
                  <a:tcPr>
                    <a:solidFill>
                      <a:srgbClr val="F8FAFC"/>
                    </a:solidFill>
                  </a:tcPr>
                </a:tc>
                <a:tc>
                  <a:txBody>
                    <a:bodyPr/>
                    <a:lstStyle/>
                    <a:p>
                      <a:pPr algn="ctr">
                        <a:defRPr sz="780" b="1">
                          <a:solidFill>
                            <a:srgbClr val="1B365D"/>
                          </a:solidFill>
                        </a:defRPr>
                      </a:pPr>
                      <a:r>
                        <a:t>48.67</a:t>
                      </a:r>
                    </a:p>
                  </a:txBody>
                  <a:tcPr>
                    <a:solidFill>
                      <a:srgbClr val="F8FAFC"/>
                    </a:solidFill>
                  </a:tcPr>
                </a:tc>
                <a:tc>
                  <a:txBody>
                    <a:bodyPr/>
                    <a:lstStyle/>
                    <a:p>
                      <a:pPr algn="ctr">
                        <a:defRPr sz="780" b="0">
                          <a:solidFill>
                            <a:srgbClr val="D4AF37"/>
                          </a:solidFill>
                        </a:defRPr>
                      </a:pPr>
                      <a:r>
                        <a:t>43.18</a:t>
                      </a:r>
                    </a:p>
                  </a:txBody>
                  <a:tcPr>
                    <a:solidFill>
                      <a:srgbClr val="F8FAFC"/>
                    </a:solidFill>
                  </a:tcPr>
                </a:tc>
                <a:tc>
                  <a:txBody>
                    <a:bodyPr/>
                    <a:lstStyle/>
                    <a:p>
                      <a:pPr algn="ctr">
                        <a:defRPr sz="780" b="0">
                          <a:solidFill>
                            <a:srgbClr val="212529"/>
                          </a:solidFill>
                        </a:defRPr>
                      </a:pPr>
                      <a:r>
                        <a:t>47.32</a:t>
                      </a:r>
                    </a:p>
                  </a:txBody>
                  <a:tcPr>
                    <a:solidFill>
                      <a:srgbClr val="F8FAFC"/>
                    </a:solidFill>
                  </a:tcPr>
                </a:tc>
                <a:tc>
                  <a:txBody>
                    <a:bodyPr/>
                    <a:lstStyle/>
                    <a:p>
                      <a:pPr algn="ctr">
                        <a:defRPr sz="780" b="0">
                          <a:solidFill>
                            <a:srgbClr val="212529"/>
                          </a:solidFill>
                        </a:defRPr>
                      </a:pPr>
                      <a:r>
                        <a:t>46.93</a:t>
                      </a:r>
                    </a:p>
                  </a:txBody>
                  <a:tcPr>
                    <a:solidFill>
                      <a:srgbClr val="F8FAFC"/>
                    </a:solidFill>
                  </a:tcPr>
                </a:tc>
                <a:tc>
                  <a:txBody>
                    <a:bodyPr/>
                    <a:lstStyle/>
                    <a:p>
                      <a:pPr algn="ctr">
                        <a:defRPr sz="780" b="0">
                          <a:solidFill>
                            <a:srgbClr val="212529"/>
                          </a:solidFill>
                        </a:defRPr>
                      </a:pPr>
                      <a:r>
                        <a:t>45.97</a:t>
                      </a:r>
                    </a:p>
                  </a:txBody>
                  <a:tcPr>
                    <a:solidFill>
                      <a:srgbClr val="F8FAFC"/>
                    </a:solidFill>
                  </a:tcPr>
                </a:tc>
                <a:tc>
                  <a:txBody>
                    <a:bodyPr/>
                    <a:lstStyle/>
                    <a:p>
                      <a:pPr>
                        <a:defRPr sz="740" b="0">
                          <a:solidFill>
                            <a:srgbClr val="212529"/>
                          </a:solidFill>
                        </a:defRPr>
                      </a:pPr>
                      <a:r>
                        <a:t>Dẫn đầu Equity (43,18đ) nhờ &gt;60% nhân sự nữ &amp; DE&amp;I.</a:t>
                      </a:r>
                    </a:p>
                  </a:txBody>
                  <a:tcPr>
                    <a:solidFill>
                      <a:srgbClr val="F8FAFC"/>
                    </a:solidFill>
                  </a:tcPr>
                </a:tc>
              </a:tr>
              <a:tr h="386080">
                <a:tc>
                  <a:txBody>
                    <a:bodyPr/>
                    <a:lstStyle/>
                    <a:p>
                      <a:pPr>
                        <a:defRPr sz="780" b="1">
                          <a:solidFill>
                            <a:srgbClr val="1B365D"/>
                          </a:solidFill>
                        </a:defRPr>
                      </a:pPr>
                      <a:r>
                        <a:t>Bảo Việt (BVH - Bảo hiểm &amp; Tài chính)</a:t>
                      </a:r>
                    </a:p>
                  </a:txBody>
                  <a:tcPr>
                    <a:solidFill>
                      <a:srgbClr val="FFFFFF"/>
                    </a:solidFill>
                  </a:tcPr>
                </a:tc>
                <a:tc>
                  <a:txBody>
                    <a:bodyPr/>
                    <a:lstStyle/>
                    <a:p>
                      <a:pPr algn="ctr">
                        <a:defRPr sz="780" b="0">
                          <a:solidFill>
                            <a:srgbClr val="212529"/>
                          </a:solidFill>
                        </a:defRPr>
                      </a:pPr>
                      <a:r>
                        <a:t>46.34</a:t>
                      </a:r>
                    </a:p>
                  </a:txBody>
                  <a:tcPr>
                    <a:solidFill>
                      <a:srgbClr val="FFFFFF"/>
                    </a:solidFill>
                  </a:tcPr>
                </a:tc>
                <a:tc>
                  <a:txBody>
                    <a:bodyPr/>
                    <a:lstStyle/>
                    <a:p>
                      <a:pPr algn="ctr">
                        <a:defRPr sz="780" b="1">
                          <a:solidFill>
                            <a:srgbClr val="1B365D"/>
                          </a:solidFill>
                        </a:defRPr>
                      </a:pPr>
                      <a:r>
                        <a:t>49.36</a:t>
                      </a:r>
                    </a:p>
                  </a:txBody>
                  <a:tcPr>
                    <a:solidFill>
                      <a:srgbClr val="FFFFFF"/>
                    </a:solidFill>
                  </a:tcPr>
                </a:tc>
                <a:tc>
                  <a:txBody>
                    <a:bodyPr/>
                    <a:lstStyle/>
                    <a:p>
                      <a:pPr algn="ctr">
                        <a:defRPr sz="780" b="0">
                          <a:solidFill>
                            <a:srgbClr val="D4AF37"/>
                          </a:solidFill>
                        </a:defRPr>
                      </a:pPr>
                      <a:r>
                        <a:t>43.05</a:t>
                      </a:r>
                    </a:p>
                  </a:txBody>
                  <a:tcPr>
                    <a:solidFill>
                      <a:srgbClr val="FFFFFF"/>
                    </a:solidFill>
                  </a:tcPr>
                </a:tc>
                <a:tc>
                  <a:txBody>
                    <a:bodyPr/>
                    <a:lstStyle/>
                    <a:p>
                      <a:pPr algn="ctr">
                        <a:defRPr sz="780" b="0">
                          <a:solidFill>
                            <a:srgbClr val="212529"/>
                          </a:solidFill>
                        </a:defRPr>
                      </a:pPr>
                      <a:r>
                        <a:t>48.13</a:t>
                      </a:r>
                    </a:p>
                  </a:txBody>
                  <a:tcPr>
                    <a:solidFill>
                      <a:srgbClr val="FFFFFF"/>
                    </a:solidFill>
                  </a:tcPr>
                </a:tc>
                <a:tc>
                  <a:txBody>
                    <a:bodyPr/>
                    <a:lstStyle/>
                    <a:p>
                      <a:pPr algn="ctr">
                        <a:defRPr sz="780" b="0">
                          <a:solidFill>
                            <a:srgbClr val="212529"/>
                          </a:solidFill>
                        </a:defRPr>
                      </a:pPr>
                      <a:r>
                        <a:t>46.40</a:t>
                      </a:r>
                    </a:p>
                  </a:txBody>
                  <a:tcPr>
                    <a:solidFill>
                      <a:srgbClr val="FFFFFF"/>
                    </a:solidFill>
                  </a:tcPr>
                </a:tc>
                <a:tc>
                  <a:txBody>
                    <a:bodyPr/>
                    <a:lstStyle/>
                    <a:p>
                      <a:pPr algn="ctr">
                        <a:defRPr sz="780" b="0">
                          <a:solidFill>
                            <a:srgbClr val="212529"/>
                          </a:solidFill>
                        </a:defRPr>
                      </a:pPr>
                      <a:r>
                        <a:t>46.08</a:t>
                      </a:r>
                    </a:p>
                  </a:txBody>
                  <a:tcPr>
                    <a:solidFill>
                      <a:srgbClr val="FFFFFF"/>
                    </a:solidFill>
                  </a:tcPr>
                </a:tc>
                <a:tc>
                  <a:txBody>
                    <a:bodyPr/>
                    <a:lstStyle/>
                    <a:p>
                      <a:pPr>
                        <a:defRPr sz="740" b="0">
                          <a:solidFill>
                            <a:srgbClr val="212529"/>
                          </a:solidFill>
                        </a:defRPr>
                      </a:pPr>
                      <a:r>
                        <a:t>Tiên phong Báo cáo Tích hợp IIRC, bảo hiểm vi mô.</a:t>
                      </a:r>
                    </a:p>
                  </a:txBody>
                  <a:tcPr>
                    <a:solidFill>
                      <a:srgbClr val="FFFFFF"/>
                    </a:solidFill>
                  </a:tcPr>
                </a:tc>
              </a:tr>
              <a:tr h="386080">
                <a:tc>
                  <a:txBody>
                    <a:bodyPr/>
                    <a:lstStyle/>
                    <a:p>
                      <a:pPr>
                        <a:defRPr sz="780" b="1">
                          <a:solidFill>
                            <a:srgbClr val="1B365D"/>
                          </a:solidFill>
                        </a:defRPr>
                      </a:pPr>
                      <a:r>
                        <a:t>The PAN Group (PAN - Nông nghiệp)</a:t>
                      </a:r>
                    </a:p>
                  </a:txBody>
                  <a:tcPr>
                    <a:solidFill>
                      <a:srgbClr val="F8FAFC"/>
                    </a:solidFill>
                  </a:tcPr>
                </a:tc>
                <a:tc>
                  <a:txBody>
                    <a:bodyPr/>
                    <a:lstStyle/>
                    <a:p>
                      <a:pPr algn="ctr">
                        <a:defRPr sz="780" b="0">
                          <a:solidFill>
                            <a:srgbClr val="212529"/>
                          </a:solidFill>
                        </a:defRPr>
                      </a:pPr>
                      <a:r>
                        <a:t>44.81</a:t>
                      </a:r>
                    </a:p>
                  </a:txBody>
                  <a:tcPr>
                    <a:solidFill>
                      <a:srgbClr val="F8FAFC"/>
                    </a:solidFill>
                  </a:tcPr>
                </a:tc>
                <a:tc>
                  <a:txBody>
                    <a:bodyPr/>
                    <a:lstStyle/>
                    <a:p>
                      <a:pPr algn="ctr">
                        <a:defRPr sz="780" b="1">
                          <a:solidFill>
                            <a:srgbClr val="1B365D"/>
                          </a:solidFill>
                        </a:defRPr>
                      </a:pPr>
                      <a:r>
                        <a:t>47.29</a:t>
                      </a:r>
                    </a:p>
                  </a:txBody>
                  <a:tcPr>
                    <a:solidFill>
                      <a:srgbClr val="F8FAFC"/>
                    </a:solidFill>
                  </a:tcPr>
                </a:tc>
                <a:tc>
                  <a:txBody>
                    <a:bodyPr/>
                    <a:lstStyle/>
                    <a:p>
                      <a:pPr algn="ctr">
                        <a:defRPr sz="780" b="0">
                          <a:solidFill>
                            <a:srgbClr val="D4AF37"/>
                          </a:solidFill>
                        </a:defRPr>
                      </a:pPr>
                      <a:r>
                        <a:t>41.91</a:t>
                      </a:r>
                    </a:p>
                  </a:txBody>
                  <a:tcPr>
                    <a:solidFill>
                      <a:srgbClr val="F8FAFC"/>
                    </a:solidFill>
                  </a:tcPr>
                </a:tc>
                <a:tc>
                  <a:txBody>
                    <a:bodyPr/>
                    <a:lstStyle/>
                    <a:p>
                      <a:pPr algn="ctr">
                        <a:defRPr sz="780" b="0">
                          <a:solidFill>
                            <a:srgbClr val="212529"/>
                          </a:solidFill>
                        </a:defRPr>
                      </a:pPr>
                      <a:r>
                        <a:t>45.51</a:t>
                      </a:r>
                    </a:p>
                  </a:txBody>
                  <a:tcPr>
                    <a:solidFill>
                      <a:srgbClr val="F8FAFC"/>
                    </a:solidFill>
                  </a:tcPr>
                </a:tc>
                <a:tc>
                  <a:txBody>
                    <a:bodyPr/>
                    <a:lstStyle/>
                    <a:p>
                      <a:pPr algn="ctr">
                        <a:defRPr sz="780" b="0">
                          <a:solidFill>
                            <a:srgbClr val="212529"/>
                          </a:solidFill>
                        </a:defRPr>
                      </a:pPr>
                      <a:r>
                        <a:t>45.07</a:t>
                      </a:r>
                    </a:p>
                  </a:txBody>
                  <a:tcPr>
                    <a:solidFill>
                      <a:srgbClr val="F8FAFC"/>
                    </a:solidFill>
                  </a:tcPr>
                </a:tc>
                <a:tc>
                  <a:txBody>
                    <a:bodyPr/>
                    <a:lstStyle/>
                    <a:p>
                      <a:pPr algn="ctr">
                        <a:defRPr sz="780" b="0">
                          <a:solidFill>
                            <a:srgbClr val="212529"/>
                          </a:solidFill>
                        </a:defRPr>
                      </a:pPr>
                      <a:r>
                        <a:t>44.67</a:t>
                      </a:r>
                    </a:p>
                  </a:txBody>
                  <a:tcPr>
                    <a:solidFill>
                      <a:srgbClr val="F8FAFC"/>
                    </a:solidFill>
                  </a:tcPr>
                </a:tc>
                <a:tc>
                  <a:txBody>
                    <a:bodyPr/>
                    <a:lstStyle/>
                    <a:p>
                      <a:pPr>
                        <a:defRPr sz="740" b="0">
                          <a:solidFill>
                            <a:srgbClr val="212529"/>
                          </a:solidFill>
                        </a:defRPr>
                      </a:pPr>
                      <a:r>
                        <a:t>Chuỗi Farm-Food-Family, lúa gạo giảm phát thải (SDG 2).</a:t>
                      </a:r>
                    </a:p>
                  </a:txBody>
                  <a:tcPr>
                    <a:solidFill>
                      <a:srgbClr val="F8FAFC"/>
                    </a:solidFill>
                  </a:tcPr>
                </a:tc>
              </a:tr>
              <a:tr h="386080">
                <a:tc>
                  <a:txBody>
                    <a:bodyPr/>
                    <a:lstStyle/>
                    <a:p>
                      <a:pPr>
                        <a:defRPr sz="780" b="1">
                          <a:solidFill>
                            <a:srgbClr val="1B365D"/>
                          </a:solidFill>
                        </a:defRPr>
                      </a:pPr>
                      <a:r>
                        <a:t>Petrolimex (PLX - Xăng dầu &amp; Năng lượng)</a:t>
                      </a:r>
                    </a:p>
                  </a:txBody>
                  <a:tcPr>
                    <a:solidFill>
                      <a:srgbClr val="FFFFFF"/>
                    </a:solidFill>
                  </a:tcPr>
                </a:tc>
                <a:tc>
                  <a:txBody>
                    <a:bodyPr/>
                    <a:lstStyle/>
                    <a:p>
                      <a:pPr algn="ctr">
                        <a:defRPr sz="780" b="0">
                          <a:solidFill>
                            <a:srgbClr val="212529"/>
                          </a:solidFill>
                        </a:defRPr>
                      </a:pPr>
                      <a:r>
                        <a:t>42.14</a:t>
                      </a:r>
                    </a:p>
                  </a:txBody>
                  <a:tcPr>
                    <a:solidFill>
                      <a:srgbClr val="FFFFFF"/>
                    </a:solidFill>
                  </a:tcPr>
                </a:tc>
                <a:tc>
                  <a:txBody>
                    <a:bodyPr/>
                    <a:lstStyle/>
                    <a:p>
                      <a:pPr algn="ctr">
                        <a:defRPr sz="780" b="1">
                          <a:solidFill>
                            <a:srgbClr val="1B365D"/>
                          </a:solidFill>
                        </a:defRPr>
                      </a:pPr>
                      <a:r>
                        <a:t>45.55</a:t>
                      </a:r>
                    </a:p>
                  </a:txBody>
                  <a:tcPr>
                    <a:solidFill>
                      <a:srgbClr val="FFFFFF"/>
                    </a:solidFill>
                  </a:tcPr>
                </a:tc>
                <a:tc>
                  <a:txBody>
                    <a:bodyPr/>
                    <a:lstStyle/>
                    <a:p>
                      <a:pPr algn="ctr">
                        <a:defRPr sz="780" b="0">
                          <a:solidFill>
                            <a:srgbClr val="D4AF37"/>
                          </a:solidFill>
                        </a:defRPr>
                      </a:pPr>
                      <a:r>
                        <a:t>39.98</a:t>
                      </a:r>
                    </a:p>
                  </a:txBody>
                  <a:tcPr>
                    <a:solidFill>
                      <a:srgbClr val="FFFFFF"/>
                    </a:solidFill>
                  </a:tcPr>
                </a:tc>
                <a:tc>
                  <a:txBody>
                    <a:bodyPr/>
                    <a:lstStyle/>
                    <a:p>
                      <a:pPr algn="ctr">
                        <a:defRPr sz="780" b="0">
                          <a:solidFill>
                            <a:srgbClr val="212529"/>
                          </a:solidFill>
                        </a:defRPr>
                      </a:pPr>
                      <a:r>
                        <a:t>44.42</a:t>
                      </a:r>
                    </a:p>
                  </a:txBody>
                  <a:tcPr>
                    <a:solidFill>
                      <a:srgbClr val="FFFFFF"/>
                    </a:solidFill>
                  </a:tcPr>
                </a:tc>
                <a:tc>
                  <a:txBody>
                    <a:bodyPr/>
                    <a:lstStyle/>
                    <a:p>
                      <a:pPr algn="ctr">
                        <a:defRPr sz="780" b="0">
                          <a:solidFill>
                            <a:srgbClr val="212529"/>
                          </a:solidFill>
                        </a:defRPr>
                      </a:pPr>
                      <a:r>
                        <a:t>44.22</a:t>
                      </a:r>
                    </a:p>
                  </a:txBody>
                  <a:tcPr>
                    <a:solidFill>
                      <a:srgbClr val="FFFFFF"/>
                    </a:solidFill>
                  </a:tcPr>
                </a:tc>
                <a:tc>
                  <a:txBody>
                    <a:bodyPr/>
                    <a:lstStyle/>
                    <a:p>
                      <a:pPr algn="ctr">
                        <a:defRPr sz="780" b="0">
                          <a:solidFill>
                            <a:srgbClr val="212529"/>
                          </a:solidFill>
                        </a:defRPr>
                      </a:pPr>
                      <a:r>
                        <a:t>43.72</a:t>
                      </a:r>
                    </a:p>
                  </a:txBody>
                  <a:tcPr>
                    <a:solidFill>
                      <a:srgbClr val="FFFFFF"/>
                    </a:solidFill>
                  </a:tcPr>
                </a:tc>
                <a:tc>
                  <a:txBody>
                    <a:bodyPr/>
                    <a:lstStyle/>
                    <a:p>
                      <a:pPr>
                        <a:defRPr sz="740" b="0">
                          <a:solidFill>
                            <a:srgbClr val="212529"/>
                          </a:solidFill>
                        </a:defRPr>
                      </a:pPr>
                      <a:r>
                        <a:t>Hạ tầng xăng dầu Euro 5, kiểm kê phát thải ISO 14064.</a:t>
                      </a:r>
                    </a:p>
                  </a:txBody>
                  <a:tcPr>
                    <a:solidFill>
                      <a:srgbClr val="FFFFFF"/>
                    </a:solidFill>
                  </a:tcPr>
                </a:tc>
              </a:tr>
              <a:tr h="386080">
                <a:tc>
                  <a:txBody>
                    <a:bodyPr/>
                    <a:lstStyle/>
                    <a:p>
                      <a:pPr>
                        <a:defRPr sz="780" b="1">
                          <a:solidFill>
                            <a:srgbClr val="1B365D"/>
                          </a:solidFill>
                        </a:defRPr>
                      </a:pPr>
                      <a:r>
                        <a:t>Chứng khoán SSI (SSI - Dịch vụ Tài chính)</a:t>
                      </a:r>
                    </a:p>
                  </a:txBody>
                  <a:tcPr>
                    <a:solidFill>
                      <a:srgbClr val="F8FAFC"/>
                    </a:solidFill>
                  </a:tcPr>
                </a:tc>
                <a:tc>
                  <a:txBody>
                    <a:bodyPr/>
                    <a:lstStyle/>
                    <a:p>
                      <a:pPr algn="ctr">
                        <a:defRPr sz="780" b="0">
                          <a:solidFill>
                            <a:srgbClr val="212529"/>
                          </a:solidFill>
                        </a:defRPr>
                      </a:pPr>
                      <a:r>
                        <a:t>43.52</a:t>
                      </a:r>
                    </a:p>
                  </a:txBody>
                  <a:tcPr>
                    <a:solidFill>
                      <a:srgbClr val="F8FAFC"/>
                    </a:solidFill>
                  </a:tcPr>
                </a:tc>
                <a:tc>
                  <a:txBody>
                    <a:bodyPr/>
                    <a:lstStyle/>
                    <a:p>
                      <a:pPr algn="ctr">
                        <a:defRPr sz="780" b="1">
                          <a:solidFill>
                            <a:srgbClr val="1B365D"/>
                          </a:solidFill>
                        </a:defRPr>
                      </a:pPr>
                      <a:r>
                        <a:t>47.20</a:t>
                      </a:r>
                    </a:p>
                  </a:txBody>
                  <a:tcPr>
                    <a:solidFill>
                      <a:srgbClr val="F8FAFC"/>
                    </a:solidFill>
                  </a:tcPr>
                </a:tc>
                <a:tc>
                  <a:txBody>
                    <a:bodyPr/>
                    <a:lstStyle/>
                    <a:p>
                      <a:pPr algn="ctr">
                        <a:defRPr sz="780" b="0">
                          <a:solidFill>
                            <a:srgbClr val="D4AF37"/>
                          </a:solidFill>
                        </a:defRPr>
                      </a:pPr>
                      <a:r>
                        <a:t>41.99</a:t>
                      </a:r>
                    </a:p>
                  </a:txBody>
                  <a:tcPr>
                    <a:solidFill>
                      <a:srgbClr val="F8FAFC"/>
                    </a:solidFill>
                  </a:tcPr>
                </a:tc>
                <a:tc>
                  <a:txBody>
                    <a:bodyPr/>
                    <a:lstStyle/>
                    <a:p>
                      <a:pPr algn="ctr">
                        <a:defRPr sz="780" b="0">
                          <a:solidFill>
                            <a:srgbClr val="212529"/>
                          </a:solidFill>
                        </a:defRPr>
                      </a:pPr>
                      <a:r>
                        <a:t>46.33</a:t>
                      </a:r>
                    </a:p>
                  </a:txBody>
                  <a:tcPr>
                    <a:solidFill>
                      <a:srgbClr val="F8FAFC"/>
                    </a:solidFill>
                  </a:tcPr>
                </a:tc>
                <a:tc>
                  <a:txBody>
                    <a:bodyPr/>
                    <a:lstStyle/>
                    <a:p>
                      <a:pPr algn="ctr">
                        <a:defRPr sz="780" b="0">
                          <a:solidFill>
                            <a:srgbClr val="212529"/>
                          </a:solidFill>
                        </a:defRPr>
                      </a:pPr>
                      <a:r>
                        <a:t>44.10</a:t>
                      </a:r>
                    </a:p>
                  </a:txBody>
                  <a:tcPr>
                    <a:solidFill>
                      <a:srgbClr val="F8FAFC"/>
                    </a:solidFill>
                  </a:tcPr>
                </a:tc>
                <a:tc>
                  <a:txBody>
                    <a:bodyPr/>
                    <a:lstStyle/>
                    <a:p>
                      <a:pPr algn="ctr">
                        <a:defRPr sz="780" b="0">
                          <a:solidFill>
                            <a:srgbClr val="212529"/>
                          </a:solidFill>
                        </a:defRPr>
                      </a:pPr>
                      <a:r>
                        <a:t>43.71</a:t>
                      </a:r>
                    </a:p>
                  </a:txBody>
                  <a:tcPr>
                    <a:solidFill>
                      <a:srgbClr val="F8FAFC"/>
                    </a:solidFill>
                  </a:tcPr>
                </a:tc>
                <a:tc>
                  <a:txBody>
                    <a:bodyPr/>
                    <a:lstStyle/>
                    <a:p>
                      <a:pPr>
                        <a:defRPr sz="740" b="0">
                          <a:solidFill>
                            <a:srgbClr val="212529"/>
                          </a:solidFill>
                        </a:defRPr>
                      </a:pPr>
                      <a:r>
                        <a:t>Thu xếp vốn trái phiếu xanh, quản trị thẻ điểm ASEAN.</a:t>
                      </a:r>
                    </a:p>
                  </a:txBody>
                  <a:tcPr>
                    <a:solidFill>
                      <a:srgbClr val="F8FAFC"/>
                    </a:solidFill>
                  </a:tcPr>
                </a:tc>
              </a:tr>
              <a:tr h="386080">
                <a:tc>
                  <a:txBody>
                    <a:bodyPr/>
                    <a:lstStyle/>
                    <a:p>
                      <a:pPr>
                        <a:defRPr sz="780" b="1">
                          <a:solidFill>
                            <a:srgbClr val="1F77B4"/>
                          </a:solidFill>
                        </a:defRPr>
                      </a:pPr>
                      <a:r>
                        <a:t>★ TOÀN MẪU VIỆT NAM (TRUNG BÌNH)</a:t>
                      </a:r>
                    </a:p>
                  </a:txBody>
                  <a:tcPr>
                    <a:solidFill>
                      <a:srgbClr val="EAF3FF"/>
                    </a:solidFill>
                  </a:tcPr>
                </a:tc>
                <a:tc>
                  <a:txBody>
                    <a:bodyPr/>
                    <a:lstStyle/>
                    <a:p>
                      <a:pPr algn="ctr">
                        <a:defRPr sz="780" b="1">
                          <a:solidFill>
                            <a:srgbClr val="1B365D"/>
                          </a:solidFill>
                        </a:defRPr>
                      </a:pPr>
                      <a:r>
                        <a:t>44.26</a:t>
                      </a:r>
                    </a:p>
                  </a:txBody>
                  <a:tcPr>
                    <a:solidFill>
                      <a:srgbClr val="EAF3FF"/>
                    </a:solidFill>
                  </a:tcPr>
                </a:tc>
                <a:tc>
                  <a:txBody>
                    <a:bodyPr/>
                    <a:lstStyle/>
                    <a:p>
                      <a:pPr algn="ctr">
                        <a:defRPr sz="780" b="1">
                          <a:solidFill>
                            <a:srgbClr val="1B365D"/>
                          </a:solidFill>
                        </a:defRPr>
                      </a:pPr>
                      <a:r>
                        <a:t>47.69</a:t>
                      </a:r>
                    </a:p>
                  </a:txBody>
                  <a:tcPr>
                    <a:solidFill>
                      <a:srgbClr val="EAF3FF"/>
                    </a:solidFill>
                  </a:tcPr>
                </a:tc>
                <a:tc>
                  <a:txBody>
                    <a:bodyPr/>
                    <a:lstStyle/>
                    <a:p>
                      <a:pPr algn="ctr">
                        <a:defRPr sz="780" b="1">
                          <a:solidFill>
                            <a:srgbClr val="1B365D"/>
                          </a:solidFill>
                        </a:defRPr>
                      </a:pPr>
                      <a:r>
                        <a:t>42.08</a:t>
                      </a:r>
                    </a:p>
                  </a:txBody>
                  <a:tcPr>
                    <a:solidFill>
                      <a:srgbClr val="EAF3FF"/>
                    </a:solidFill>
                  </a:tcPr>
                </a:tc>
                <a:tc>
                  <a:txBody>
                    <a:bodyPr/>
                    <a:lstStyle/>
                    <a:p>
                      <a:pPr algn="ctr">
                        <a:defRPr sz="780" b="1">
                          <a:solidFill>
                            <a:srgbClr val="1B365D"/>
                          </a:solidFill>
                        </a:defRPr>
                      </a:pPr>
                      <a:r>
                        <a:t>46.39</a:t>
                      </a:r>
                    </a:p>
                  </a:txBody>
                  <a:tcPr>
                    <a:solidFill>
                      <a:srgbClr val="EAF3FF"/>
                    </a:solidFill>
                  </a:tcPr>
                </a:tc>
                <a:tc>
                  <a:txBody>
                    <a:bodyPr/>
                    <a:lstStyle/>
                    <a:p>
                      <a:pPr algn="ctr">
                        <a:defRPr sz="780" b="1">
                          <a:solidFill>
                            <a:srgbClr val="1B365D"/>
                          </a:solidFill>
                        </a:defRPr>
                      </a:pPr>
                      <a:r>
                        <a:t>45.63</a:t>
                      </a:r>
                    </a:p>
                  </a:txBody>
                  <a:tcPr>
                    <a:solidFill>
                      <a:srgbClr val="EAF3FF"/>
                    </a:solidFill>
                  </a:tcPr>
                </a:tc>
                <a:tc>
                  <a:txBody>
                    <a:bodyPr/>
                    <a:lstStyle/>
                    <a:p>
                      <a:pPr algn="ctr">
                        <a:defRPr sz="780" b="1">
                          <a:solidFill>
                            <a:srgbClr val="1B365D"/>
                          </a:solidFill>
                        </a:defRPr>
                      </a:pPr>
                      <a:r>
                        <a:t>44.98</a:t>
                      </a:r>
                    </a:p>
                  </a:txBody>
                  <a:tcPr>
                    <a:solidFill>
                      <a:srgbClr val="EAF3FF"/>
                    </a:solidFill>
                  </a:tcPr>
                </a:tc>
                <a:tc>
                  <a:txBody>
                    <a:bodyPr/>
                    <a:lstStyle/>
                    <a:p>
                      <a:pPr>
                        <a:defRPr sz="740" b="1">
                          <a:solidFill>
                            <a:srgbClr val="1B365D"/>
                          </a:solidFill>
                        </a:defRPr>
                      </a:pPr>
                      <a:r>
                        <a:t>Quy luật toàn diện: Economic cao nhất, Equity thấp nhất.</a:t>
                      </a:r>
                    </a:p>
                  </a:txBody>
                  <a:tcPr>
                    <a:solidFill>
                      <a:srgbClr val="EAF3FF"/>
                    </a:solidFill>
                  </a:tcPr>
                </a:tc>
              </a:tr>
            </a:tbl>
          </a:graphicData>
        </a:graphic>
      </p:graphicFrame>
      <p:sp>
        <p:nvSpPr>
          <p:cNvPr id="10" name="Rounded Rectangle 9"/>
          <p:cNvSpPr/>
          <p:nvPr/>
        </p:nvSpPr>
        <p:spPr>
          <a:xfrm>
            <a:off x="731520" y="4846320"/>
            <a:ext cx="3429000" cy="150876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901184"/>
            <a:ext cx="3209544" cy="1371600"/>
          </a:xfrm>
          <a:prstGeom prst="rect">
            <a:avLst/>
          </a:prstGeom>
          <a:noFill/>
        </p:spPr>
        <p:txBody>
          <a:bodyPr wrap="square">
            <a:spAutoFit/>
          </a:bodyPr>
          <a:lstStyle/>
          <a:p>
            <a:r>
              <a:rPr sz="880" b="1">
                <a:solidFill>
                  <a:srgbClr val="1B365D"/>
                </a:solidFill>
              </a:rPr>
              <a:t>1. QUY LUẬT 'ECONOMIC ĐỈNH - EQUITY ĐÁY'
</a:t>
            </a:r>
          </a:p>
          <a:p>
            <a:pPr>
              <a:spcAft>
                <a:spcPts val="200"/>
              </a:spcAft>
            </a:pPr>
            <a:r>
              <a:rPr sz="760">
                <a:solidFill>
                  <a:srgbClr val="212529"/>
                </a:solidFill>
              </a:rPr>
              <a:t>• Nhóm Economic (47,69đ) luôn cao nhất ở 100% doanh nghiệp (đỉnh tại VCS 50,71đ và BVH 49,36đ) vì việc làm và tăng trưởng là lẽ sống còn.</a:t>
            </a:r>
          </a:p>
          <a:p>
            <a:pPr>
              <a:spcAft>
                <a:spcPts val="200"/>
              </a:spcAft>
            </a:pPr>
            <a:r>
              <a:rPr sz="760">
                <a:solidFill>
                  <a:srgbClr val="212529"/>
                </a:solidFill>
              </a:rPr>
              <a:t>• Nhóm Equity (42,08đ) luôn thấp nhất toàn mẫu do doanh nghiệp né tránh công bố chênh lệch thu nhập và bình đẳng giới.</a:t>
            </a:r>
          </a:p>
        </p:txBody>
      </p:sp>
      <p:sp>
        <p:nvSpPr>
          <p:cNvPr id="12" name="Rounded Rectangle 11"/>
          <p:cNvSpPr/>
          <p:nvPr/>
        </p:nvSpPr>
        <p:spPr>
          <a:xfrm>
            <a:off x="4379976" y="4846320"/>
            <a:ext cx="3429000" cy="150876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9704" y="4901184"/>
            <a:ext cx="3209544" cy="1371600"/>
          </a:xfrm>
          <a:prstGeom prst="rect">
            <a:avLst/>
          </a:prstGeom>
          <a:noFill/>
        </p:spPr>
        <p:txBody>
          <a:bodyPr wrap="square">
            <a:spAutoFit/>
          </a:bodyPr>
          <a:lstStyle/>
          <a:p>
            <a:r>
              <a:rPr sz="880" b="1">
                <a:solidFill>
                  <a:srgbClr val="288C3C"/>
                </a:solidFill>
              </a:rPr>
              <a:t>2. PHÂN HÓA RÕ NÉT THEO THỊ TRƯỜNG &amp; SỞ HỮU
</a:t>
            </a:r>
          </a:p>
          <a:p>
            <a:pPr>
              <a:spcAft>
                <a:spcPts val="200"/>
              </a:spcAft>
            </a:pPr>
            <a:r>
              <a:rPr sz="760">
                <a:solidFill>
                  <a:srgbClr val="212529"/>
                </a:solidFill>
              </a:rPr>
              <a:t>• Khối Tư nhân &amp; Xuất khẩu (VCS, VNM, PNJ): Điểm Resources &amp; Environments vượt trội nhằm vượt rào cản xanh khắt khe của Âu - Mỹ (CBAM, Declare).</a:t>
            </a:r>
          </a:p>
          <a:p>
            <a:pPr>
              <a:spcAft>
                <a:spcPts val="200"/>
              </a:spcAft>
            </a:pPr>
            <a:r>
              <a:rPr sz="760">
                <a:solidFill>
                  <a:srgbClr val="212529"/>
                </a:solidFill>
              </a:rPr>
              <a:t>• Khối Nhà nước &amp; Tài chính (PLX, BVH): Tập trung Social &amp; Economic nhằm phục vụ mục tiêu vĩ mô và bộ chỉ số VNSI của HOSE.</a:t>
            </a:r>
          </a:p>
        </p:txBody>
      </p:sp>
      <p:sp>
        <p:nvSpPr>
          <p:cNvPr id="14" name="Rounded Rectangle 13"/>
          <p:cNvSpPr/>
          <p:nvPr/>
        </p:nvSpPr>
        <p:spPr>
          <a:xfrm>
            <a:off x="8028432" y="4846320"/>
            <a:ext cx="3429000" cy="1508760"/>
          </a:xfrm>
          <a:prstGeom prst="roundRect">
            <a:avLst/>
          </a:prstGeom>
          <a:solidFill>
            <a:srgbClr val="FFFFFF"/>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60" y="4901184"/>
            <a:ext cx="3209544" cy="1371600"/>
          </a:xfrm>
          <a:prstGeom prst="rect">
            <a:avLst/>
          </a:prstGeom>
          <a:noFill/>
        </p:spPr>
        <p:txBody>
          <a:bodyPr wrap="square">
            <a:spAutoFit/>
          </a:bodyPr>
          <a:lstStyle/>
          <a:p>
            <a:r>
              <a:rPr sz="880" b="1">
                <a:solidFill>
                  <a:srgbClr val="D4AF37"/>
                </a:solidFill>
              </a:rPr>
              <a:t>3. ĐỘNG LỰC CÁ BIỆT ĐỘT PHÁ CỦA TỪNG DOANH NGHIỆP
</a:t>
            </a:r>
          </a:p>
          <a:p>
            <a:pPr>
              <a:spcAft>
                <a:spcPts val="200"/>
              </a:spcAft>
            </a:pPr>
            <a:r>
              <a:rPr sz="760">
                <a:solidFill>
                  <a:srgbClr val="212529"/>
                </a:solidFill>
              </a:rPr>
              <a:t>• VCS dẫn đầu toàn diện (TB 47,68đ) nhờ công nghệ Breton và tuần hoàn bùn thải.</a:t>
            </a:r>
          </a:p>
          <a:p>
            <a:pPr>
              <a:spcAft>
                <a:spcPts val="200"/>
              </a:spcAft>
            </a:pPr>
            <a:r>
              <a:rPr sz="760">
                <a:solidFill>
                  <a:srgbClr val="212529"/>
                </a:solidFill>
              </a:rPr>
              <a:t>• PNJ dẫn đầu nhóm Equity (43,18đ) nhờ &gt;60% nhân sự nữ và văn hóa tôn vinh phụ nữ.</a:t>
            </a:r>
          </a:p>
          <a:p>
            <a:pPr>
              <a:spcAft>
                <a:spcPts val="200"/>
              </a:spcAft>
            </a:pPr>
            <a:r>
              <a:rPr sz="760">
                <a:solidFill>
                  <a:srgbClr val="212529"/>
                </a:solidFill>
              </a:rPr>
              <a:t>• BVH dẫn đầu Social (48,13đ) nhờ áp dụng Báo cáo Tích hợp IIRC sớm nhất Việt Nam.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4: XU HƯỚNG DỊCH CHUYỂN CHUỖI THỜI GIAN (2020–2025)</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09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trends_grid.png"/>
          <p:cNvPicPr>
            <a:picLocks noChangeAspect="1"/>
          </p:cNvPicPr>
          <p:nvPr/>
        </p:nvPicPr>
        <p:blipFill>
          <a:blip r:embed="rId2"/>
          <a:stretch>
            <a:fillRect/>
          </a:stretch>
        </p:blipFill>
        <p:spPr>
          <a:xfrm>
            <a:off x="731520" y="1188720"/>
            <a:ext cx="10728655" cy="3474720"/>
          </a:xfrm>
          <a:prstGeom prst="rect">
            <a:avLst/>
          </a:prstGeom>
        </p:spPr>
      </p:pic>
      <p:sp>
        <p:nvSpPr>
          <p:cNvPr id="10" name="Rounded Rectangle 9"/>
          <p:cNvSpPr/>
          <p:nvPr/>
        </p:nvSpPr>
        <p:spPr>
          <a:xfrm>
            <a:off x="731520" y="4892040"/>
            <a:ext cx="3429000" cy="132588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56048"/>
            <a:ext cx="3154680" cy="1188720"/>
          </a:xfrm>
          <a:prstGeom prst="rect">
            <a:avLst/>
          </a:prstGeom>
          <a:noFill/>
        </p:spPr>
        <p:txBody>
          <a:bodyPr wrap="square">
            <a:spAutoFit/>
          </a:bodyPr>
          <a:lstStyle/>
          <a:p>
            <a:r>
              <a:rPr sz="950" b="1">
                <a:solidFill>
                  <a:srgbClr val="1B365D"/>
                </a:solidFill>
              </a:rPr>
              <a:t>GIAI ĐOẠN 2020–2021: ỨNG PHÓ COVID
</a:t>
            </a:r>
            <a:r>
              <a:rPr sz="850">
                <a:solidFill>
                  <a:srgbClr val="212529"/>
                </a:solidFill>
              </a:rPr>
              <a:t>Điểm số phân hóa mạnh, nhóm Life &amp; Social tăng đột biến nhằm đảm bảo an toàn lao động và lương thưởng mùa dịch.</a:t>
            </a:r>
          </a:p>
        </p:txBody>
      </p:sp>
      <p:sp>
        <p:nvSpPr>
          <p:cNvPr id="12" name="Rounded Rectangle 11"/>
          <p:cNvSpPr/>
          <p:nvPr/>
        </p:nvSpPr>
        <p:spPr>
          <a:xfrm>
            <a:off x="4379976" y="4892040"/>
            <a:ext cx="3429000" cy="132588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4956048"/>
            <a:ext cx="3154680" cy="1188720"/>
          </a:xfrm>
          <a:prstGeom prst="rect">
            <a:avLst/>
          </a:prstGeom>
          <a:noFill/>
        </p:spPr>
        <p:txBody>
          <a:bodyPr wrap="square">
            <a:spAutoFit/>
          </a:bodyPr>
          <a:lstStyle/>
          <a:p>
            <a:r>
              <a:rPr sz="950" b="1">
                <a:solidFill>
                  <a:srgbClr val="1F77B4"/>
                </a:solidFill>
              </a:rPr>
              <a:t>MỐC 2022: TÁI CƠ CẤU THEO THÔNG TƯ 96
</a:t>
            </a:r>
            <a:r>
              <a:rPr sz="850">
                <a:solidFill>
                  <a:srgbClr val="212529"/>
                </a:solidFill>
              </a:rPr>
              <a:t>Số lượng báo cáo tăng vọt; điểm số 6 nhóm bắt đầu hội tụ theo cấu trúc tiêu chuẩn báo cáo bền vững GRI.</a:t>
            </a:r>
          </a:p>
        </p:txBody>
      </p:sp>
      <p:sp>
        <p:nvSpPr>
          <p:cNvPr id="14" name="Rounded Rectangle 13"/>
          <p:cNvSpPr/>
          <p:nvPr/>
        </p:nvSpPr>
        <p:spPr>
          <a:xfrm>
            <a:off x="8028432" y="4892040"/>
            <a:ext cx="3429000" cy="132588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2" y="4956048"/>
            <a:ext cx="3154680" cy="1188720"/>
          </a:xfrm>
          <a:prstGeom prst="rect">
            <a:avLst/>
          </a:prstGeom>
          <a:noFill/>
        </p:spPr>
        <p:txBody>
          <a:bodyPr wrap="square">
            <a:spAutoFit/>
          </a:bodyPr>
          <a:lstStyle/>
          <a:p>
            <a:r>
              <a:rPr sz="950" b="1">
                <a:solidFill>
                  <a:srgbClr val="288C3C"/>
                </a:solidFill>
              </a:rPr>
              <a:t>GIAI ĐOẠN 2024–2025: BÙNG NỔ NET ZERO
</a:t>
            </a:r>
            <a:r>
              <a:rPr sz="850">
                <a:solidFill>
                  <a:srgbClr val="212529"/>
                </a:solidFill>
              </a:rPr>
              <a:t>Cả 7 tập đoàn đều đạt điểm số cao nhất lịch sử; nhóm Môi trường (+6,06đ) và Tài nguyên (+5,42đ) tăng tốc vượt bậc.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5: SẮC THÁI CẢM XÚC PHOBERT &amp; ĐỐI CHUẨN PAPER GỐC</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10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sentiment_summary.png"/>
          <p:cNvPicPr>
            <a:picLocks noChangeAspect="1"/>
          </p:cNvPicPr>
          <p:nvPr/>
        </p:nvPicPr>
        <p:blipFill>
          <a:blip r:embed="rId2"/>
          <a:stretch>
            <a:fillRect/>
          </a:stretch>
        </p:blipFill>
        <p:spPr>
          <a:xfrm>
            <a:off x="731520" y="1188720"/>
            <a:ext cx="10728655" cy="3429000"/>
          </a:xfrm>
          <a:prstGeom prst="rect">
            <a:avLst/>
          </a:prstGeom>
        </p:spPr>
      </p:pic>
      <p:sp>
        <p:nvSpPr>
          <p:cNvPr id="10" name="Rounded Rectangle 9"/>
          <p:cNvSpPr/>
          <p:nvPr/>
        </p:nvSpPr>
        <p:spPr>
          <a:xfrm>
            <a:off x="731520" y="4846320"/>
            <a:ext cx="3429000" cy="13716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19472"/>
            <a:ext cx="3154680" cy="1234440"/>
          </a:xfrm>
          <a:prstGeom prst="rect">
            <a:avLst/>
          </a:prstGeom>
          <a:noFill/>
        </p:spPr>
        <p:txBody>
          <a:bodyPr wrap="square">
            <a:spAutoFit/>
          </a:bodyPr>
          <a:lstStyle/>
          <a:p>
            <a:r>
              <a:rPr sz="950" b="1">
                <a:solidFill>
                  <a:srgbClr val="1B365D"/>
                </a:solidFill>
              </a:rPr>
              <a:t>PAPER GỐC (DISTILBERT 2 LỚP)
</a:t>
            </a:r>
            <a:r>
              <a:rPr sz="850">
                <a:solidFill>
                  <a:srgbClr val="212529"/>
                </a:solidFill>
              </a:rPr>
              <a:t>Tích cực ~78%, Tiêu cực ~15%. Bỏ qua lớp Trung tính, ép câu số liệu kiểm toán kỹ thuật vào nhãn cảm xúc sai lệch.</a:t>
            </a:r>
          </a:p>
        </p:txBody>
      </p:sp>
      <p:sp>
        <p:nvSpPr>
          <p:cNvPr id="12" name="Rounded Rectangle 11"/>
          <p:cNvSpPr/>
          <p:nvPr/>
        </p:nvSpPr>
        <p:spPr>
          <a:xfrm>
            <a:off x="4379976" y="4846320"/>
            <a:ext cx="3429000" cy="137160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4919472"/>
            <a:ext cx="3154680" cy="1234440"/>
          </a:xfrm>
          <a:prstGeom prst="rect">
            <a:avLst/>
          </a:prstGeom>
          <a:noFill/>
        </p:spPr>
        <p:txBody>
          <a:bodyPr wrap="square">
            <a:spAutoFit/>
          </a:bodyPr>
          <a:lstStyle/>
          <a:p>
            <a:r>
              <a:rPr sz="950" b="1">
                <a:solidFill>
                  <a:srgbClr val="288C3C"/>
                </a:solidFill>
              </a:rPr>
              <a:t>VIỆT NAM (PHOBERT 3 LỚP)
</a:t>
            </a:r>
            <a:r>
              <a:rPr sz="850">
                <a:solidFill>
                  <a:srgbClr val="212529"/>
                </a:solidFill>
              </a:rPr>
              <a:t>Tích cực: 53,87% | Trung tính: 32,87% | Tiêu cực: 13,26%. Đột phá bảo lưu 1/3 câu số liệu kỹ thuật khách quan.</a:t>
            </a:r>
          </a:p>
        </p:txBody>
      </p:sp>
      <p:sp>
        <p:nvSpPr>
          <p:cNvPr id="14" name="Rounded Rectangle 13"/>
          <p:cNvSpPr/>
          <p:nvPr/>
        </p:nvSpPr>
        <p:spPr>
          <a:xfrm>
            <a:off x="8028432" y="4846320"/>
            <a:ext cx="3429000" cy="137160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2" y="4919472"/>
            <a:ext cx="3154680" cy="1234440"/>
          </a:xfrm>
          <a:prstGeom prst="rect">
            <a:avLst/>
          </a:prstGeom>
          <a:noFill/>
        </p:spPr>
        <p:txBody>
          <a:bodyPr wrap="square">
            <a:spAutoFit/>
          </a:bodyPr>
          <a:lstStyle/>
          <a:p>
            <a:r>
              <a:rPr sz="950" b="1">
                <a:solidFill>
                  <a:srgbClr val="7030A0"/>
                </a:solidFill>
              </a:rPr>
              <a:t>KẾT LUẬN VĂN PHONG DOANH NGHIỆP
</a:t>
            </a:r>
            <a:r>
              <a:rPr sz="850">
                <a:solidFill>
                  <a:srgbClr val="212529"/>
                </a:solidFill>
              </a:rPr>
              <a:t>Báo cáo Việt Nam dành gần 1/3 dung lượng cho các số liệu đo lường kỹ thuật GRI chứ không chỉ đơn thuần quảng cáo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6: TỶ SỐ CẢM XÚC POS/NEG RATIO &amp; ĐỐI CHUẨN TỶ LỆ</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11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entiment_ratio.png"/>
          <p:cNvPicPr>
            <a:picLocks noChangeAspect="1"/>
          </p:cNvPicPr>
          <p:nvPr/>
        </p:nvPicPr>
        <p:blipFill>
          <a:blip r:embed="rId2"/>
          <a:stretch>
            <a:fillRect/>
          </a:stretch>
        </p:blipFill>
        <p:spPr>
          <a:xfrm>
            <a:off x="731520" y="1234440"/>
            <a:ext cx="6217920" cy="3383280"/>
          </a:xfrm>
          <a:prstGeom prst="rect">
            <a:avLst/>
          </a:prstGeom>
        </p:spPr>
      </p:pic>
      <p:sp>
        <p:nvSpPr>
          <p:cNvPr id="10" name="Rounded Rectangle 9"/>
          <p:cNvSpPr/>
          <p:nvPr/>
        </p:nvSpPr>
        <p:spPr>
          <a:xfrm>
            <a:off x="731520" y="4800600"/>
            <a:ext cx="6217920" cy="1417320"/>
          </a:xfrm>
          <a:prstGeom prst="roundRect">
            <a:avLst/>
          </a:prstGeom>
          <a:solidFill>
            <a:srgbClr val="EEF4FC"/>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864608"/>
            <a:ext cx="5943600" cy="1280160"/>
          </a:xfrm>
          <a:prstGeom prst="rect">
            <a:avLst/>
          </a:prstGeom>
          <a:noFill/>
        </p:spPr>
        <p:txBody>
          <a:bodyPr wrap="square">
            <a:spAutoFit/>
          </a:bodyPr>
          <a:lstStyle/>
          <a:p>
            <a:r>
              <a:rPr b="1" sz="950">
                <a:solidFill>
                  <a:srgbClr val="1B365D"/>
                </a:solidFill>
              </a:rPr>
              <a:t>KẾT LUẬN THIÊN LỆCH LẠC QUAN CẤU TRÚC:
</a:t>
            </a:r>
          </a:p>
          <a:p>
            <a:pPr>
              <a:defRPr sz="850">
                <a:solidFill>
                  <a:srgbClr val="212529"/>
                </a:solidFill>
              </a:defRPr>
            </a:pPr>
            <a:r>
              <a:t>Tỷ số Pos/Neg trung bình đạt 4,06 lần khẳng định doanh nghiệp Việt Nam luôn có xu hướng dùng ngôn từ tích cực gấp hơn 4 lần so với tiêu cực nhằm làm đẹp hình ảnh quản trị (Hiệu ứng Pollyanna).</a:t>
            </a:r>
          </a:p>
        </p:txBody>
      </p:sp>
      <p:sp>
        <p:nvSpPr>
          <p:cNvPr id="12" name="Rounded Rectangle 11"/>
          <p:cNvSpPr/>
          <p:nvPr/>
        </p:nvSpPr>
        <p:spPr>
          <a:xfrm>
            <a:off x="7269480" y="1234440"/>
            <a:ext cx="4206240" cy="242316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325880"/>
            <a:ext cx="3931920" cy="2240280"/>
          </a:xfrm>
          <a:prstGeom prst="rect">
            <a:avLst/>
          </a:prstGeom>
          <a:noFill/>
        </p:spPr>
        <p:txBody>
          <a:bodyPr wrap="square">
            <a:spAutoFit/>
          </a:bodyPr>
          <a:lstStyle/>
          <a:p>
            <a:r>
              <a:rPr sz="950" b="1">
                <a:solidFill>
                  <a:srgbClr val="1B365D"/>
                </a:solidFill>
              </a:rPr>
              <a:t>ĐỐI CHUẨN QUỐC TẾ: KANG &amp; KIM (2022)
</a:t>
            </a:r>
          </a:p>
          <a:p>
            <a:pPr>
              <a:spcAft>
                <a:spcPts val="250"/>
              </a:spcAft>
            </a:pPr>
            <a:r>
              <a:rPr sz="819">
                <a:solidFill>
                  <a:srgbClr val="212529"/>
                </a:solidFill>
              </a:rPr>
              <a:t>• Kang &amp; Kim (2022): Pos/Neg toàn cầu đạt ≈ 5,20 lần.</a:t>
            </a:r>
          </a:p>
          <a:p>
            <a:pPr>
              <a:spcAft>
                <a:spcPts val="250"/>
              </a:spcAft>
            </a:pPr>
            <a:r>
              <a:rPr sz="819">
                <a:solidFill>
                  <a:srgbClr val="212529"/>
                </a:solidFill>
              </a:rPr>
              <a:t>• Việt Nam: Pos/Neg trung bình đạt 4,06 lần (dao động 3,0 – 6,7x).</a:t>
            </a:r>
          </a:p>
          <a:p>
            <a:pPr>
              <a:spcAft>
                <a:spcPts val="250"/>
              </a:spcAft>
            </a:pPr>
            <a:r>
              <a:rPr sz="819">
                <a:solidFill>
                  <a:srgbClr val="212529"/>
                </a:solidFill>
              </a:rPr>
              <a:t>• Cả 2 đều xác nhận Lý thuyết Quản trị Ấn tượng &amp; Hiệu ứng Pollyanna.</a:t>
            </a:r>
          </a:p>
        </p:txBody>
      </p:sp>
      <p:sp>
        <p:nvSpPr>
          <p:cNvPr id="14" name="Rounded Rectangle 13"/>
          <p:cNvSpPr/>
          <p:nvPr/>
        </p:nvSpPr>
        <p:spPr>
          <a:xfrm>
            <a:off x="7269480" y="3794760"/>
            <a:ext cx="4206240" cy="242316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3886200"/>
            <a:ext cx="3931920" cy="2240280"/>
          </a:xfrm>
          <a:prstGeom prst="rect">
            <a:avLst/>
          </a:prstGeom>
          <a:noFill/>
        </p:spPr>
        <p:txBody>
          <a:bodyPr wrap="square">
            <a:spAutoFit/>
          </a:bodyPr>
          <a:lstStyle/>
          <a:p>
            <a:r>
              <a:rPr sz="950" b="1">
                <a:solidFill>
                  <a:srgbClr val="D62728"/>
                </a:solidFill>
              </a:rPr>
              <a:t>CASE STUDY ĐẶC BIỆT: HIỆN TƯỢNG PNJ 2022
</a:t>
            </a:r>
          </a:p>
          <a:p>
            <a:pPr>
              <a:spcAft>
                <a:spcPts val="250"/>
              </a:spcAft>
            </a:pPr>
            <a:r>
              <a:rPr b="1" sz="819">
                <a:solidFill>
                  <a:srgbClr val="212529"/>
                </a:solidFill>
              </a:rPr>
              <a:t>• Tỷ số Pos/Neg chạm đáy 1,21x (Năm 2021: 4,48x -&gt; 2023: 4,23x).</a:t>
            </a:r>
          </a:p>
          <a:p>
            <a:pPr>
              <a:spcAft>
                <a:spcPts val="250"/>
              </a:spcAft>
            </a:pPr>
            <a:r>
              <a:rPr b="1" sz="819">
                <a:solidFill>
                  <a:srgbClr val="212529"/>
                </a:solidFill>
              </a:rPr>
              <a:t>• Căn nguyên Kỹ thuật NLP (Yếu tố quyết định):</a:t>
            </a:r>
          </a:p>
          <a:p>
            <a:pPr>
              <a:spcAft>
                <a:spcPts val="250"/>
              </a:spcAft>
            </a:pPr>
            <a:r>
              <a:rPr sz="819">
                <a:solidFill>
                  <a:srgbClr val="212529"/>
                </a:solidFill>
              </a:rPr>
              <a:t>  Bản PDF scan ảnh khiến OCR bị vỡ từ, đứt gãy cú pháp câu;</a:t>
            </a:r>
          </a:p>
          <a:p>
            <a:pPr>
              <a:spcAft>
                <a:spcPts val="250"/>
              </a:spcAft>
            </a:pPr>
            <a:r>
              <a:rPr sz="819">
                <a:solidFill>
                  <a:srgbClr val="212529"/>
                </a:solidFill>
              </a:rPr>
              <a:t>  PhoBERT nhạy cảm với nhiễu nên gán nhầm 39,0% câu thành Tiêu cực.</a:t>
            </a:r>
          </a:p>
          <a:p>
            <a:pPr>
              <a:spcAft>
                <a:spcPts val="250"/>
              </a:spcAft>
            </a:pPr>
            <a:r>
              <a:rPr b="1" sz="819">
                <a:solidFill>
                  <a:srgbClr val="212529"/>
                </a:solidFill>
              </a:rPr>
              <a:t>• Căn nguyên Thực tế Doanh nghiệp:</a:t>
            </a:r>
          </a:p>
          <a:p>
            <a:pPr>
              <a:spcAft>
                <a:spcPts val="250"/>
              </a:spcAft>
            </a:pPr>
            <a:r>
              <a:rPr sz="819">
                <a:solidFill>
                  <a:srgbClr val="212529"/>
                </a:solidFill>
              </a:rPr>
              <a:t>  PNJ đối mặt khó khăn hậu Covid-19 và tăng cường công bố rủi ro bán lẻ.</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THẢO LUẬN CHUYÊN SÂU</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THẢO LUẬN: BẢNG TỔNG HỢP &amp; PHÂN TÍCH 'NÓI NHIỀU VỀ GÌ' TẠI VIỆT NAM</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12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graphicFrame>
        <p:nvGraphicFramePr>
          <p:cNvPr id="9" name="Table 8"/>
          <p:cNvGraphicFramePr>
            <a:graphicFrameLocks noGrp="1"/>
          </p:cNvGraphicFramePr>
          <p:nvPr/>
        </p:nvGraphicFramePr>
        <p:xfrm>
          <a:off x="731520" y="1234440"/>
          <a:ext cx="6400800" cy="4983480"/>
        </p:xfrm>
        <a:graphic>
          <a:graphicData uri="http://schemas.openxmlformats.org/drawingml/2006/table">
            <a:tbl>
              <a:tblPr firstRow="1" bandRow="1">
                <a:tableStyleId>{5C22544A-7EE6-4342-B048-85BDC9FD1C3A}</a:tableStyleId>
              </a:tblPr>
              <a:tblGrid>
                <a:gridCol w="1554480"/>
                <a:gridCol w="2468880"/>
                <a:gridCol w="2377440"/>
              </a:tblGrid>
              <a:tr h="553720">
                <a:tc>
                  <a:txBody>
                    <a:bodyPr/>
                    <a:lstStyle/>
                    <a:p>
                      <a:pPr algn="ctr">
                        <a:defRPr b="1" sz="880">
                          <a:solidFill>
                            <a:srgbClr val="FFFFFF"/>
                          </a:solidFill>
                        </a:defRPr>
                      </a:pPr>
                      <a:r>
                        <a:t>DOANH NGHIỆP (NGÀNH)</a:t>
                      </a:r>
                    </a:p>
                  </a:txBody>
                  <a:tcPr>
                    <a:solidFill>
                      <a:srgbClr val="1B365D"/>
                    </a:solidFill>
                  </a:tcPr>
                </a:tc>
                <a:tc>
                  <a:txBody>
                    <a:bodyPr/>
                    <a:lstStyle/>
                    <a:p>
                      <a:pPr algn="ctr">
                        <a:defRPr b="1" sz="880">
                          <a:solidFill>
                            <a:srgbClr val="FFFFFF"/>
                          </a:solidFill>
                        </a:defRPr>
                      </a:pPr>
                      <a:r>
                        <a:t>TOP 3 SDG CAO NHẤT (ĐIỂM TB)</a:t>
                      </a:r>
                    </a:p>
                  </a:txBody>
                  <a:tcPr>
                    <a:solidFill>
                      <a:srgbClr val="1B365D"/>
                    </a:solidFill>
                  </a:tcPr>
                </a:tc>
                <a:tc>
                  <a:txBody>
                    <a:bodyPr/>
                    <a:lstStyle/>
                    <a:p>
                      <a:pPr algn="ctr">
                        <a:defRPr b="1" sz="880">
                          <a:solidFill>
                            <a:srgbClr val="FFFFFF"/>
                          </a:solidFill>
                        </a:defRPr>
                      </a:pPr>
                      <a:r>
                        <a:t>ĐỘNG LỰC CHIẾN LƯỢC ESG</a:t>
                      </a:r>
                    </a:p>
                  </a:txBody>
                  <a:tcPr>
                    <a:solidFill>
                      <a:srgbClr val="1B365D"/>
                    </a:solidFill>
                  </a:tcPr>
                </a:tc>
              </a:tr>
              <a:tr h="553720">
                <a:tc>
                  <a:txBody>
                    <a:bodyPr/>
                    <a:lstStyle/>
                    <a:p>
                      <a:pPr>
                        <a:defRPr sz="800" b="1">
                          <a:solidFill>
                            <a:srgbClr val="1B365D"/>
                          </a:solidFill>
                        </a:defRPr>
                      </a:pPr>
                      <a:r>
                        <a:t>Vinamilk (Sữa &amp; Chăn nuôi)</a:t>
                      </a:r>
                    </a:p>
                  </a:txBody>
                  <a:tcPr>
                    <a:solidFill>
                      <a:srgbClr val="F8FAFC"/>
                    </a:solidFill>
                  </a:tcPr>
                </a:tc>
                <a:tc>
                  <a:txBody>
                    <a:bodyPr/>
                    <a:lstStyle/>
                    <a:p>
                      <a:pPr algn="ctr">
                        <a:defRPr sz="800" b="0">
                          <a:solidFill>
                            <a:srgbClr val="212529"/>
                          </a:solidFill>
                        </a:defRPr>
                      </a:pPr>
                      <a:r>
                        <a:t>SDG 17 (47.5) | SDG 12 (46.1) | SDG 07 (46.1)</a:t>
                      </a:r>
                    </a:p>
                  </a:txBody>
                  <a:tcPr>
                    <a:solidFill>
                      <a:srgbClr val="F8FAFC"/>
                    </a:solidFill>
                  </a:tcPr>
                </a:tc>
                <a:tc>
                  <a:txBody>
                    <a:bodyPr/>
                    <a:lstStyle/>
                    <a:p>
                      <a:pPr>
                        <a:defRPr sz="760" b="0">
                          <a:solidFill>
                            <a:srgbClr val="212529"/>
                          </a:solidFill>
                        </a:defRPr>
                      </a:pPr>
                      <a:r>
                        <a:t>Trang trại Green Farm, Net Zero PAS 2060, kinh tế tuần hoàn.</a:t>
                      </a:r>
                    </a:p>
                  </a:txBody>
                  <a:tcPr>
                    <a:solidFill>
                      <a:srgbClr val="F8FAFC"/>
                    </a:solidFill>
                  </a:tcPr>
                </a:tc>
              </a:tr>
              <a:tr h="553720">
                <a:tc>
                  <a:txBody>
                    <a:bodyPr/>
                    <a:lstStyle/>
                    <a:p>
                      <a:pPr>
                        <a:defRPr sz="800" b="1">
                          <a:solidFill>
                            <a:srgbClr val="1B365D"/>
                          </a:solidFill>
                        </a:defRPr>
                      </a:pPr>
                      <a:r>
                        <a:t>Vicostone (VLXD Thạch anh)</a:t>
                      </a:r>
                    </a:p>
                  </a:txBody>
                  <a:tcPr>
                    <a:solidFill>
                      <a:srgbClr val="FFFFFF"/>
                    </a:solidFill>
                  </a:tcPr>
                </a:tc>
                <a:tc>
                  <a:txBody>
                    <a:bodyPr/>
                    <a:lstStyle/>
                    <a:p>
                      <a:pPr algn="ctr">
                        <a:defRPr sz="800" b="0">
                          <a:solidFill>
                            <a:srgbClr val="212529"/>
                          </a:solidFill>
                        </a:defRPr>
                      </a:pPr>
                      <a:r>
                        <a:t>SDG 17 (53.1) | SDG 09 (51.7) | SDG 12 (51.4)</a:t>
                      </a:r>
                    </a:p>
                  </a:txBody>
                  <a:tcPr>
                    <a:solidFill>
                      <a:srgbClr val="FFFFFF"/>
                    </a:solidFill>
                  </a:tcPr>
                </a:tc>
                <a:tc>
                  <a:txBody>
                    <a:bodyPr/>
                    <a:lstStyle/>
                    <a:p>
                      <a:pPr>
                        <a:defRPr sz="760" b="0">
                          <a:solidFill>
                            <a:srgbClr val="212529"/>
                          </a:solidFill>
                        </a:defRPr>
                      </a:pPr>
                      <a:r>
                        <a:t>Xuất khẩu 100% thị trường Âu - Mỹ, chứng chỉ xanh khắt khe.</a:t>
                      </a:r>
                    </a:p>
                  </a:txBody>
                  <a:tcPr>
                    <a:solidFill>
                      <a:srgbClr val="FFFFFF"/>
                    </a:solidFill>
                  </a:tcPr>
                </a:tc>
              </a:tr>
              <a:tr h="553720">
                <a:tc>
                  <a:txBody>
                    <a:bodyPr/>
                    <a:lstStyle/>
                    <a:p>
                      <a:pPr>
                        <a:defRPr sz="800" b="1">
                          <a:solidFill>
                            <a:srgbClr val="1B365D"/>
                          </a:solidFill>
                        </a:defRPr>
                      </a:pPr>
                      <a:r>
                        <a:t>PNJ (Bán lẻ &amp; Chế tác vàng)</a:t>
                      </a:r>
                    </a:p>
                  </a:txBody>
                  <a:tcPr>
                    <a:solidFill>
                      <a:srgbClr val="F8FAFC"/>
                    </a:solidFill>
                  </a:tcPr>
                </a:tc>
                <a:tc>
                  <a:txBody>
                    <a:bodyPr/>
                    <a:lstStyle/>
                    <a:p>
                      <a:pPr algn="ctr">
                        <a:defRPr sz="800" b="0">
                          <a:solidFill>
                            <a:srgbClr val="212529"/>
                          </a:solidFill>
                        </a:defRPr>
                      </a:pPr>
                      <a:r>
                        <a:t>SDG 17 (51.5) | SDG 07 (50.3) | SDG 09 (49.6)</a:t>
                      </a:r>
                    </a:p>
                  </a:txBody>
                  <a:tcPr>
                    <a:solidFill>
                      <a:srgbClr val="F8FAFC"/>
                    </a:solidFill>
                  </a:tcPr>
                </a:tc>
                <a:tc>
                  <a:txBody>
                    <a:bodyPr/>
                    <a:lstStyle/>
                    <a:p>
                      <a:pPr>
                        <a:defRPr sz="760" b="0">
                          <a:solidFill>
                            <a:srgbClr val="212529"/>
                          </a:solidFill>
                        </a:defRPr>
                      </a:pPr>
                      <a:r>
                        <a:t>Tiết kiệm điện 400+ cửa hàng, chuỗi chế tác trang sức xanh.</a:t>
                      </a:r>
                    </a:p>
                  </a:txBody>
                  <a:tcPr>
                    <a:solidFill>
                      <a:srgbClr val="F8FAFC"/>
                    </a:solidFill>
                  </a:tcPr>
                </a:tc>
              </a:tr>
              <a:tr h="553720">
                <a:tc>
                  <a:txBody>
                    <a:bodyPr/>
                    <a:lstStyle/>
                    <a:p>
                      <a:pPr>
                        <a:defRPr sz="800" b="1">
                          <a:solidFill>
                            <a:srgbClr val="1B365D"/>
                          </a:solidFill>
                        </a:defRPr>
                      </a:pPr>
                      <a:r>
                        <a:t>Bảo Việt (Bảo hiểm - Tài chính)</a:t>
                      </a:r>
                    </a:p>
                  </a:txBody>
                  <a:tcPr>
                    <a:solidFill>
                      <a:srgbClr val="FFFFFF"/>
                    </a:solidFill>
                  </a:tcPr>
                </a:tc>
                <a:tc>
                  <a:txBody>
                    <a:bodyPr/>
                    <a:lstStyle/>
                    <a:p>
                      <a:pPr algn="ctr">
                        <a:defRPr sz="800" b="0">
                          <a:solidFill>
                            <a:srgbClr val="212529"/>
                          </a:solidFill>
                        </a:defRPr>
                      </a:pPr>
                      <a:r>
                        <a:t>SDG 17 (52.0) | SDG 09 (49.7) | SDG 12 (49.5)</a:t>
                      </a:r>
                    </a:p>
                  </a:txBody>
                  <a:tcPr>
                    <a:solidFill>
                      <a:srgbClr val="FFFFFF"/>
                    </a:solidFill>
                  </a:tcPr>
                </a:tc>
                <a:tc>
                  <a:txBody>
                    <a:bodyPr/>
                    <a:lstStyle/>
                    <a:p>
                      <a:pPr>
                        <a:defRPr sz="760" b="0">
                          <a:solidFill>
                            <a:srgbClr val="212529"/>
                          </a:solidFill>
                        </a:defRPr>
                      </a:pPr>
                      <a:r>
                        <a:t>Tiên phong Báo cáo Tích hợp (IIRC/GRI), quản trị minh bạch.</a:t>
                      </a:r>
                    </a:p>
                  </a:txBody>
                  <a:tcPr>
                    <a:solidFill>
                      <a:srgbClr val="FFFFFF"/>
                    </a:solidFill>
                  </a:tcPr>
                </a:tc>
              </a:tr>
              <a:tr h="553720">
                <a:tc>
                  <a:txBody>
                    <a:bodyPr/>
                    <a:lstStyle/>
                    <a:p>
                      <a:pPr>
                        <a:defRPr sz="800" b="1">
                          <a:solidFill>
                            <a:srgbClr val="1B365D"/>
                          </a:solidFill>
                        </a:defRPr>
                      </a:pPr>
                      <a:r>
                        <a:t>The PAN Group (Nông nghiệp)</a:t>
                      </a:r>
                    </a:p>
                  </a:txBody>
                  <a:tcPr>
                    <a:solidFill>
                      <a:srgbClr val="F8FAFC"/>
                    </a:solidFill>
                  </a:tcPr>
                </a:tc>
                <a:tc>
                  <a:txBody>
                    <a:bodyPr/>
                    <a:lstStyle/>
                    <a:p>
                      <a:pPr algn="ctr">
                        <a:defRPr sz="800" b="0">
                          <a:solidFill>
                            <a:srgbClr val="212529"/>
                          </a:solidFill>
                        </a:defRPr>
                      </a:pPr>
                      <a:r>
                        <a:t>SDG 17 (49.3) | SDG 09 (47.8) | SDG 12 (47.5)</a:t>
                      </a:r>
                    </a:p>
                  </a:txBody>
                  <a:tcPr>
                    <a:solidFill>
                      <a:srgbClr val="F8FAFC"/>
                    </a:solidFill>
                  </a:tcPr>
                </a:tc>
                <a:tc>
                  <a:txBody>
                    <a:bodyPr/>
                    <a:lstStyle/>
                    <a:p>
                      <a:pPr>
                        <a:defRPr sz="760" b="0">
                          <a:solidFill>
                            <a:srgbClr val="212529"/>
                          </a:solidFill>
                        </a:defRPr>
                      </a:pPr>
                      <a:r>
                        <a:t>Chuỗi Farm-Food-Family, an ninh lương thực (SDG 2: 45.3).</a:t>
                      </a:r>
                    </a:p>
                  </a:txBody>
                  <a:tcPr>
                    <a:solidFill>
                      <a:srgbClr val="F8FAFC"/>
                    </a:solidFill>
                  </a:tcPr>
                </a:tc>
              </a:tr>
              <a:tr h="553720">
                <a:tc>
                  <a:txBody>
                    <a:bodyPr/>
                    <a:lstStyle/>
                    <a:p>
                      <a:pPr>
                        <a:defRPr sz="800" b="1">
                          <a:solidFill>
                            <a:srgbClr val="1B365D"/>
                          </a:solidFill>
                        </a:defRPr>
                      </a:pPr>
                      <a:r>
                        <a:t>Petrolimex (Xăng dầu - Năng lượng)</a:t>
                      </a:r>
                    </a:p>
                  </a:txBody>
                  <a:tcPr>
                    <a:solidFill>
                      <a:srgbClr val="FFFFFF"/>
                    </a:solidFill>
                  </a:tcPr>
                </a:tc>
                <a:tc>
                  <a:txBody>
                    <a:bodyPr/>
                    <a:lstStyle/>
                    <a:p>
                      <a:pPr algn="ctr">
                        <a:defRPr sz="800" b="0">
                          <a:solidFill>
                            <a:srgbClr val="212529"/>
                          </a:solidFill>
                        </a:defRPr>
                      </a:pPr>
                      <a:r>
                        <a:t>SDG 17 (47.8) | SDG 09 (46.5) | SDG 12 (46.0)</a:t>
                      </a:r>
                    </a:p>
                  </a:txBody>
                  <a:tcPr>
                    <a:solidFill>
                      <a:srgbClr val="FFFFFF"/>
                    </a:solidFill>
                  </a:tcPr>
                </a:tc>
                <a:tc>
                  <a:txBody>
                    <a:bodyPr/>
                    <a:lstStyle/>
                    <a:p>
                      <a:pPr>
                        <a:defRPr sz="760" b="0">
                          <a:solidFill>
                            <a:srgbClr val="212529"/>
                          </a:solidFill>
                        </a:defRPr>
                      </a:pPr>
                      <a:r>
                        <a:t>Hạ tầng xăng dầu Euro 5, lộ trình chuyển dịch năng lượng xanh.</a:t>
                      </a:r>
                    </a:p>
                  </a:txBody>
                  <a:tcPr>
                    <a:solidFill>
                      <a:srgbClr val="FFFFFF"/>
                    </a:solidFill>
                  </a:tcPr>
                </a:tc>
              </a:tr>
              <a:tr h="553720">
                <a:tc>
                  <a:txBody>
                    <a:bodyPr/>
                    <a:lstStyle/>
                    <a:p>
                      <a:pPr>
                        <a:defRPr sz="800" b="1">
                          <a:solidFill>
                            <a:srgbClr val="1B365D"/>
                          </a:solidFill>
                        </a:defRPr>
                      </a:pPr>
                      <a:r>
                        <a:t>SSI (Dịch vụ Tài chính)</a:t>
                      </a:r>
                    </a:p>
                  </a:txBody>
                  <a:tcPr>
                    <a:solidFill>
                      <a:srgbClr val="F8FAFC"/>
                    </a:solidFill>
                  </a:tcPr>
                </a:tc>
                <a:tc>
                  <a:txBody>
                    <a:bodyPr/>
                    <a:lstStyle/>
                    <a:p>
                      <a:pPr algn="ctr">
                        <a:defRPr sz="800" b="0">
                          <a:solidFill>
                            <a:srgbClr val="212529"/>
                          </a:solidFill>
                        </a:defRPr>
                      </a:pPr>
                      <a:r>
                        <a:t>SDG 17 (50.3) | SDG 09 (48.1) | SDG 07 (47.1)</a:t>
                      </a:r>
                    </a:p>
                  </a:txBody>
                  <a:tcPr>
                    <a:solidFill>
                      <a:srgbClr val="F8FAFC"/>
                    </a:solidFill>
                  </a:tcPr>
                </a:tc>
                <a:tc>
                  <a:txBody>
                    <a:bodyPr/>
                    <a:lstStyle/>
                    <a:p>
                      <a:pPr>
                        <a:defRPr sz="760" b="0">
                          <a:solidFill>
                            <a:srgbClr val="212529"/>
                          </a:solidFill>
                        </a:defRPr>
                      </a:pPr>
                      <a:r>
                        <a:t>Thu xếp vốn trái phiếu xanh, quản trị theo thẻ điểm ASEAN.</a:t>
                      </a:r>
                    </a:p>
                  </a:txBody>
                  <a:tcPr>
                    <a:solidFill>
                      <a:srgbClr val="F8FAFC"/>
                    </a:solidFill>
                  </a:tcPr>
                </a:tc>
              </a:tr>
              <a:tr h="553720">
                <a:tc>
                  <a:txBody>
                    <a:bodyPr/>
                    <a:lstStyle/>
                    <a:p>
                      <a:pPr>
                        <a:defRPr sz="800" b="1">
                          <a:solidFill>
                            <a:srgbClr val="1F77B4"/>
                          </a:solidFill>
                        </a:defRPr>
                      </a:pPr>
                      <a:r>
                        <a:t>★ TOÀN MẪU VIỆT NAM (TB)</a:t>
                      </a:r>
                    </a:p>
                  </a:txBody>
                  <a:tcPr>
                    <a:solidFill>
                      <a:srgbClr val="EAF3FF"/>
                    </a:solidFill>
                  </a:tcPr>
                </a:tc>
                <a:tc>
                  <a:txBody>
                    <a:bodyPr/>
                    <a:lstStyle/>
                    <a:p>
                      <a:pPr algn="ctr">
                        <a:defRPr sz="800" b="1">
                          <a:solidFill>
                            <a:srgbClr val="1B365D"/>
                          </a:solidFill>
                        </a:defRPr>
                      </a:pPr>
                      <a:r>
                        <a:t>SDG 17 (50.2) &gt; SDG 09 (48.4) &gt; SDG 12 (47.9)</a:t>
                      </a:r>
                    </a:p>
                  </a:txBody>
                  <a:tcPr>
                    <a:solidFill>
                      <a:srgbClr val="EAF3FF"/>
                    </a:solidFill>
                  </a:tcPr>
                </a:tc>
                <a:tc>
                  <a:txBody>
                    <a:bodyPr/>
                    <a:lstStyle/>
                    <a:p>
                      <a:pPr>
                        <a:defRPr sz="760" b="1">
                          <a:solidFill>
                            <a:srgbClr val="1B365D"/>
                          </a:solidFill>
                        </a:defRPr>
                      </a:pPr>
                      <a:r>
                        <a:t>Quy luật 'Tam giác ưu tiên' chi phối toàn bộ thị trường.</a:t>
                      </a:r>
                    </a:p>
                  </a:txBody>
                  <a:tcPr>
                    <a:solidFill>
                      <a:srgbClr val="EAF3FF"/>
                    </a:solidFill>
                  </a:tcPr>
                </a:tc>
              </a:tr>
            </a:tbl>
          </a:graphicData>
        </a:graphic>
      </p:graphicFrame>
      <p:sp>
        <p:nvSpPr>
          <p:cNvPr id="10" name="Rounded Rectangle 9"/>
          <p:cNvSpPr/>
          <p:nvPr/>
        </p:nvSpPr>
        <p:spPr>
          <a:xfrm>
            <a:off x="7406640" y="1234440"/>
            <a:ext cx="4023360" cy="16002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43800" y="1307592"/>
            <a:ext cx="3749040" cy="1463040"/>
          </a:xfrm>
          <a:prstGeom prst="rect">
            <a:avLst/>
          </a:prstGeom>
          <a:noFill/>
        </p:spPr>
        <p:txBody>
          <a:bodyPr wrap="square">
            <a:spAutoFit/>
          </a:bodyPr>
          <a:lstStyle/>
          <a:p>
            <a:r>
              <a:rPr sz="900" b="1">
                <a:solidFill>
                  <a:srgbClr val="1B365D"/>
                </a:solidFill>
              </a:rPr>
              <a:t>1. QUY LUẬT 'TAM GIÁC ƯU TIÊN' (SDG 17 - 09 - 12)
</a:t>
            </a:r>
          </a:p>
          <a:p>
            <a:pPr>
              <a:spcAft>
                <a:spcPts val="200"/>
              </a:spcAft>
            </a:pPr>
            <a:r>
              <a:rPr sz="780">
                <a:solidFill>
                  <a:srgbClr val="212529"/>
                </a:solidFill>
              </a:rPr>
              <a:t>• SDG 17 (Hợp tác đối tác) đứng Top 1 ở 100% doanh nghiệp (50,23 điểm).</a:t>
            </a:r>
          </a:p>
          <a:p>
            <a:pPr>
              <a:spcAft>
                <a:spcPts val="200"/>
              </a:spcAft>
            </a:pPr>
            <a:r>
              <a:rPr sz="780">
                <a:solidFill>
                  <a:srgbClr val="212529"/>
                </a:solidFill>
              </a:rPr>
              <a:t>• Doanh nghiệp VN phụ thuộc chuỗi cung ứng toàn cầu; bắt buộc phải chứng minh hợp tác với nhà cung ứng và đối tác kiểm định quốc tế để duy trì đơn hàng xuất khẩu và vốn ngoại.</a:t>
            </a:r>
          </a:p>
        </p:txBody>
      </p:sp>
      <p:sp>
        <p:nvSpPr>
          <p:cNvPr id="12" name="Rounded Rectangle 11"/>
          <p:cNvSpPr/>
          <p:nvPr/>
        </p:nvSpPr>
        <p:spPr>
          <a:xfrm>
            <a:off x="7406640" y="2926080"/>
            <a:ext cx="4023360" cy="160020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43800" y="2999232"/>
            <a:ext cx="3749040" cy="1463040"/>
          </a:xfrm>
          <a:prstGeom prst="rect">
            <a:avLst/>
          </a:prstGeom>
          <a:noFill/>
        </p:spPr>
        <p:txBody>
          <a:bodyPr wrap="square">
            <a:spAutoFit/>
          </a:bodyPr>
          <a:lstStyle/>
          <a:p>
            <a:r>
              <a:rPr sz="900" b="1">
                <a:solidFill>
                  <a:srgbClr val="288C3C"/>
                </a:solidFill>
              </a:rPr>
              <a:t>2. PHÂN HÓA RÕ NÉT THEO MÔ HÌNH KINH DOANH
</a:t>
            </a:r>
          </a:p>
          <a:p>
            <a:pPr>
              <a:spcAft>
                <a:spcPts val="200"/>
              </a:spcAft>
            </a:pPr>
            <a:r>
              <a:rPr sz="780">
                <a:solidFill>
                  <a:srgbClr val="212529"/>
                </a:solidFill>
              </a:rPr>
              <a:t>• Khối Sản xuất (VCS, VNM, PAN): Điểm SDG 12 &amp; 07 vượt trội do áp lực trực tiếp từ rác thải bao bì, tiêu hao năng lượng và thuế carbon biên giới (CBAM).</a:t>
            </a:r>
          </a:p>
          <a:p>
            <a:pPr>
              <a:spcAft>
                <a:spcPts val="200"/>
              </a:spcAft>
            </a:pPr>
            <a:r>
              <a:rPr sz="780">
                <a:solidFill>
                  <a:srgbClr val="212529"/>
                </a:solidFill>
              </a:rPr>
              <a:t>• Khối Tài chính (BVH, SSI): Ưu tiên SDG 8, 9, 16 để đáp ứng chuẩn xếp hạng tín nhiệm và tiêu chí đầu tư bền vững VNSI của HOSE.</a:t>
            </a:r>
          </a:p>
        </p:txBody>
      </p:sp>
      <p:sp>
        <p:nvSpPr>
          <p:cNvPr id="14" name="Rounded Rectangle 13"/>
          <p:cNvSpPr/>
          <p:nvPr/>
        </p:nvSpPr>
        <p:spPr>
          <a:xfrm>
            <a:off x="7406640" y="4617720"/>
            <a:ext cx="4023360" cy="1600200"/>
          </a:xfrm>
          <a:prstGeom prst="roundRect">
            <a:avLst/>
          </a:prstGeom>
          <a:solidFill>
            <a:srgbClr val="FFFFFF"/>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43800" y="4690872"/>
            <a:ext cx="3749040" cy="1463040"/>
          </a:xfrm>
          <a:prstGeom prst="rect">
            <a:avLst/>
          </a:prstGeom>
          <a:noFill/>
        </p:spPr>
        <p:txBody>
          <a:bodyPr wrap="square">
            <a:spAutoFit/>
          </a:bodyPr>
          <a:lstStyle/>
          <a:p>
            <a:r>
              <a:rPr sz="900" b="1">
                <a:solidFill>
                  <a:srgbClr val="D4AF37"/>
                </a:solidFill>
              </a:rPr>
              <a:t>3. ĐỘNG CƠ 'CHERRY-PICKING' (HÁI QUẢ TIỆN TAY)
</a:t>
            </a:r>
          </a:p>
          <a:p>
            <a:pPr>
              <a:spcAft>
                <a:spcPts val="200"/>
              </a:spcAft>
            </a:pPr>
            <a:r>
              <a:rPr sz="780">
                <a:solidFill>
                  <a:srgbClr val="212529"/>
                </a:solidFill>
              </a:rPr>
              <a:t>• Doanh nghiệp tập trung nói về Đầu tư công nghệ (SDG 9) và Đối tác (SDG 17) vì đây là các số liệu tài chính sẵn có từ Báo cáo Thường niên.</a:t>
            </a:r>
          </a:p>
          <a:p>
            <a:pPr>
              <a:spcAft>
                <a:spcPts val="200"/>
              </a:spcAft>
            </a:pPr>
            <a:r>
              <a:rPr sz="780">
                <a:solidFill>
                  <a:srgbClr val="212529"/>
                </a:solidFill>
              </a:rPr>
              <a:t>• Dễ định lượng, an toàn về mặt PR và không để lộ rủi ro vi phạm môi trường.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THẢO LUẬN CHUYÊN SÂU</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THẢO LUẬN: DOANH NGHIỆP 'ÍT NÓI VỀ GÌ' (VÙNG TRŨNG NÉ TRÁNH)?</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13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sp>
        <p:nvSpPr>
          <p:cNvPr id="9" name="Rounded Rectangle 8"/>
          <p:cNvSpPr/>
          <p:nvPr/>
        </p:nvSpPr>
        <p:spPr>
          <a:xfrm>
            <a:off x="731520" y="1234440"/>
            <a:ext cx="5212080" cy="233172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234440"/>
            <a:ext cx="521208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1. ĐA DẠNG SINH HỌC &amp; BẢO TỒN (SDG 14, 15)</a:t>
            </a:r>
          </a:p>
        </p:txBody>
      </p:sp>
      <p:sp>
        <p:nvSpPr>
          <p:cNvPr id="11" name="TextBox 10"/>
          <p:cNvSpPr txBox="1"/>
          <p:nvPr/>
        </p:nvSpPr>
        <p:spPr>
          <a:xfrm>
            <a:off x="868680" y="1645920"/>
            <a:ext cx="4937760" cy="1874519"/>
          </a:xfrm>
          <a:prstGeom prst="rect">
            <a:avLst/>
          </a:prstGeom>
          <a:noFill/>
        </p:spPr>
        <p:txBody>
          <a:bodyPr wrap="square">
            <a:spAutoFit/>
          </a:bodyPr>
          <a:lstStyle/>
          <a:p>
            <a:pPr>
              <a:spcAft>
                <a:spcPts val="200"/>
              </a:spcAft>
            </a:pPr>
            <a:r>
              <a:rPr sz="880">
                <a:solidFill>
                  <a:srgbClr val="212529"/>
                </a:solidFill>
                <a:latin typeface="Segoe UI"/>
              </a:rPr>
              <a:t>• Điểm số luôn ở mức đáy toàn mẫu (&lt; 38 điểm).</a:t>
            </a:r>
          </a:p>
          <a:p>
            <a:pPr>
              <a:spcAft>
                <a:spcPts val="200"/>
              </a:spcAft>
            </a:pPr>
            <a:r>
              <a:rPr sz="880">
                <a:solidFill>
                  <a:srgbClr val="212529"/>
                </a:solidFill>
                <a:latin typeface="Segoe UI"/>
              </a:rPr>
              <a:t>• Chỉ nêu khẩu hiệu chung chung, thiếu số liệu kiểm kê tác động sinh thái đất liền và biển.</a:t>
            </a:r>
          </a:p>
          <a:p>
            <a:pPr>
              <a:spcAft>
                <a:spcPts val="200"/>
              </a:spcAft>
            </a:pPr>
            <a:r>
              <a:rPr sz="880">
                <a:solidFill>
                  <a:srgbClr val="212529"/>
                </a:solidFill>
                <a:latin typeface="Segoe UI"/>
              </a:rPr>
              <a:t>• Chi phí đo lường đa dạng sinh học phức tạp và chưa có chế tài bắt buộc.</a:t>
            </a:r>
          </a:p>
        </p:txBody>
      </p:sp>
      <p:sp>
        <p:nvSpPr>
          <p:cNvPr id="12" name="Rounded Rectangle 11"/>
          <p:cNvSpPr/>
          <p:nvPr/>
        </p:nvSpPr>
        <p:spPr>
          <a:xfrm>
            <a:off x="6245352" y="1234440"/>
            <a:ext cx="5212080" cy="233172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45352" y="1234440"/>
            <a:ext cx="521208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2. BÌNH ĐẲNG LƯƠNG &amp; CHÊNH LỆCH THU NHẬP (SDG 5, 10)</a:t>
            </a:r>
          </a:p>
        </p:txBody>
      </p:sp>
      <p:sp>
        <p:nvSpPr>
          <p:cNvPr id="14" name="TextBox 13"/>
          <p:cNvSpPr txBox="1"/>
          <p:nvPr/>
        </p:nvSpPr>
        <p:spPr>
          <a:xfrm>
            <a:off x="6382512" y="1645920"/>
            <a:ext cx="4937760" cy="1874519"/>
          </a:xfrm>
          <a:prstGeom prst="rect">
            <a:avLst/>
          </a:prstGeom>
          <a:noFill/>
        </p:spPr>
        <p:txBody>
          <a:bodyPr wrap="square">
            <a:spAutoFit/>
          </a:bodyPr>
          <a:lstStyle/>
          <a:p>
            <a:pPr>
              <a:spcAft>
                <a:spcPts val="200"/>
              </a:spcAft>
            </a:pPr>
            <a:r>
              <a:rPr sz="880">
                <a:solidFill>
                  <a:srgbClr val="212529"/>
                </a:solidFill>
                <a:latin typeface="Segoe UI"/>
              </a:rPr>
              <a:t>• Tuyệt đối né tránh công bố Tỷ số chênh lệch lương CEO với công nhân.</a:t>
            </a:r>
          </a:p>
          <a:p>
            <a:pPr>
              <a:spcAft>
                <a:spcPts val="200"/>
              </a:spcAft>
            </a:pPr>
            <a:r>
              <a:rPr sz="880">
                <a:solidFill>
                  <a:srgbClr val="212529"/>
                </a:solidFill>
                <a:latin typeface="Segoe UI"/>
              </a:rPr>
              <a:t>• Không có thống kê khoảng cách thu nhập theo giới tính ở cùng cấp bậc chuyên môn.</a:t>
            </a:r>
          </a:p>
          <a:p>
            <a:pPr>
              <a:spcAft>
                <a:spcPts val="200"/>
              </a:spcAft>
            </a:pPr>
            <a:r>
              <a:rPr sz="880">
                <a:solidFill>
                  <a:srgbClr val="212529"/>
                </a:solidFill>
                <a:latin typeface="Segoe UI"/>
              </a:rPr>
              <a:t>• Chỉ dừng lại ở tỷ lệ % nhân sự nữ chung chung.</a:t>
            </a:r>
          </a:p>
        </p:txBody>
      </p:sp>
      <p:sp>
        <p:nvSpPr>
          <p:cNvPr id="15" name="Rounded Rectangle 14"/>
          <p:cNvSpPr/>
          <p:nvPr/>
        </p:nvSpPr>
        <p:spPr>
          <a:xfrm>
            <a:off x="731520" y="3840480"/>
            <a:ext cx="5212080" cy="233172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3840480"/>
            <a:ext cx="521208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3. PHÁT THẢI CHUỖI CUNG ỨNG SCOPE 3</a:t>
            </a:r>
          </a:p>
        </p:txBody>
      </p:sp>
      <p:sp>
        <p:nvSpPr>
          <p:cNvPr id="17" name="TextBox 16"/>
          <p:cNvSpPr txBox="1"/>
          <p:nvPr/>
        </p:nvSpPr>
        <p:spPr>
          <a:xfrm>
            <a:off x="868680" y="4251960"/>
            <a:ext cx="4937760" cy="1874519"/>
          </a:xfrm>
          <a:prstGeom prst="rect">
            <a:avLst/>
          </a:prstGeom>
          <a:noFill/>
        </p:spPr>
        <p:txBody>
          <a:bodyPr wrap="square">
            <a:spAutoFit/>
          </a:bodyPr>
          <a:lstStyle/>
          <a:p>
            <a:pPr>
              <a:spcAft>
                <a:spcPts val="200"/>
              </a:spcAft>
            </a:pPr>
            <a:r>
              <a:rPr sz="880">
                <a:solidFill>
                  <a:srgbClr val="212529"/>
                </a:solidFill>
                <a:latin typeface="Segoe UI"/>
              </a:rPr>
              <a:t>• Mới chỉ đo lường phát thải trực tiếp Scope 1 và điện lưới Scope 2.</a:t>
            </a:r>
          </a:p>
          <a:p>
            <a:pPr>
              <a:spcAft>
                <a:spcPts val="200"/>
              </a:spcAft>
            </a:pPr>
            <a:r>
              <a:rPr sz="880">
                <a:solidFill>
                  <a:srgbClr val="212529"/>
                </a:solidFill>
                <a:latin typeface="Segoe UI"/>
              </a:rPr>
              <a:t>• Phát thải gián tiếp chuỗi cung ứng Scope 3 (chiếm 70–80% thực tế) gần như bị bỏ ngỏ.</a:t>
            </a:r>
          </a:p>
          <a:p>
            <a:pPr>
              <a:spcAft>
                <a:spcPts val="200"/>
              </a:spcAft>
            </a:pPr>
            <a:r>
              <a:rPr sz="880">
                <a:solidFill>
                  <a:srgbClr val="212529"/>
                </a:solidFill>
                <a:latin typeface="Segoe UI"/>
              </a:rPr>
              <a:t>• Do chuỗi cung ứng phân tán và thiếu công cụ đo lường chuyên sâu.</a:t>
            </a:r>
          </a:p>
        </p:txBody>
      </p:sp>
      <p:sp>
        <p:nvSpPr>
          <p:cNvPr id="18" name="Rounded Rectangle 17"/>
          <p:cNvSpPr/>
          <p:nvPr/>
        </p:nvSpPr>
        <p:spPr>
          <a:xfrm>
            <a:off x="6245352" y="3840480"/>
            <a:ext cx="5212080" cy="233172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45352" y="3840480"/>
            <a:ext cx="521208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4. SỰ CỐ TIÊU CỰC, TRANH CHẤP &amp; XỬ PHẠT (SDG 16)</a:t>
            </a:r>
          </a:p>
        </p:txBody>
      </p:sp>
      <p:sp>
        <p:nvSpPr>
          <p:cNvPr id="20" name="TextBox 19"/>
          <p:cNvSpPr txBox="1"/>
          <p:nvPr/>
        </p:nvSpPr>
        <p:spPr>
          <a:xfrm>
            <a:off x="6382512" y="4251960"/>
            <a:ext cx="4937760" cy="1874519"/>
          </a:xfrm>
          <a:prstGeom prst="rect">
            <a:avLst/>
          </a:prstGeom>
          <a:noFill/>
        </p:spPr>
        <p:txBody>
          <a:bodyPr wrap="square">
            <a:spAutoFit/>
          </a:bodyPr>
          <a:lstStyle/>
          <a:p>
            <a:pPr>
              <a:spcAft>
                <a:spcPts val="200"/>
              </a:spcAft>
            </a:pPr>
            <a:r>
              <a:rPr sz="880">
                <a:solidFill>
                  <a:srgbClr val="212529"/>
                </a:solidFill>
                <a:latin typeface="Segoe UI"/>
              </a:rPr>
              <a:t>• 'Gạn đục khơi trong' điển hình: Không ghi nhận tai nạn lao động hay khiếu nại khách hàng.</a:t>
            </a:r>
          </a:p>
          <a:p>
            <a:pPr>
              <a:spcAft>
                <a:spcPts val="200"/>
              </a:spcAft>
            </a:pPr>
            <a:r>
              <a:rPr sz="880">
                <a:solidFill>
                  <a:srgbClr val="212529"/>
                </a:solidFill>
                <a:latin typeface="Segoe UI"/>
              </a:rPr>
              <a:t>• Các quyết định xử phạt vi phạm hành chính về môi trường hoặc thuế bị che giấu hoàn toàn.</a:t>
            </a:r>
          </a:p>
          <a:p>
            <a:pPr>
              <a:spcAft>
                <a:spcPts val="200"/>
              </a:spcAft>
            </a:pPr>
            <a:r>
              <a:rPr sz="880">
                <a:solidFill>
                  <a:srgbClr val="212529"/>
                </a:solidFill>
                <a:latin typeface="Segoe UI"/>
              </a:rPr>
              <a:t>• Báo cáo trở thành tài liệu tiếp thị thay vì công cụ giải trình rủi ro.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ĐỐI CHUẨN TOÀN DIỆN</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BẢNG SO SÁNH ĐỐI ĐẦU: PAPER GỐC (KANG &amp; KIM 2022) VS CODE MỚI</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14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graphicFrame>
        <p:nvGraphicFramePr>
          <p:cNvPr id="9" name="Table 8"/>
          <p:cNvGraphicFramePr>
            <a:graphicFrameLocks noGrp="1"/>
          </p:cNvGraphicFramePr>
          <p:nvPr/>
        </p:nvGraphicFramePr>
        <p:xfrm>
          <a:off x="731520" y="1188720"/>
          <a:ext cx="10728655" cy="5120640"/>
        </p:xfrm>
        <a:graphic>
          <a:graphicData uri="http://schemas.openxmlformats.org/drawingml/2006/table">
            <a:tbl>
              <a:tblPr firstRow="1" bandRow="1">
                <a:tableStyleId>{5C22544A-7EE6-4342-B048-85BDC9FD1C3A}</a:tableStyleId>
              </a:tblPr>
              <a:tblGrid>
                <a:gridCol w="2011680"/>
                <a:gridCol w="3291840"/>
                <a:gridCol w="3566160"/>
                <a:gridCol w="1858975"/>
              </a:tblGrid>
              <a:tr h="568960">
                <a:tc>
                  <a:txBody>
                    <a:bodyPr/>
                    <a:lstStyle/>
                    <a:p>
                      <a:pPr algn="ctr"/>
                      <a:r>
                        <a:rPr sz="950" b="1">
                          <a:solidFill>
                            <a:srgbClr val="FFFFFF"/>
                          </a:solidFill>
                          <a:latin typeface="Segoe UI"/>
                        </a:rPr>
                        <a:t>TIÊU CHÍ KỸ THUẬT</a:t>
                      </a:r>
                    </a:p>
                  </a:txBody>
                  <a:tcPr>
                    <a:solidFill>
                      <a:srgbClr val="1B365D"/>
                    </a:solidFill>
                  </a:tcPr>
                </a:tc>
                <a:tc>
                  <a:txBody>
                    <a:bodyPr/>
                    <a:lstStyle/>
                    <a:p>
                      <a:pPr algn="ctr"/>
                      <a:r>
                        <a:rPr sz="950" b="1">
                          <a:solidFill>
                            <a:srgbClr val="FFFFFF"/>
                          </a:solidFill>
                          <a:latin typeface="Segoe UI"/>
                        </a:rPr>
                        <a:t>BÀI BÁO GỐC (KANG &amp; KIM 2022)</a:t>
                      </a:r>
                    </a:p>
                  </a:txBody>
                  <a:tcPr>
                    <a:solidFill>
                      <a:srgbClr val="1B365D"/>
                    </a:solidFill>
                  </a:tcPr>
                </a:tc>
                <a:tc>
                  <a:txBody>
                    <a:bodyPr/>
                    <a:lstStyle/>
                    <a:p>
                      <a:pPr algn="ctr"/>
                      <a:r>
                        <a:rPr sz="950" b="1">
                          <a:solidFill>
                            <a:srgbClr val="FFFFFF"/>
                          </a:solidFill>
                          <a:latin typeface="Segoe UI"/>
                        </a:rPr>
                        <a:t>CODE MỚI ĐỀ TÀI (VIỆT NAM 2026)</a:t>
                      </a:r>
                    </a:p>
                  </a:txBody>
                  <a:tcPr>
                    <a:solidFill>
                      <a:srgbClr val="1B365D"/>
                    </a:solidFill>
                  </a:tcPr>
                </a:tc>
                <a:tc>
                  <a:txBody>
                    <a:bodyPr/>
                    <a:lstStyle/>
                    <a:p>
                      <a:pPr algn="ctr"/>
                      <a:r>
                        <a:rPr sz="950" b="1">
                          <a:solidFill>
                            <a:srgbClr val="FFFFFF"/>
                          </a:solidFill>
                          <a:latin typeface="Segoe UI"/>
                        </a:rPr>
                        <a:t>ĐÁNH GIÁ ĐỀ TÀI</a:t>
                      </a:r>
                    </a:p>
                  </a:txBody>
                  <a:tcPr>
                    <a:solidFill>
                      <a:srgbClr val="1B365D"/>
                    </a:solidFill>
                  </a:tcPr>
                </a:tc>
              </a:tr>
              <a:tr h="568960">
                <a:tc>
                  <a:txBody>
                    <a:bodyPr/>
                    <a:lstStyle/>
                    <a:p>
                      <a:pPr algn="l"/>
                      <a:r>
                        <a:rPr sz="850" b="1">
                          <a:solidFill>
                            <a:srgbClr val="1B365D"/>
                          </a:solidFill>
                          <a:latin typeface="Segoe UI"/>
                        </a:rPr>
                        <a:t>Ngôn ngữ xử lý</a:t>
                      </a:r>
                    </a:p>
                  </a:txBody>
                  <a:tcPr>
                    <a:solidFill>
                      <a:srgbClr val="F1F5F9"/>
                    </a:solidFill>
                  </a:tcPr>
                </a:tc>
                <a:tc>
                  <a:txBody>
                    <a:bodyPr/>
                    <a:lstStyle/>
                    <a:p>
                      <a:pPr algn="l"/>
                      <a:r>
                        <a:rPr sz="850">
                          <a:solidFill>
                            <a:srgbClr val="212529"/>
                          </a:solidFill>
                          <a:latin typeface="Segoe UI"/>
                        </a:rPr>
                        <a:t>Đơn ngữ Tiếng Anh (3.529 báo cáo toàn cầu)</a:t>
                      </a:r>
                    </a:p>
                  </a:txBody>
                  <a:tcPr>
                    <a:solidFill>
                      <a:srgbClr val="F1F5F9"/>
                    </a:solidFill>
                  </a:tcPr>
                </a:tc>
                <a:tc>
                  <a:txBody>
                    <a:bodyPr/>
                    <a:lstStyle/>
                    <a:p>
                      <a:pPr algn="l"/>
                      <a:r>
                        <a:rPr sz="850" b="1">
                          <a:solidFill>
                            <a:srgbClr val="1F77B4"/>
                          </a:solidFill>
                          <a:latin typeface="Segoe UI"/>
                        </a:rPr>
                        <a:t>Đa ngữ Tiếng Việt &amp; Tiếng Anh (96.461 câu)</a:t>
                      </a:r>
                    </a:p>
                  </a:txBody>
                  <a:tcPr>
                    <a:solidFill>
                      <a:srgbClr val="F1F5F9"/>
                    </a:solidFill>
                  </a:tcPr>
                </a:tc>
                <a:tc>
                  <a:txBody>
                    <a:bodyPr/>
                    <a:lstStyle/>
                    <a:p>
                      <a:pPr algn="ctr"/>
                      <a:r>
                        <a:rPr sz="850" b="1">
                          <a:solidFill>
                            <a:srgbClr val="288C3C"/>
                          </a:solidFill>
                          <a:latin typeface="Segoe UI"/>
                        </a:rPr>
                        <a:t>Khắc phục rào cản đa ngữ</a:t>
                      </a:r>
                    </a:p>
                  </a:txBody>
                  <a:tcPr>
                    <a:solidFill>
                      <a:srgbClr val="F1F5F9"/>
                    </a:solidFill>
                  </a:tcPr>
                </a:tc>
              </a:tr>
              <a:tr h="568960">
                <a:tc>
                  <a:txBody>
                    <a:bodyPr/>
                    <a:lstStyle/>
                    <a:p>
                      <a:pPr algn="l"/>
                      <a:r>
                        <a:rPr sz="850" b="1">
                          <a:solidFill>
                            <a:srgbClr val="1B365D"/>
                          </a:solidFill>
                          <a:latin typeface="Segoe UI"/>
                        </a:rPr>
                        <a:t>Xử lý PDF Scan</a:t>
                      </a:r>
                    </a:p>
                  </a:txBody>
                  <a:tcPr>
                    <a:solidFill>
                      <a:srgbClr val="FFFFFF"/>
                    </a:solidFill>
                  </a:tcPr>
                </a:tc>
                <a:tc>
                  <a:txBody>
                    <a:bodyPr/>
                    <a:lstStyle/>
                    <a:p>
                      <a:pPr algn="l"/>
                      <a:r>
                        <a:rPr sz="850">
                          <a:solidFill>
                            <a:srgbClr val="212529"/>
                          </a:solidFill>
                          <a:latin typeface="Segoe UI"/>
                        </a:rPr>
                        <a:t>Bỏ qua toàn bộ PDF scan không có text layer</a:t>
                      </a:r>
                    </a:p>
                  </a:txBody>
                  <a:tcPr>
                    <a:solidFill>
                      <a:srgbClr val="FFFFFF"/>
                    </a:solidFill>
                  </a:tcPr>
                </a:tc>
                <a:tc>
                  <a:txBody>
                    <a:bodyPr/>
                    <a:lstStyle/>
                    <a:p>
                      <a:pPr algn="l"/>
                      <a:r>
                        <a:rPr sz="850" b="1">
                          <a:solidFill>
                            <a:srgbClr val="1F77B4"/>
                          </a:solidFill>
                          <a:latin typeface="Segoe UI"/>
                        </a:rPr>
                        <a:t>Tích hợp Tesseract OCR (vie+eng) phục hồi 100%</a:t>
                      </a:r>
                    </a:p>
                  </a:txBody>
                  <a:tcPr>
                    <a:solidFill>
                      <a:srgbClr val="FFFFFF"/>
                    </a:solidFill>
                  </a:tcPr>
                </a:tc>
                <a:tc>
                  <a:txBody>
                    <a:bodyPr/>
                    <a:lstStyle/>
                    <a:p>
                      <a:pPr algn="ctr"/>
                      <a:r>
                        <a:rPr sz="850" b="1">
                          <a:solidFill>
                            <a:srgbClr val="288C3C"/>
                          </a:solidFill>
                          <a:latin typeface="Segoe UI"/>
                        </a:rPr>
                        <a:t>Không thất thoát dữ liệu</a:t>
                      </a:r>
                    </a:p>
                  </a:txBody>
                  <a:tcPr>
                    <a:solidFill>
                      <a:srgbClr val="FFFFFF"/>
                    </a:solidFill>
                  </a:tcPr>
                </a:tc>
              </a:tr>
              <a:tr h="568960">
                <a:tc>
                  <a:txBody>
                    <a:bodyPr/>
                    <a:lstStyle/>
                    <a:p>
                      <a:pPr algn="l"/>
                      <a:r>
                        <a:rPr sz="850" b="1">
                          <a:solidFill>
                            <a:srgbClr val="1B365D"/>
                          </a:solidFill>
                          <a:latin typeface="Segoe UI"/>
                        </a:rPr>
                        <a:t>Mô hình Vector</a:t>
                      </a:r>
                    </a:p>
                  </a:txBody>
                  <a:tcPr>
                    <a:solidFill>
                      <a:srgbClr val="F1F5F9"/>
                    </a:solidFill>
                  </a:tcPr>
                </a:tc>
                <a:tc>
                  <a:txBody>
                    <a:bodyPr/>
                    <a:lstStyle/>
                    <a:p>
                      <a:pPr algn="l"/>
                      <a:r>
                        <a:rPr sz="850">
                          <a:solidFill>
                            <a:srgbClr val="212529"/>
                          </a:solidFill>
                          <a:latin typeface="Segoe UI"/>
                        </a:rPr>
                        <a:t>all-MiniLM-L6-v2 (384 chiều, đơn ngữ)</a:t>
                      </a:r>
                    </a:p>
                  </a:txBody>
                  <a:tcPr>
                    <a:solidFill>
                      <a:srgbClr val="F1F5F9"/>
                    </a:solidFill>
                  </a:tcPr>
                </a:tc>
                <a:tc>
                  <a:txBody>
                    <a:bodyPr/>
                    <a:lstStyle/>
                    <a:p>
                      <a:pPr algn="l"/>
                      <a:r>
                        <a:rPr sz="850" b="1">
                          <a:solidFill>
                            <a:srgbClr val="1F77B4"/>
                          </a:solidFill>
                          <a:latin typeface="Segoe UI"/>
                        </a:rPr>
                        <a:t>vietnamese-sbert (768 chiều) + MiniLM (384 chiều)</a:t>
                      </a:r>
                    </a:p>
                  </a:txBody>
                  <a:tcPr>
                    <a:solidFill>
                      <a:srgbClr val="F1F5F9"/>
                    </a:solidFill>
                  </a:tcPr>
                </a:tc>
                <a:tc>
                  <a:txBody>
                    <a:bodyPr/>
                    <a:lstStyle/>
                    <a:p>
                      <a:pPr algn="ctr"/>
                      <a:r>
                        <a:rPr sz="850" b="1">
                          <a:solidFill>
                            <a:srgbClr val="288C3C"/>
                          </a:solidFill>
                          <a:latin typeface="Segoe UI"/>
                        </a:rPr>
                        <a:t>Ngữ cảnh sâu gấp 2 lần</a:t>
                      </a:r>
                    </a:p>
                  </a:txBody>
                  <a:tcPr>
                    <a:solidFill>
                      <a:srgbClr val="F1F5F9"/>
                    </a:solidFill>
                  </a:tcPr>
                </a:tc>
              </a:tr>
              <a:tr h="568960">
                <a:tc>
                  <a:txBody>
                    <a:bodyPr/>
                    <a:lstStyle/>
                    <a:p>
                      <a:pPr algn="l"/>
                      <a:r>
                        <a:rPr sz="850" b="1">
                          <a:solidFill>
                            <a:srgbClr val="1B365D"/>
                          </a:solidFill>
                          <a:latin typeface="Segoe UI"/>
                        </a:rPr>
                        <a:t>Knowledge Base</a:t>
                      </a:r>
                    </a:p>
                  </a:txBody>
                  <a:tcPr>
                    <a:solidFill>
                      <a:srgbClr val="FFFFFF"/>
                    </a:solidFill>
                  </a:tcPr>
                </a:tc>
                <a:tc>
                  <a:txBody>
                    <a:bodyPr/>
                    <a:lstStyle/>
                    <a:p>
                      <a:pPr algn="l"/>
                      <a:r>
                        <a:rPr sz="850">
                          <a:solidFill>
                            <a:srgbClr val="212529"/>
                          </a:solidFill>
                          <a:latin typeface="Segoe UI"/>
                        </a:rPr>
                        <a:t>641 câu tiếng Anh chuẩn (169 chỉ tiêu LHQ)</a:t>
                      </a:r>
                    </a:p>
                  </a:txBody>
                  <a:tcPr>
                    <a:solidFill>
                      <a:srgbClr val="FFFFFF"/>
                    </a:solidFill>
                  </a:tcPr>
                </a:tc>
                <a:tc>
                  <a:txBody>
                    <a:bodyPr/>
                    <a:lstStyle/>
                    <a:p>
                      <a:pPr algn="l"/>
                      <a:r>
                        <a:rPr sz="850" b="1">
                          <a:solidFill>
                            <a:srgbClr val="1F77B4"/>
                          </a:solidFill>
                          <a:latin typeface="Segoe UI"/>
                        </a:rPr>
                        <a:t>1.032 câu song ngữ (391 câu VI + 641 câu EN)</a:t>
                      </a:r>
                    </a:p>
                  </a:txBody>
                  <a:tcPr>
                    <a:solidFill>
                      <a:srgbClr val="FFFFFF"/>
                    </a:solidFill>
                  </a:tcPr>
                </a:tc>
                <a:tc>
                  <a:txBody>
                    <a:bodyPr/>
                    <a:lstStyle/>
                    <a:p>
                      <a:pPr algn="ctr"/>
                      <a:r>
                        <a:rPr sz="850" b="1">
                          <a:solidFill>
                            <a:srgbClr val="288C3C"/>
                          </a:solidFill>
                          <a:latin typeface="Segoe UI"/>
                        </a:rPr>
                        <a:t>Bản địa hóa chuẩn VN</a:t>
                      </a:r>
                    </a:p>
                  </a:txBody>
                  <a:tcPr>
                    <a:solidFill>
                      <a:srgbClr val="FFFFFF"/>
                    </a:solidFill>
                  </a:tcPr>
                </a:tc>
              </a:tr>
              <a:tr h="568960">
                <a:tc>
                  <a:txBody>
                    <a:bodyPr/>
                    <a:lstStyle/>
                    <a:p>
                      <a:pPr algn="l"/>
                      <a:r>
                        <a:rPr sz="850" b="1">
                          <a:solidFill>
                            <a:srgbClr val="1B365D"/>
                          </a:solidFill>
                          <a:latin typeface="Segoe UI"/>
                        </a:rPr>
                        <a:t>Phân loại Cảm xúc</a:t>
                      </a:r>
                    </a:p>
                  </a:txBody>
                  <a:tcPr>
                    <a:solidFill>
                      <a:srgbClr val="F1F5F9"/>
                    </a:solidFill>
                  </a:tcPr>
                </a:tc>
                <a:tc>
                  <a:txBody>
                    <a:bodyPr/>
                    <a:lstStyle/>
                    <a:p>
                      <a:pPr algn="l"/>
                      <a:r>
                        <a:rPr sz="850">
                          <a:solidFill>
                            <a:srgbClr val="212529"/>
                          </a:solidFill>
                          <a:latin typeface="Segoe UI"/>
                        </a:rPr>
                        <a:t>DistilBERT 2 lớp (Pos ~78%, Neg ~15%)</a:t>
                      </a:r>
                    </a:p>
                  </a:txBody>
                  <a:tcPr>
                    <a:solidFill>
                      <a:srgbClr val="F1F5F9"/>
                    </a:solidFill>
                  </a:tcPr>
                </a:tc>
                <a:tc>
                  <a:txBody>
                    <a:bodyPr/>
                    <a:lstStyle/>
                    <a:p>
                      <a:pPr algn="l"/>
                      <a:r>
                        <a:rPr sz="850" b="1">
                          <a:solidFill>
                            <a:srgbClr val="1F77B4"/>
                          </a:solidFill>
                          <a:latin typeface="Segoe UI"/>
                        </a:rPr>
                        <a:t>PhoBERT 3 lớp (Pos 53,9%, Trung tính 32,9%, Neg 13,3%)</a:t>
                      </a:r>
                    </a:p>
                  </a:txBody>
                  <a:tcPr>
                    <a:solidFill>
                      <a:srgbClr val="F1F5F9"/>
                    </a:solidFill>
                  </a:tcPr>
                </a:tc>
                <a:tc>
                  <a:txBody>
                    <a:bodyPr/>
                    <a:lstStyle/>
                    <a:p>
                      <a:pPr algn="ctr"/>
                      <a:r>
                        <a:rPr sz="850" b="1">
                          <a:solidFill>
                            <a:srgbClr val="288C3C"/>
                          </a:solidFill>
                          <a:latin typeface="Segoe UI"/>
                        </a:rPr>
                        <a:t>Đột phá lớp Trung tính</a:t>
                      </a:r>
                    </a:p>
                  </a:txBody>
                  <a:tcPr>
                    <a:solidFill>
                      <a:srgbClr val="F1F5F9"/>
                    </a:solidFill>
                  </a:tcPr>
                </a:tc>
              </a:tr>
              <a:tr h="568960">
                <a:tc>
                  <a:txBody>
                    <a:bodyPr/>
                    <a:lstStyle/>
                    <a:p>
                      <a:pPr algn="l"/>
                      <a:r>
                        <a:rPr sz="850" b="1">
                          <a:solidFill>
                            <a:srgbClr val="1B365D"/>
                          </a:solidFill>
                          <a:latin typeface="Segoe UI"/>
                        </a:rPr>
                        <a:t>Cơ chế Tính toán</a:t>
                      </a:r>
                    </a:p>
                  </a:txBody>
                  <a:tcPr>
                    <a:solidFill>
                      <a:srgbClr val="FFFFFF"/>
                    </a:solidFill>
                  </a:tcPr>
                </a:tc>
                <a:tc>
                  <a:txBody>
                    <a:bodyPr/>
                    <a:lstStyle/>
                    <a:p>
                      <a:pPr algn="l"/>
                      <a:r>
                        <a:rPr sz="850">
                          <a:solidFill>
                            <a:srgbClr val="212529"/>
                          </a:solidFill>
                          <a:latin typeface="Segoe UI"/>
                        </a:rPr>
                        <a:t>Cosine similarity từng cặp, Min-Max cục bộ</a:t>
                      </a:r>
                    </a:p>
                  </a:txBody>
                  <a:tcPr>
                    <a:solidFill>
                      <a:srgbClr val="FFFFFF"/>
                    </a:solidFill>
                  </a:tcPr>
                </a:tc>
                <a:tc>
                  <a:txBody>
                    <a:bodyPr/>
                    <a:lstStyle/>
                    <a:p>
                      <a:pPr algn="l"/>
                      <a:r>
                        <a:rPr sz="850" b="1">
                          <a:solidFill>
                            <a:srgbClr val="1F77B4"/>
                          </a:solidFill>
                          <a:latin typeface="Segoe UI"/>
                        </a:rPr>
                        <a:t>L2-Norm + Ma trận NumPy BLAS (a @ b.T) &lt; 3s, Min-Max toàn cục</a:t>
                      </a:r>
                    </a:p>
                  </a:txBody>
                  <a:tcPr>
                    <a:solidFill>
                      <a:srgbClr val="FFFFFF"/>
                    </a:solidFill>
                  </a:tcPr>
                </a:tc>
                <a:tc>
                  <a:txBody>
                    <a:bodyPr/>
                    <a:lstStyle/>
                    <a:p>
                      <a:pPr algn="ctr"/>
                      <a:r>
                        <a:rPr sz="850" b="1">
                          <a:solidFill>
                            <a:srgbClr val="288C3C"/>
                          </a:solidFill>
                          <a:latin typeface="Segoe UI"/>
                        </a:rPr>
                        <a:t>So sánh chéo đa năm chuẩn</a:t>
                      </a:r>
                    </a:p>
                  </a:txBody>
                  <a:tcPr>
                    <a:solidFill>
                      <a:srgbClr val="FFFFFF"/>
                    </a:solidFill>
                  </a:tcPr>
                </a:tc>
              </a:tr>
              <a:tr h="568960">
                <a:tc>
                  <a:txBody>
                    <a:bodyPr/>
                    <a:lstStyle/>
                    <a:p>
                      <a:pPr algn="l"/>
                      <a:r>
                        <a:rPr sz="850" b="1">
                          <a:solidFill>
                            <a:srgbClr val="1B365D"/>
                          </a:solidFill>
                          <a:latin typeface="Segoe UI"/>
                        </a:rPr>
                        <a:t>Phân tích Ngành</a:t>
                      </a:r>
                    </a:p>
                  </a:txBody>
                  <a:tcPr>
                    <a:solidFill>
                      <a:srgbClr val="F1F5F9"/>
                    </a:solidFill>
                  </a:tcPr>
                </a:tc>
                <a:tc>
                  <a:txBody>
                    <a:bodyPr/>
                    <a:lstStyle/>
                    <a:p>
                      <a:pPr algn="l"/>
                      <a:r>
                        <a:rPr sz="850">
                          <a:solidFill>
                            <a:srgbClr val="212529"/>
                          </a:solidFill>
                          <a:latin typeface="Segoe UI"/>
                        </a:rPr>
                        <a:t>Thống kê mẫu gộp chung, không phân hóa</a:t>
                      </a:r>
                    </a:p>
                  </a:txBody>
                  <a:tcPr>
                    <a:solidFill>
                      <a:srgbClr val="F1F5F9"/>
                    </a:solidFill>
                  </a:tcPr>
                </a:tc>
                <a:tc>
                  <a:txBody>
                    <a:bodyPr/>
                    <a:lstStyle/>
                    <a:p>
                      <a:pPr algn="l"/>
                      <a:r>
                        <a:rPr sz="850" b="1">
                          <a:solidFill>
                            <a:srgbClr val="1F77B4"/>
                          </a:solidFill>
                          <a:latin typeface="Segoe UI"/>
                        </a:rPr>
                        <a:t>Bóc tách 7 tập đoàn theo mô hình kinh doanh cụ thể</a:t>
                      </a:r>
                    </a:p>
                  </a:txBody>
                  <a:tcPr>
                    <a:solidFill>
                      <a:srgbClr val="F1F5F9"/>
                    </a:solidFill>
                  </a:tcPr>
                </a:tc>
                <a:tc>
                  <a:txBody>
                    <a:bodyPr/>
                    <a:lstStyle/>
                    <a:p>
                      <a:pPr algn="ctr"/>
                      <a:r>
                        <a:rPr sz="850" b="1">
                          <a:solidFill>
                            <a:srgbClr val="288C3C"/>
                          </a:solidFill>
                          <a:latin typeface="Segoe UI"/>
                        </a:rPr>
                        <a:t>Giải mã sâu sắc nguyên nhân</a:t>
                      </a:r>
                    </a:p>
                  </a:txBody>
                  <a:tcPr>
                    <a:solidFill>
                      <a:srgbClr val="F1F5F9"/>
                    </a:solidFill>
                  </a:tcPr>
                </a:tc>
              </a:tr>
              <a:tr h="568960">
                <a:tc>
                  <a:txBody>
                    <a:bodyPr/>
                    <a:lstStyle/>
                    <a:p>
                      <a:pPr algn="l"/>
                      <a:r>
                        <a:rPr sz="850" b="1">
                          <a:solidFill>
                            <a:srgbClr val="1B365D"/>
                          </a:solidFill>
                          <a:latin typeface="Segoe UI"/>
                        </a:rPr>
                        <a:t>Khả năng Mở rộng</a:t>
                      </a:r>
                    </a:p>
                  </a:txBody>
                  <a:tcPr>
                    <a:solidFill>
                      <a:srgbClr val="FFFFFF"/>
                    </a:solidFill>
                  </a:tcPr>
                </a:tc>
                <a:tc>
                  <a:txBody>
                    <a:bodyPr/>
                    <a:lstStyle/>
                    <a:p>
                      <a:pPr algn="l"/>
                      <a:r>
                        <a:rPr sz="850">
                          <a:solidFill>
                            <a:srgbClr val="212529"/>
                          </a:solidFill>
                          <a:latin typeface="Segoe UI"/>
                        </a:rPr>
                        <a:t>Dừng lại ở biểu đồ thống kê tĩnh</a:t>
                      </a:r>
                    </a:p>
                  </a:txBody>
                  <a:tcPr>
                    <a:solidFill>
                      <a:srgbClr val="FFFFFF"/>
                    </a:solidFill>
                  </a:tcPr>
                </a:tc>
                <a:tc>
                  <a:txBody>
                    <a:bodyPr/>
                    <a:lstStyle/>
                    <a:p>
                      <a:pPr algn="l"/>
                      <a:r>
                        <a:rPr sz="850" b="1">
                          <a:solidFill>
                            <a:srgbClr val="1F77B4"/>
                          </a:solidFill>
                          <a:latin typeface="Segoe UI"/>
                        </a:rPr>
                        <a:t>Sẵn sàng làm Context Retriever sạch cho LLM kiểm toán</a:t>
                      </a:r>
                    </a:p>
                  </a:txBody>
                  <a:tcPr>
                    <a:solidFill>
                      <a:srgbClr val="FFFFFF"/>
                    </a:solidFill>
                  </a:tcPr>
                </a:tc>
                <a:tc>
                  <a:txBody>
                    <a:bodyPr/>
                    <a:lstStyle/>
                    <a:p>
                      <a:pPr algn="ctr"/>
                      <a:r>
                        <a:rPr sz="850" b="1">
                          <a:solidFill>
                            <a:srgbClr val="288C3C"/>
                          </a:solidFill>
                          <a:latin typeface="Segoe UI"/>
                        </a:rPr>
                        <a:t>Nền tảng Agentic RAG</a:t>
                      </a:r>
                    </a:p>
                  </a:txBody>
                  <a:tcP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HÀM Ý QUẢN TRỊ</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HÀM Ý THỰC TIỄN &amp; ĐỀ XUẤT CHO CÁC BÊN LIÊN QUAN</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15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sp>
        <p:nvSpPr>
          <p:cNvPr id="9" name="Rounded Rectangle 8"/>
          <p:cNvSpPr/>
          <p:nvPr/>
        </p:nvSpPr>
        <p:spPr>
          <a:xfrm>
            <a:off x="731520" y="1234440"/>
            <a:ext cx="3429000" cy="50292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234440"/>
            <a:ext cx="3429000" cy="41148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CƠ QUAN QUẢN LÝ (UBCKNN)</a:t>
            </a:r>
          </a:p>
        </p:txBody>
      </p:sp>
      <p:sp>
        <p:nvSpPr>
          <p:cNvPr id="11" name="TextBox 10"/>
          <p:cNvSpPr txBox="1"/>
          <p:nvPr/>
        </p:nvSpPr>
        <p:spPr>
          <a:xfrm>
            <a:off x="868680" y="1737360"/>
            <a:ext cx="3154680" cy="4434840"/>
          </a:xfrm>
          <a:prstGeom prst="rect">
            <a:avLst/>
          </a:prstGeom>
          <a:noFill/>
        </p:spPr>
        <p:txBody>
          <a:bodyPr wrap="square">
            <a:spAutoFit/>
          </a:bodyPr>
          <a:lstStyle/>
          <a:p>
            <a:pPr>
              <a:spcAft>
                <a:spcPts val="600"/>
              </a:spcAft>
            </a:pPr>
            <a:r>
              <a:rPr b="1" sz="950">
                <a:solidFill>
                  <a:srgbClr val="1B365D"/>
                </a:solidFill>
                <a:latin typeface="Segoe UI"/>
              </a:rPr>
              <a:t>• Chuẩn hóa số báo cáo:</a:t>
            </a:r>
          </a:p>
          <a:p>
            <a:pPr>
              <a:spcAft>
                <a:spcPts val="600"/>
              </a:spcAft>
            </a:pPr>
            <a:r>
              <a:rPr sz="900">
                <a:solidFill>
                  <a:srgbClr val="212529"/>
                </a:solidFill>
                <a:latin typeface="Segoe UI"/>
              </a:rPr>
              <a:t>  Thúc đẩy định dạng số mở (XBRL) thay cho PDF scan lỗi font.</a:t>
            </a:r>
          </a:p>
          <a:p>
            <a:pPr>
              <a:spcAft>
                <a:spcPts val="600"/>
              </a:spcAft>
            </a:pPr>
            <a:r>
              <a:rPr b="1" sz="950">
                <a:solidFill>
                  <a:srgbClr val="1B365D"/>
                </a:solidFill>
                <a:latin typeface="Segoe UI"/>
              </a:rPr>
              <a:t>• Cổng giám sát AI tự động:</a:t>
            </a:r>
          </a:p>
          <a:p>
            <a:pPr>
              <a:spcAft>
                <a:spcPts val="600"/>
              </a:spcAft>
            </a:pPr>
            <a:r>
              <a:rPr sz="900">
                <a:solidFill>
                  <a:srgbClr val="212529"/>
                </a:solidFill>
                <a:latin typeface="Segoe UI"/>
              </a:rPr>
              <a:t>  Ứng dụng NLP quét toàn thị trường, phát hiện dấu hiệu tô hồng báo cáo.</a:t>
            </a:r>
          </a:p>
          <a:p>
            <a:pPr>
              <a:spcAft>
                <a:spcPts val="600"/>
              </a:spcAft>
            </a:pPr>
            <a:r>
              <a:rPr b="1" sz="950">
                <a:solidFill>
                  <a:srgbClr val="1B365D"/>
                </a:solidFill>
                <a:latin typeface="Segoe UI"/>
              </a:rPr>
              <a:t>• Mở rộng quy định Scope 3:</a:t>
            </a:r>
          </a:p>
          <a:p>
            <a:pPr>
              <a:spcAft>
                <a:spcPts val="600"/>
              </a:spcAft>
            </a:pPr>
            <a:r>
              <a:rPr sz="900">
                <a:solidFill>
                  <a:srgbClr val="212529"/>
                </a:solidFill>
                <a:latin typeface="Segoe UI"/>
              </a:rPr>
              <a:t>  Bổ sung hướng dẫn kiểm kê phát thải gián tiếp chuỗi cung ứng.</a:t>
            </a:r>
          </a:p>
        </p:txBody>
      </p:sp>
      <p:sp>
        <p:nvSpPr>
          <p:cNvPr id="12" name="Rounded Rectangle 11"/>
          <p:cNvSpPr/>
          <p:nvPr/>
        </p:nvSpPr>
        <p:spPr>
          <a:xfrm>
            <a:off x="4379976" y="1234440"/>
            <a:ext cx="3429000" cy="502920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9976" y="1234440"/>
            <a:ext cx="3429000" cy="411480"/>
          </a:xfrm>
          <a:prstGeom prst="rect">
            <a:avLst/>
          </a:prstGeom>
          <a:solidFill>
            <a:srgbClr val="1F7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DOANH NGHIỆP NIÊM YẾT</a:t>
            </a:r>
          </a:p>
        </p:txBody>
      </p:sp>
      <p:sp>
        <p:nvSpPr>
          <p:cNvPr id="14" name="TextBox 13"/>
          <p:cNvSpPr txBox="1"/>
          <p:nvPr/>
        </p:nvSpPr>
        <p:spPr>
          <a:xfrm>
            <a:off x="4517136" y="1737360"/>
            <a:ext cx="3154680" cy="4434840"/>
          </a:xfrm>
          <a:prstGeom prst="rect">
            <a:avLst/>
          </a:prstGeom>
          <a:noFill/>
        </p:spPr>
        <p:txBody>
          <a:bodyPr wrap="square">
            <a:spAutoFit/>
          </a:bodyPr>
          <a:lstStyle/>
          <a:p>
            <a:pPr>
              <a:spcAft>
                <a:spcPts val="600"/>
              </a:spcAft>
            </a:pPr>
            <a:r>
              <a:rPr b="1" sz="950">
                <a:solidFill>
                  <a:srgbClr val="1F77B4"/>
                </a:solidFill>
                <a:latin typeface="Segoe UI"/>
              </a:rPr>
              <a:t>• Chuyển đổi tư duy công bố:</a:t>
            </a:r>
          </a:p>
          <a:p>
            <a:pPr>
              <a:spcAft>
                <a:spcPts val="600"/>
              </a:spcAft>
            </a:pPr>
            <a:r>
              <a:rPr sz="900">
                <a:solidFill>
                  <a:srgbClr val="212529"/>
                </a:solidFill>
                <a:latin typeface="Segoe UI"/>
              </a:rPr>
              <a:t>  Từ 'tiếp thị thành tích' sang 'giải trình trách nhiệm và quản trị rủi ro'.</a:t>
            </a:r>
          </a:p>
          <a:p>
            <a:pPr>
              <a:spcAft>
                <a:spcPts val="600"/>
              </a:spcAft>
            </a:pPr>
            <a:r>
              <a:rPr b="1" sz="950">
                <a:solidFill>
                  <a:srgbClr val="1F77B4"/>
                </a:solidFill>
                <a:latin typeface="Segoe UI"/>
              </a:rPr>
              <a:t>• Minh bạch hóa thách thức:</a:t>
            </a:r>
          </a:p>
          <a:p>
            <a:pPr>
              <a:spcAft>
                <a:spcPts val="600"/>
              </a:spcAft>
            </a:pPr>
            <a:r>
              <a:rPr sz="900">
                <a:solidFill>
                  <a:srgbClr val="212529"/>
                </a:solidFill>
                <a:latin typeface="Segoe UI"/>
              </a:rPr>
              <a:t>  Chủ động công bố sự cố và lộ trình khắc phục để nâng cao tín nhiệm.</a:t>
            </a:r>
          </a:p>
          <a:p>
            <a:pPr>
              <a:spcAft>
                <a:spcPts val="600"/>
              </a:spcAft>
            </a:pPr>
            <a:r>
              <a:rPr b="1" sz="950">
                <a:solidFill>
                  <a:srgbClr val="1F77B4"/>
                </a:solidFill>
                <a:latin typeface="Segoe UI"/>
              </a:rPr>
              <a:t>• Tích hợp ESG thực chất:</a:t>
            </a:r>
          </a:p>
          <a:p>
            <a:pPr>
              <a:spcAft>
                <a:spcPts val="600"/>
              </a:spcAft>
            </a:pPr>
            <a:r>
              <a:rPr sz="900">
                <a:solidFill>
                  <a:srgbClr val="212529"/>
                </a:solidFill>
                <a:latin typeface="Segoe UI"/>
              </a:rPr>
              <a:t>  Chuyển từ CSR từ thiện bề nổi sang chiến lược giảm phát thải cốt lõi.</a:t>
            </a:r>
          </a:p>
        </p:txBody>
      </p:sp>
      <p:sp>
        <p:nvSpPr>
          <p:cNvPr id="15" name="Rounded Rectangle 14"/>
          <p:cNvSpPr/>
          <p:nvPr/>
        </p:nvSpPr>
        <p:spPr>
          <a:xfrm>
            <a:off x="8028432" y="1234440"/>
            <a:ext cx="3429000" cy="502920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28432" y="1234440"/>
            <a:ext cx="3429000" cy="411480"/>
          </a:xfrm>
          <a:prstGeom prst="rect">
            <a:avLst/>
          </a:prstGeom>
          <a:solidFill>
            <a:srgbClr val="288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NHÀ ĐẦU TƯ &amp; KIỂM TOÁN</a:t>
            </a:r>
          </a:p>
        </p:txBody>
      </p:sp>
      <p:sp>
        <p:nvSpPr>
          <p:cNvPr id="17" name="TextBox 16"/>
          <p:cNvSpPr txBox="1"/>
          <p:nvPr/>
        </p:nvSpPr>
        <p:spPr>
          <a:xfrm>
            <a:off x="8165592" y="1737360"/>
            <a:ext cx="3154680" cy="4434840"/>
          </a:xfrm>
          <a:prstGeom prst="rect">
            <a:avLst/>
          </a:prstGeom>
          <a:noFill/>
        </p:spPr>
        <p:txBody>
          <a:bodyPr wrap="square">
            <a:spAutoFit/>
          </a:bodyPr>
          <a:lstStyle/>
          <a:p>
            <a:pPr>
              <a:spcAft>
                <a:spcPts val="600"/>
              </a:spcAft>
            </a:pPr>
            <a:r>
              <a:rPr b="1" sz="950">
                <a:solidFill>
                  <a:srgbClr val="288C3C"/>
                </a:solidFill>
                <a:latin typeface="Segoe UI"/>
              </a:rPr>
              <a:t>• Thẩm định nhanh bằng AI:</a:t>
            </a:r>
          </a:p>
          <a:p>
            <a:pPr>
              <a:spcAft>
                <a:spcPts val="600"/>
              </a:spcAft>
            </a:pPr>
            <a:r>
              <a:rPr sz="900">
                <a:solidFill>
                  <a:srgbClr val="212529"/>
                </a:solidFill>
                <a:latin typeface="Segoe UI"/>
              </a:rPr>
              <a:t>  Sàng lọc hàng trăm báo cáo trong vài phút, tiết kiệm 80% thời gian rà soát.</a:t>
            </a:r>
          </a:p>
          <a:p>
            <a:pPr>
              <a:spcAft>
                <a:spcPts val="600"/>
              </a:spcAft>
            </a:pPr>
            <a:r>
              <a:rPr b="1" sz="950">
                <a:solidFill>
                  <a:srgbClr val="288C3C"/>
                </a:solidFill>
                <a:latin typeface="Segoe UI"/>
              </a:rPr>
              <a:t>• Cảnh báo Tẩy xanh sớm:</a:t>
            </a:r>
          </a:p>
          <a:p>
            <a:pPr>
              <a:spcAft>
                <a:spcPts val="600"/>
              </a:spcAft>
            </a:pPr>
            <a:r>
              <a:rPr sz="900">
                <a:solidFill>
                  <a:srgbClr val="212529"/>
                </a:solidFill>
                <a:latin typeface="Segoe UI"/>
              </a:rPr>
              <a:t>  Theo dõi Tỷ số Pos/Neg Ratio để phát hiện các tuyên bố suông thiếu số liệu.</a:t>
            </a:r>
          </a:p>
          <a:p>
            <a:pPr>
              <a:spcAft>
                <a:spcPts val="600"/>
              </a:spcAft>
            </a:pPr>
            <a:r>
              <a:rPr b="1" sz="950">
                <a:solidFill>
                  <a:srgbClr val="288C3C"/>
                </a:solidFill>
                <a:latin typeface="Segoe UI"/>
              </a:rPr>
              <a:t>• Định hướng dòng vốn xanh:</a:t>
            </a:r>
          </a:p>
          <a:p>
            <a:pPr>
              <a:spcAft>
                <a:spcPts val="600"/>
              </a:spcAft>
            </a:pPr>
            <a:r>
              <a:rPr sz="900">
                <a:solidFill>
                  <a:srgbClr val="212529"/>
                </a:solidFill>
                <a:latin typeface="Segoe UI"/>
              </a:rPr>
              <a:t>  Ưu tiên giải ngân tín dụng xanh cho doanh nghiệp có cam kết thực chất.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HƯỚNG PHÁT TRIỂN</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HẠN CHẾ ĐỀ TÀI &amp; HƯỚNG PHÁT TRIỂN AGENTIC ESG AUDITOR</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16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rag_agentic_flow.png"/>
          <p:cNvPicPr>
            <a:picLocks noChangeAspect="1"/>
          </p:cNvPicPr>
          <p:nvPr/>
        </p:nvPicPr>
        <p:blipFill>
          <a:blip r:embed="rId2"/>
          <a:stretch>
            <a:fillRect/>
          </a:stretch>
        </p:blipFill>
        <p:spPr>
          <a:xfrm>
            <a:off x="731520" y="1188720"/>
            <a:ext cx="10728655" cy="3611880"/>
          </a:xfrm>
          <a:prstGeom prst="rect">
            <a:avLst/>
          </a:prstGeom>
        </p:spPr>
      </p:pic>
      <p:sp>
        <p:nvSpPr>
          <p:cNvPr id="10" name="Rounded Rectangle 9"/>
          <p:cNvSpPr/>
          <p:nvPr/>
        </p:nvSpPr>
        <p:spPr>
          <a:xfrm>
            <a:off x="731520" y="4983480"/>
            <a:ext cx="3429000" cy="128016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5047488"/>
            <a:ext cx="3154680" cy="1143000"/>
          </a:xfrm>
          <a:prstGeom prst="rect">
            <a:avLst/>
          </a:prstGeom>
          <a:noFill/>
        </p:spPr>
        <p:txBody>
          <a:bodyPr wrap="square">
            <a:spAutoFit/>
          </a:bodyPr>
          <a:lstStyle/>
          <a:p>
            <a:r>
              <a:rPr sz="950" b="1">
                <a:solidFill>
                  <a:srgbClr val="D62728"/>
                </a:solidFill>
              </a:rPr>
              <a:t>HẠN CHẾ HIỆN TẠI
</a:t>
            </a:r>
            <a:r>
              <a:rPr sz="850">
                <a:solidFill>
                  <a:srgbClr val="212529"/>
                </a:solidFill>
              </a:rPr>
              <a:t>Mẫu 7 tập đoàn; mô hình đo lường tương đồng ngữ nghĩa chứ chưa tự động Fact-checking chéo số liệu định lượng trong Table.</a:t>
            </a:r>
          </a:p>
        </p:txBody>
      </p:sp>
      <p:sp>
        <p:nvSpPr>
          <p:cNvPr id="12" name="Rounded Rectangle 11"/>
          <p:cNvSpPr/>
          <p:nvPr/>
        </p:nvSpPr>
        <p:spPr>
          <a:xfrm>
            <a:off x="4379976" y="4983480"/>
            <a:ext cx="3429000" cy="128016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5047488"/>
            <a:ext cx="3154680" cy="1143000"/>
          </a:xfrm>
          <a:prstGeom prst="rect">
            <a:avLst/>
          </a:prstGeom>
          <a:noFill/>
        </p:spPr>
        <p:txBody>
          <a:bodyPr wrap="square">
            <a:spAutoFit/>
          </a:bodyPr>
          <a:lstStyle/>
          <a:p>
            <a:r>
              <a:rPr sz="950" b="1">
                <a:solidFill>
                  <a:srgbClr val="7030A0"/>
                </a:solidFill>
              </a:rPr>
              <a:t>ĐỘT PHÁ MULTI-AGENT
</a:t>
            </a:r>
            <a:r>
              <a:rPr sz="850">
                <a:solidFill>
                  <a:srgbClr val="212529"/>
                </a:solidFill>
              </a:rPr>
              <a:t>Kế thừa pipeline Retrieval hiện tại làm nền móng sạch để tích hợp Agent bóc tách bảng số và Agent kiểm tra chéo cam kết.</a:t>
            </a:r>
          </a:p>
        </p:txBody>
      </p:sp>
      <p:sp>
        <p:nvSpPr>
          <p:cNvPr id="14" name="Rounded Rectangle 13"/>
          <p:cNvSpPr/>
          <p:nvPr/>
        </p:nvSpPr>
        <p:spPr>
          <a:xfrm>
            <a:off x="8028432" y="4983480"/>
            <a:ext cx="3429000" cy="128016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2" y="5047488"/>
            <a:ext cx="3154680" cy="1143000"/>
          </a:xfrm>
          <a:prstGeom prst="rect">
            <a:avLst/>
          </a:prstGeom>
          <a:noFill/>
        </p:spPr>
        <p:txBody>
          <a:bodyPr wrap="square">
            <a:spAutoFit/>
          </a:bodyPr>
          <a:lstStyle/>
          <a:p>
            <a:r>
              <a:rPr sz="950" b="1">
                <a:solidFill>
                  <a:srgbClr val="288C3C"/>
                </a:solidFill>
              </a:rPr>
              <a:t>TẦM NHÌN SẢN PHẨM SAAS
</a:t>
            </a:r>
            <a:r>
              <a:rPr sz="850">
                <a:solidFill>
                  <a:srgbClr val="212529"/>
                </a:solidFill>
              </a:rPr>
              <a:t>Tích hợp LLM (GPT-4o/Gemini) tự động xuất Báo cáo Thẩm định ESG Độc lập trong 30 giây phục vụ ngân hàng và quỹ đầu tư.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728655" cy="685800"/>
          </a:xfrm>
          <a:prstGeom prst="rect">
            <a:avLst/>
          </a:prstGeom>
          <a:noFill/>
        </p:spPr>
        <p:txBody>
          <a:bodyPr wrap="none">
            <a:spAutoFit/>
          </a:bodyPr>
          <a:lstStyle/>
          <a:p>
            <a:r>
              <a:rPr sz="2000" b="1">
                <a:solidFill>
                  <a:srgbClr val="FFFFFF"/>
                </a:solidFill>
                <a:latin typeface="Segoe UI"/>
              </a:rPr>
              <a:t>TỔNG KẾT 4 THÔNG ĐIỆP CỐT LÕI CỦA ĐỀ TÀI</a:t>
            </a:r>
          </a:p>
        </p:txBody>
      </p:sp>
      <p:sp>
        <p:nvSpPr>
          <p:cNvPr id="5" name="Rectangle 4"/>
          <p:cNvSpPr/>
          <p:nvPr/>
        </p:nvSpPr>
        <p:spPr>
          <a:xfrm>
            <a:off x="731520" y="1234440"/>
            <a:ext cx="5212080" cy="169164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234440"/>
            <a:ext cx="137160" cy="169164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892040" cy="1508760"/>
          </a:xfrm>
          <a:prstGeom prst="rect">
            <a:avLst/>
          </a:prstGeom>
          <a:noFill/>
        </p:spPr>
        <p:txBody>
          <a:bodyPr wrap="square">
            <a:spAutoFit/>
          </a:bodyPr>
          <a:lstStyle/>
          <a:p>
            <a:r>
              <a:rPr b="1" sz="1050">
                <a:solidFill>
                  <a:srgbClr val="D4AF37"/>
                </a:solidFill>
              </a:rPr>
              <a:t>1. CHUYỂN GIAO THÀNH CÔNG
</a:t>
            </a:r>
          </a:p>
          <a:p>
            <a:pPr>
              <a:defRPr sz="919">
                <a:solidFill>
                  <a:srgbClr val="E1EBFA"/>
                </a:solidFill>
              </a:defRPr>
            </a:pPr>
            <a:r>
              <a:t>Quy trình NLP của Kang &amp; Kim (2022) thích ứng xuất sắc với tiếng Việt, đạt phân phối chuẩn tương đương 100% nghiên cứu quốc tế.</a:t>
            </a:r>
          </a:p>
        </p:txBody>
      </p:sp>
      <p:sp>
        <p:nvSpPr>
          <p:cNvPr id="8" name="Rectangle 7"/>
          <p:cNvSpPr/>
          <p:nvPr/>
        </p:nvSpPr>
        <p:spPr>
          <a:xfrm>
            <a:off x="6245352" y="1234440"/>
            <a:ext cx="5212080" cy="169164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234440"/>
            <a:ext cx="137160" cy="169164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3952" y="1325880"/>
            <a:ext cx="4892040" cy="1508760"/>
          </a:xfrm>
          <a:prstGeom prst="rect">
            <a:avLst/>
          </a:prstGeom>
          <a:noFill/>
        </p:spPr>
        <p:txBody>
          <a:bodyPr wrap="square">
            <a:spAutoFit/>
          </a:bodyPr>
          <a:lstStyle/>
          <a:p>
            <a:r>
              <a:rPr b="1" sz="1050">
                <a:solidFill>
                  <a:srgbClr val="D4AF37"/>
                </a:solidFill>
              </a:rPr>
              <a:t>2. PHẢN ÁNH ĐẶC THÙ NGÀNH
</a:t>
            </a:r>
          </a:p>
          <a:p>
            <a:pPr>
              <a:defRPr sz="919">
                <a:solidFill>
                  <a:srgbClr val="E1EBFA"/>
                </a:solidFill>
              </a:defRPr>
            </a:pPr>
            <a:r>
              <a:t>Điểm số SDG phản ánh sát sao mô hình kinh doanh: Sản xuất mạnh về Tài nguyên/Môi trường, Tài chính dẫn đầu về Kinh tế, Bán lẻ nổi bật về DE&amp;I.</a:t>
            </a:r>
          </a:p>
        </p:txBody>
      </p:sp>
      <p:sp>
        <p:nvSpPr>
          <p:cNvPr id="11" name="Rectangle 10"/>
          <p:cNvSpPr/>
          <p:nvPr/>
        </p:nvSpPr>
        <p:spPr>
          <a:xfrm>
            <a:off x="731520" y="3154680"/>
            <a:ext cx="5212080" cy="169164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3154680"/>
            <a:ext cx="137160" cy="169164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246120"/>
            <a:ext cx="4892040" cy="1508760"/>
          </a:xfrm>
          <a:prstGeom prst="rect">
            <a:avLst/>
          </a:prstGeom>
          <a:noFill/>
        </p:spPr>
        <p:txBody>
          <a:bodyPr wrap="square">
            <a:spAutoFit/>
          </a:bodyPr>
          <a:lstStyle/>
          <a:p>
            <a:r>
              <a:rPr b="1" sz="1050">
                <a:solidFill>
                  <a:srgbClr val="D4AF37"/>
                </a:solidFill>
              </a:rPr>
              <a:t>3. BỨC TRANH TƯƠNG PHẢN
</a:t>
            </a:r>
          </a:p>
          <a:p>
            <a:pPr>
              <a:defRPr sz="919">
                <a:solidFill>
                  <a:srgbClr val="E1EBFA"/>
                </a:solidFill>
              </a:defRPr>
            </a:pPr>
            <a:r>
              <a:t>Chỉ ra sự phân hóa sâu sắc: Doanh nghiệp nói nhiều về tăng trưởng và CSR từ thiện bề nổi, nhưng né tránh đa dạng sinh học và chênh lệch lương.</a:t>
            </a:r>
          </a:p>
        </p:txBody>
      </p:sp>
      <p:sp>
        <p:nvSpPr>
          <p:cNvPr id="14" name="Rectangle 13"/>
          <p:cNvSpPr/>
          <p:nvPr/>
        </p:nvSpPr>
        <p:spPr>
          <a:xfrm>
            <a:off x="6245352" y="3154680"/>
            <a:ext cx="5212080" cy="169164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45352" y="3154680"/>
            <a:ext cx="137160" cy="169164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3246120"/>
            <a:ext cx="4892040" cy="1508760"/>
          </a:xfrm>
          <a:prstGeom prst="rect">
            <a:avLst/>
          </a:prstGeom>
          <a:noFill/>
        </p:spPr>
        <p:txBody>
          <a:bodyPr wrap="square">
            <a:spAutoFit/>
          </a:bodyPr>
          <a:lstStyle/>
          <a:p>
            <a:r>
              <a:rPr b="1" sz="1050">
                <a:solidFill>
                  <a:srgbClr val="D4AF37"/>
                </a:solidFill>
              </a:rPr>
              <a:t>4. THIÊN LỆCH LẠC QUAN CẤU TRÚC
</a:t>
            </a:r>
          </a:p>
          <a:p>
            <a:pPr>
              <a:defRPr sz="919">
                <a:solidFill>
                  <a:srgbClr val="E1EBFA"/>
                </a:solidFill>
              </a:defRPr>
            </a:pPr>
            <a:r>
              <a:t>Tỷ số Pos/Neg đạt 4,06 lần khẳng định sự tồn tại của chiến lược Quản trị Ấn tượng, khẳng định tính cấp thiết của công cụ AI hỗ trợ kiểm toán.</a:t>
            </a:r>
          </a:p>
        </p:txBody>
      </p:sp>
      <p:sp>
        <p:nvSpPr>
          <p:cNvPr id="17" name="Rectangle 16"/>
          <p:cNvSpPr/>
          <p:nvPr/>
        </p:nvSpPr>
        <p:spPr>
          <a:xfrm>
            <a:off x="731520" y="5074920"/>
            <a:ext cx="10728655" cy="1234440"/>
          </a:xfrm>
          <a:prstGeom prst="rect">
            <a:avLst/>
          </a:prstGeom>
          <a:solidFill>
            <a:srgbClr val="0F2341"/>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138928"/>
            <a:ext cx="10362895" cy="1097280"/>
          </a:xfrm>
          <a:prstGeom prst="rect">
            <a:avLst/>
          </a:prstGeom>
          <a:noFill/>
        </p:spPr>
        <p:txBody>
          <a:bodyPr wrap="square">
            <a:spAutoFit/>
          </a:bodyPr>
          <a:lstStyle/>
          <a:p>
            <a:pPr algn="ctr"/>
            <a:r>
              <a:rPr sz="1450" b="1">
                <a:solidFill>
                  <a:srgbClr val="D4AF37"/>
                </a:solidFill>
                <a:latin typeface="Segoe UI"/>
              </a:rPr>
              <a:t>TRÂN TRỌNG CẢM ƠN QUÝ THẦY CÔ TRONG HỘI ĐỒNG KHOA HỌC!
</a:t>
            </a:r>
          </a:p>
          <a:p>
            <a:pPr algn="ctr"/>
            <a:r>
              <a:rPr sz="1050" i="1">
                <a:solidFill>
                  <a:srgbClr val="FFFFFF"/>
                </a:solidFill>
                <a:latin typeface="Segoe UI"/>
              </a:rPr>
              <a:t>Nhóm nghiên cứu rất mong nhận được các câu hỏi và ý kiến đóng góp quý báu từ Quý Thầy Cô.
(Tác giả: Lê Đan Sơn, Dương Thị Hoàn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