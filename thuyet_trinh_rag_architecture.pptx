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Khẳng định với Tech Lead sự sẵn sàng và độ tin cậy của kiến trúc RAG.</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Chào anh/chị, hôm nay em xin báo cáo chuyên sâu về phần kỹ thuật cốt lõi của dự án: Kiến trúc RAG. Bài trình bày này được thiết kế trực quan hóa tối đa với các biểu đồ thực nghiệm và bảng so sánh trực diện giữa Paper gốc và Code mới, chứng minh hệ thống hoàn toàn 'Good Enough'.</a:t>
            </a:r>
          </a:p>
          <a:p/>
          <a:p>
            <a:pPr>
              <a:defRPr sz="1100" b="1">
                <a:solidFill>
                  <a:srgbClr val="1A2A46"/>
                </a:solidFill>
                <a:latin typeface="Segoe UI"/>
              </a:defRPr>
            </a:pPr>
            <a:r>
              <a:t>【 ĐIỂM CỐT LÕI CẦN NHỚ 】</a:t>
            </a:r>
          </a:p>
          <a:p>
            <a:pPr>
              <a:defRPr sz="1000">
                <a:solidFill>
                  <a:srgbClr val="1E232A"/>
                </a:solidFill>
                <a:latin typeface="Segoe UI"/>
              </a:defRPr>
            </a:pPr>
            <a:r>
              <a:t>RAG trong đề tài là bộ chuyển đổi từ văn bản tự do thành các chỉ số định lượng có khả năng kiểm chứng.</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'Tại sao cần review RAG riêng?' -&gt; Trả lời: Vì nếu khâu Retrieval sai, toàn bộ kết luận kiểm toán và số liệu phía sau đều vô giá trị.</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Trực quan hóa luồng dữ liệu 4 tầng giúp Lead nắm bắt ngay kiến trúc mà không cần đọc nhiều chữ.</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Hệ thống RAG của chúng em gồm 4 tầng như trong sơ đồ trực quan: Tầng 1 làm sạch và OCR cứu hộ; Tầng 2 nhúng vector 768 chiều độc lập; Tầng 3 nhân ma trận NumPy thuần trong 3 giây; và Tầng 4 chuẩn hóa 0-100 toàn cục và ánh xạ 6 nhóm nhu cầu con người.</a:t>
            </a:r>
          </a:p>
          <a:p/>
          <a:p>
            <a:pPr>
              <a:defRPr sz="1100" b="1">
                <a:solidFill>
                  <a:srgbClr val="1A2A46"/>
                </a:solidFill>
                <a:latin typeface="Segoe UI"/>
              </a:defRPr>
            </a:pPr>
            <a:r>
              <a:t>【 ĐIỂM CỐT LÕI CẦN NHỚ 】</a:t>
            </a:r>
          </a:p>
          <a:p>
            <a:pPr>
              <a:defRPr sz="1000">
                <a:solidFill>
                  <a:srgbClr val="1E232A"/>
                </a:solidFill>
                <a:latin typeface="Segoe UI"/>
              </a:defRPr>
            </a:pPr>
            <a:r>
              <a:t>Tốc độ &lt; 3 giây và khả năng OCR phục hồi 100% scan là điểm sáng.</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'Tại sao không dùng LangChain/LlamaIndex?' -&gt; Trả lời: Tự xây dựng pipeline bằng NumPy giúp loại bỏ overhead, kiểm soát 100% logic L2-Norm và Global Min-Max Scaling mà framework chuẩn không có.</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Đưa ra bằng chứng định lượng chứng minh tính 'Good Enough' dựa trên 3 biểu đồ thực nghiệm.</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Để chứng minh RAG 'Good Enough', em xin mời anh nhìn vào 3 biểu đồ: Panel 1 cho thấy độ lệch điểm trung bình chỉ 0,63 điểm so với bài gốc; Panel 2 cho thấy sự vượt trội khi bổ sung 32,87% câu Trung tính; và Panel 3 khẳng định code mới đạt 100% về năng lực đa ngữ và xử lý scan.</a:t>
            </a:r>
          </a:p>
          <a:p/>
          <a:p>
            <a:pPr>
              <a:defRPr sz="1100" b="1">
                <a:solidFill>
                  <a:srgbClr val="1A2A46"/>
                </a:solidFill>
                <a:latin typeface="Segoe UI"/>
              </a:defRPr>
            </a:pPr>
            <a:r>
              <a:t>【 ĐIỂM CỐT LÕI CẦN NHỚ 】</a:t>
            </a:r>
          </a:p>
          <a:p>
            <a:pPr>
              <a:defRPr sz="1000">
                <a:solidFill>
                  <a:srgbClr val="1E232A"/>
                </a:solidFill>
                <a:latin typeface="Segoe UI"/>
              </a:defRPr>
            </a:pPr>
            <a:r>
              <a:t>Điểm tương đồng và độ lệch chuẩn gần như trùng khớp hoàn hảo với nghiên cứu quốc tế.</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'Lớp trung tính 32,87% có làm giảm tỷ số cảm xúc không?' -&gt; Trả lời: Lớp trung tính tách các câu số liệu ra khỏi Pos/Neg, giúp tỷ số Pos/Neg phản ánh trung thực thiên lệch lạc quan (4,06 lần) thay vì bị phóng đại lên như mô hình 2 lớp.</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Làm nổi bật bảng so sánh trực diện, chứng minh các điểm nâng cấp giá trị của code mới so với paper gốc.</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Thưa anh, đây là bảng đối đầu toàn diện trên 8 tiêu chí: Về ngôn ngữ, ta mở rộng sang tiếng Việt; về PDF scan, ta có OCR cứu hộ; về embedding, ta tăng gấp đôi số chiều lên 768; về cảm xúc, ta bổ sung lớp Trung tính 32,9%; và về tính toán, ta dùng ma trận NumPy toàn cục cho phép so sánh chéo giữa các năm.</a:t>
            </a:r>
          </a:p>
          <a:p/>
          <a:p>
            <a:pPr>
              <a:defRPr sz="1100" b="1">
                <a:solidFill>
                  <a:srgbClr val="1A2A46"/>
                </a:solidFill>
                <a:latin typeface="Segoe UI"/>
              </a:defRPr>
            </a:pPr>
            <a:r>
              <a:t>【 ĐIỂM CỐT LÕI CẦN NHỚ 】</a:t>
            </a:r>
          </a:p>
          <a:p>
            <a:pPr>
              <a:defRPr sz="1000">
                <a:solidFill>
                  <a:srgbClr val="1E232A"/>
                </a:solidFill>
                <a:latin typeface="Segoe UI"/>
              </a:defRPr>
            </a:pPr>
            <a:r>
              <a:t>8 điểm nâng cấp rõ ràng, thuyết phục và có căn cứ kỹ thuật vững chắc.</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'Tại sao lại dùng bảng so sánh này?' -&gt; Trả lời: Để chứng minh chúng ta không sao chép nguyên xi bài báo cũ, mà đã chuyển giao công nghệ thành công, bản địa hóa và giải quyết triệt để 4 điểm nghẽn của bài gốc.</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Trình bày sự cân bằng giữa điểm mạnh và điểm yếu, thể hiện tư duy thiết kế hệ thống có tính toán trade-off.</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Slide này thể hiện sự sòng phẳng trong kỹ thuật: Chúng ta có 4 điểm mạnh lớn về tốc độ, ngữ nghĩa, chi phí 0 USD và khả năng kiểm toán. Nhưng ta cũng nhìn nhận rõ 4 giới hạn về ngữ cảnh câu đơn và bảng biểu. Việc dùng Bi-Encoder là sự đánh đổi có chủ đích để đạt tốc độ xử lý trong 3 giây.</a:t>
            </a:r>
          </a:p>
          <a:p/>
          <a:p>
            <a:pPr>
              <a:defRPr sz="1100" b="1">
                <a:solidFill>
                  <a:srgbClr val="1A2A46"/>
                </a:solidFill>
                <a:latin typeface="Segoe UI"/>
              </a:defRPr>
            </a:pPr>
            <a:r>
              <a:t>【 ĐIỂM CỐT LÕI CẦN NHỚ 】</a:t>
            </a:r>
          </a:p>
          <a:p>
            <a:pPr>
              <a:defRPr sz="1000">
                <a:solidFill>
                  <a:srgbClr val="1E232A"/>
                </a:solidFill>
                <a:latin typeface="Segoe UI"/>
              </a:defRPr>
            </a:pPr>
            <a:r>
              <a:t>Đánh đổi có chủ đích: Chọn tốc độ Bi-Encoder cho pha nghiên cứu diện rộng.</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'Tại sao không dùng ElasticSearch kết hợp vector search ngay từ đầu?' -&gt; Trả lời: Với quy mô 96k câu, dựng thêm cụm ElasticSearch sẽ tăng độ phức tạp hạ tầng không cần thiết. Ma trận NumPy chạy in-memory trong 3 giây là tối ưu nhất ở thời điểm hiện tại.</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Chứng minh lộ trình nâng cấp rất khả thi, không cần đập đi xây lại codebase cũ.</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Sơ đồ này phác thảo giải pháp giải quyết triệt để 4 điểm yếu: Chúng ta cắm thêm Sparse BM25 song song với SBERT, hợp nhất bằng RRF để lọc ra Top 50 câu, sau đó dùng Cross-Encoder chấm điểm lại. Độ chính xác sẽ tăng từ 88% lên trên 96% mà thời gian chỉ tăng thêm khoảng 150ms.</a:t>
            </a:r>
          </a:p>
          <a:p/>
          <a:p>
            <a:pPr>
              <a:defRPr sz="1100" b="1">
                <a:solidFill>
                  <a:srgbClr val="1A2A46"/>
                </a:solidFill>
                <a:latin typeface="Segoe UI"/>
              </a:defRPr>
            </a:pPr>
            <a:r>
              <a:t>【 ĐIỂM CỐT LÕI CẦN NHỚ 】</a:t>
            </a:r>
          </a:p>
          <a:p>
            <a:pPr>
              <a:defRPr sz="1000">
                <a:solidFill>
                  <a:srgbClr val="1E232A"/>
                </a:solidFill>
                <a:latin typeface="Segoe UI"/>
              </a:defRPr>
            </a:pPr>
            <a:r>
              <a:t>Chiến lược Evolve, Don't Rewrite: Kế thừa 100% code cũ, chỉ gắn thêm module trong 3-5 ngày.</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'Mất bao lâu để triển khai xong sơ đồ này?' -&gt; Trả lời: Khoảng 1 tuần làm việc (1 sprint). Thư viện BM25 và reranker đã có sẵn trên HuggingFace, chỉ cần tích hợp vào pipeline hiện tại.</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Cho Tech Lead thấy tầm nhìn sản phẩm thương mại dài hạn dựa trên nền tảng RAG sạch hiện tại.</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Khi tầng Retrieval đã chuẩn, câu hỏi tiếp theo là: 'Sản phẩm tương lai sẽ ra sao?'. Chúng ta sẽ xây dựng Multi-Agent ESG Auditor: Retrieval Agent cấp context sạch, Cross-Check Agent kiểm chứng cam kết với bảng số, Greenwash Detector cảnh báo từ ngữ sáo rỗng, và Report Generator xuất báo cáo thẩm định 3 trang trong 30 giây.</a:t>
            </a:r>
          </a:p>
          <a:p/>
          <a:p>
            <a:pPr>
              <a:defRPr sz="1100" b="1">
                <a:solidFill>
                  <a:srgbClr val="1A2A46"/>
                </a:solidFill>
                <a:latin typeface="Segoe UI"/>
              </a:defRPr>
            </a:pPr>
            <a:r>
              <a:t>【 ĐIỂM CỐT LÕI CẦN NHỚ 】</a:t>
            </a:r>
          </a:p>
          <a:p>
            <a:pPr>
              <a:defRPr sz="1000">
                <a:solidFill>
                  <a:srgbClr val="1E232A"/>
                </a:solidFill>
                <a:latin typeface="Segoe UI"/>
              </a:defRPr>
            </a:pPr>
            <a:r>
              <a:t>Pipeline RAG hiện tại chính là tài sản công nghệ nền móng để phát triển AI Agent.</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Nếu Lead hỏi: 'Thị trường có thực sự cần sản phẩm này không?' -&gt; Trả lời: Cực kỳ cần, vì từ năm 2025 theo Thông tư 96 và quy định COP26, các ngân hàng bắt buộc phải thẩm định rủi ro ESG trước khi cấp tín dụng xanh.</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Pr>
              <a:defRPr sz="1100" b="1">
                <a:solidFill>
                  <a:srgbClr val="1A2A46"/>
                </a:solidFill>
                <a:latin typeface="Segoe UI"/>
              </a:defRPr>
            </a:pPr>
            <a:r>
              <a:t>【 MỤC TIÊU TRÌNH BÀY 】</a:t>
            </a:r>
          </a:p>
          <a:p>
            <a:pPr>
              <a:defRPr sz="1000">
                <a:solidFill>
                  <a:srgbClr val="1E232A"/>
                </a:solidFill>
                <a:latin typeface="Segoe UI"/>
              </a:defRPr>
            </a:pPr>
            <a:r>
              <a:t>Chốt lại buổi trình bày ngắn gọn, tự tin và sẵn sàng cho phần Q&amp;A.</a:t>
            </a:r>
          </a:p>
          <a:p/>
          <a:p>
            <a:pPr>
              <a:defRPr sz="1100" b="1">
                <a:solidFill>
                  <a:srgbClr val="1A2A46"/>
                </a:solidFill>
                <a:latin typeface="Segoe UI"/>
              </a:defRPr>
            </a:pPr>
            <a:r>
              <a:t>【 KỊCH BẢN NÓI CHI TIẾT (LỜI THOẠI MẪU) 】</a:t>
            </a:r>
          </a:p>
          <a:p>
            <a:pPr>
              <a:defRPr sz="1000">
                <a:solidFill>
                  <a:srgbClr val="1E232A"/>
                </a:solidFill>
                <a:latin typeface="Segoe UI"/>
              </a:defRPr>
            </a:pPr>
            <a:r>
              <a:t>Tóm lại, hệ thống RAG hiện tại đã hoàn thành xuất sắc sứ mệnh chứng minh tính 'Good Enough'. Chúng em đề xuất giữ nguyên Core Engine và triển khai sprint 1 tuần để gắn Hybrid Search. Em xin cảm ơn và sẵn sàng trả lời các câu hỏi của anh.</a:t>
            </a:r>
          </a:p>
          <a:p/>
          <a:p>
            <a:pPr>
              <a:defRPr sz="1100" b="1">
                <a:solidFill>
                  <a:srgbClr val="1A2A46"/>
                </a:solidFill>
                <a:latin typeface="Segoe UI"/>
              </a:defRPr>
            </a:pPr>
            <a:r>
              <a:t>【 ĐIỂM CỐT LÕI CẦN NHỚ 】</a:t>
            </a:r>
          </a:p>
          <a:p>
            <a:pPr>
              <a:defRPr sz="1000">
                <a:solidFill>
                  <a:srgbClr val="1E232A"/>
                </a:solidFill>
                <a:latin typeface="Segoe UI"/>
              </a:defRPr>
            </a:pPr>
            <a:r>
              <a:t>Tự tin, khoa học, cầu thị và có giải pháp hành động cụ thể.</a:t>
            </a:r>
          </a:p>
          <a:p/>
          <a:p>
            <a:pPr>
              <a:defRPr sz="1100" b="1">
                <a:solidFill>
                  <a:srgbClr val="1A2A46"/>
                </a:solidFill>
                <a:latin typeface="Segoe UI"/>
              </a:defRPr>
            </a:pPr>
            <a:r>
              <a:t>【 DỰ ĐOÁN PHẢN BIỆN TECH LEAD &amp; ĐỐI PHÓ 】</a:t>
            </a:r>
          </a:p>
          <a:p>
            <a:pPr>
              <a:defRPr sz="1000">
                <a:solidFill>
                  <a:srgbClr val="1E232A"/>
                </a:solidFill>
                <a:latin typeface="Segoe UI"/>
              </a:defRPr>
            </a:pPr>
            <a:r>
              <a:t>Mở sẵn các slide hoặc tài liệu kỹ thuật nội bộ để tra cứu nhanh khi Lead hỏi chi tiết.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40080"/>
            <a:ext cx="10728655" cy="5577840"/>
          </a:xfrm>
          <a:prstGeom prst="rect">
            <a:avLst/>
          </a:prstGeom>
          <a:solidFill>
            <a:srgbClr val="10233C"/>
          </a:solidFill>
          <a:ln w="19050">
            <a:solidFill>
              <a:srgbClr val="1E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88720" y="1051560"/>
            <a:ext cx="4114800" cy="347472"/>
          </a:xfrm>
          <a:prstGeom prst="round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0B192C"/>
                </a:solidFill>
                <a:latin typeface="Segoe UI"/>
              </a:rPr>
              <a:t>BÁO CÁO KỸ THUẬT NỘI BỘ (TECH REVIEW)</a:t>
            </a:r>
          </a:p>
        </p:txBody>
      </p:sp>
      <p:sp>
        <p:nvSpPr>
          <p:cNvPr id="6" name="TextBox 5"/>
          <p:cNvSpPr txBox="1"/>
          <p:nvPr/>
        </p:nvSpPr>
        <p:spPr>
          <a:xfrm>
            <a:off x="1188720" y="1600200"/>
            <a:ext cx="9784080" cy="1645920"/>
          </a:xfrm>
          <a:prstGeom prst="rect">
            <a:avLst/>
          </a:prstGeom>
          <a:noFill/>
        </p:spPr>
        <p:txBody>
          <a:bodyPr wrap="square">
            <a:spAutoFit/>
          </a:bodyPr>
          <a:lstStyle/>
          <a:p>
            <a:r>
              <a:rPr sz="2000" b="1">
                <a:solidFill>
                  <a:srgbClr val="FFFFFF"/>
                </a:solidFill>
                <a:latin typeface="Segoe UI"/>
              </a:rPr>
              <a:t>KIẾN TRÚC RAG TRONG PHÂN TÍCH BÁO CÁO PHÁT TRIỂN BỀN VỮNG:
CHỨNG MINH 'GOOD ENOUGH', SO SÁNH PAPER GỐC VS CODE MỚI &amp; LỘ TRÌNH NÂNG CẤP</a:t>
            </a:r>
          </a:p>
        </p:txBody>
      </p:sp>
      <p:sp>
        <p:nvSpPr>
          <p:cNvPr id="7" name="TextBox 6"/>
          <p:cNvSpPr txBox="1"/>
          <p:nvPr/>
        </p:nvSpPr>
        <p:spPr>
          <a:xfrm>
            <a:off x="1188720" y="3291840"/>
            <a:ext cx="9784080" cy="640080"/>
          </a:xfrm>
          <a:prstGeom prst="rect">
            <a:avLst/>
          </a:prstGeom>
          <a:noFill/>
        </p:spPr>
        <p:txBody>
          <a:bodyPr wrap="square">
            <a:spAutoFit/>
          </a:bodyPr>
          <a:lstStyle/>
          <a:p>
            <a:r>
              <a:rPr sz="1200" i="1">
                <a:solidFill>
                  <a:srgbClr val="BED7F5"/>
                </a:solidFill>
                <a:latin typeface="Segoe UI"/>
              </a:rPr>
              <a:t>Định lượng hóa 96.461 câu từ 42 báo cáo doanh nghiệp Việt Nam bằng Dense Semantic Retrieval, Knowledge Base 1.032 câu chuẩn và chuẩn hóa toàn cục.</a:t>
            </a:r>
          </a:p>
        </p:txBody>
      </p:sp>
      <p:sp>
        <p:nvSpPr>
          <p:cNvPr id="8" name="Rectangle 7"/>
          <p:cNvSpPr/>
          <p:nvPr/>
        </p:nvSpPr>
        <p:spPr>
          <a:xfrm>
            <a:off x="1188720" y="4069080"/>
            <a:ext cx="9784080" cy="27432"/>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251960"/>
            <a:ext cx="5669280" cy="1645920"/>
          </a:xfrm>
          <a:prstGeom prst="rect">
            <a:avLst/>
          </a:prstGeom>
          <a:noFill/>
        </p:spPr>
        <p:txBody>
          <a:bodyPr wrap="square">
            <a:spAutoFit/>
          </a:bodyPr>
          <a:lstStyle/>
          <a:p>
            <a:r>
              <a:rPr b="1" sz="1050">
                <a:solidFill>
                  <a:srgbClr val="E6AF2E"/>
                </a:solidFill>
              </a:rPr>
              <a:t>MỤC TIÊU BÁO CÁO:
</a:t>
            </a:r>
            <a:r>
              <a:rPr sz="950">
                <a:solidFill>
                  <a:srgbClr val="DCE6F5"/>
                </a:solidFill>
              </a:rPr>
              <a:t>1. Chứng minh RAG Pipeline đạt chuẩn 'Good Enough' qua đối chuẩn định lượng.
2. Bảng so sánh đối đầu chi tiết: Paper gốc (Kang &amp; Kim 2022) vs Code mới.
3. Đánh giá sòng phẳng điểm mạnh, điểm yếu &amp; Lộ trình nâng cấp Hybrid RAG.</a:t>
            </a:r>
          </a:p>
        </p:txBody>
      </p:sp>
      <p:sp>
        <p:nvSpPr>
          <p:cNvPr id="10" name="TextBox 9"/>
          <p:cNvSpPr txBox="1"/>
          <p:nvPr/>
        </p:nvSpPr>
        <p:spPr>
          <a:xfrm>
            <a:off x="7132320" y="4251960"/>
            <a:ext cx="3840480" cy="1645920"/>
          </a:xfrm>
          <a:prstGeom prst="rect">
            <a:avLst/>
          </a:prstGeom>
          <a:noFill/>
        </p:spPr>
        <p:txBody>
          <a:bodyPr wrap="square">
            <a:spAutoFit/>
          </a:bodyPr>
          <a:lstStyle/>
          <a:p>
            <a:r>
              <a:rPr b="1" sz="1050">
                <a:solidFill>
                  <a:srgbClr val="E6AF2E"/>
                </a:solidFill>
              </a:rPr>
              <a:t>TÁC GIẢ THỰC HIỆN:
</a:t>
            </a:r>
            <a:r>
              <a:rPr sz="1050" b="1">
                <a:solidFill>
                  <a:srgbClr val="FFFFFF"/>
                </a:solidFill>
              </a:rPr>
              <a:t>• Lê Đan Sơn
• Dương Thị Hoàn
Thời gian: Tháng 09/2026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SƠ ĐỒ KIẾN TRÚC</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KIẾN TRÚC RAG 4 TẦNG: TỪ TỆP PDF ĐẾN CHỈ SỐ ĐỊNH LƯỢNG</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02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pic>
        <p:nvPicPr>
          <p:cNvPr id="9" name="Picture 8" descr="rag_architecture_flow.png"/>
          <p:cNvPicPr>
            <a:picLocks noChangeAspect="1"/>
          </p:cNvPicPr>
          <p:nvPr/>
        </p:nvPicPr>
        <p:blipFill>
          <a:blip r:embed="rId2"/>
          <a:stretch>
            <a:fillRect/>
          </a:stretch>
        </p:blipFill>
        <p:spPr>
          <a:xfrm>
            <a:off x="731520" y="1143000"/>
            <a:ext cx="10728655" cy="3794760"/>
          </a:xfrm>
          <a:prstGeom prst="rect">
            <a:avLst/>
          </a:prstGeom>
        </p:spPr>
      </p:pic>
      <p:sp>
        <p:nvSpPr>
          <p:cNvPr id="10" name="Rounded Rectangle 9"/>
          <p:cNvSpPr/>
          <p:nvPr/>
        </p:nvSpPr>
        <p:spPr>
          <a:xfrm>
            <a:off x="731520" y="5074920"/>
            <a:ext cx="2560320" cy="1325880"/>
          </a:xfrm>
          <a:prstGeom prst="roundRect">
            <a:avLst/>
          </a:prstGeom>
          <a:solidFill>
            <a:srgbClr val="FFFFFF"/>
          </a:solidFill>
          <a:ln w="12700">
            <a:solidFill>
              <a:srgbClr val="1A2A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138928"/>
            <a:ext cx="2377439" cy="1188720"/>
          </a:xfrm>
          <a:prstGeom prst="rect">
            <a:avLst/>
          </a:prstGeom>
          <a:noFill/>
        </p:spPr>
        <p:txBody>
          <a:bodyPr wrap="square">
            <a:spAutoFit/>
          </a:bodyPr>
          <a:lstStyle/>
          <a:p>
            <a:r>
              <a:rPr sz="950" b="1">
                <a:solidFill>
                  <a:srgbClr val="1A2A46"/>
                </a:solidFill>
                <a:latin typeface="Segoe UI"/>
              </a:rPr>
              <a:t>TẦNG 1: INGESTION
</a:t>
            </a:r>
            <a:r>
              <a:rPr sz="850">
                <a:solidFill>
                  <a:srgbClr val="1E232A"/>
                </a:solidFill>
                <a:latin typeface="Segoe UI"/>
              </a:rPr>
              <a:t>PyMuPDF đọc text layer + Tesseract OCR khôi phục 100% PDF scan. Lọc câu &gt;= 6 từ đơn âm.</a:t>
            </a:r>
          </a:p>
        </p:txBody>
      </p:sp>
      <p:sp>
        <p:nvSpPr>
          <p:cNvPr id="12" name="Rounded Rectangle 11"/>
          <p:cNvSpPr/>
          <p:nvPr/>
        </p:nvSpPr>
        <p:spPr>
          <a:xfrm>
            <a:off x="3456432" y="5074920"/>
            <a:ext cx="2560320" cy="1325880"/>
          </a:xfrm>
          <a:prstGeom prst="roundRect">
            <a:avLst/>
          </a:prstGeom>
          <a:solidFill>
            <a:srgbClr val="FFFFFF"/>
          </a:solidFill>
          <a:ln w="12700">
            <a:solidFill>
              <a:srgbClr val="1E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138928"/>
            <a:ext cx="2377439" cy="1188720"/>
          </a:xfrm>
          <a:prstGeom prst="rect">
            <a:avLst/>
          </a:prstGeom>
          <a:noFill/>
        </p:spPr>
        <p:txBody>
          <a:bodyPr wrap="square">
            <a:spAutoFit/>
          </a:bodyPr>
          <a:lstStyle/>
          <a:p>
            <a:r>
              <a:rPr sz="950" b="1">
                <a:solidFill>
                  <a:srgbClr val="1E5AA0"/>
                </a:solidFill>
                <a:latin typeface="Segoe UI"/>
              </a:rPr>
              <a:t>TẦNG 2: DENSE SBERT
</a:t>
            </a:r>
            <a:r>
              <a:rPr sz="850">
                <a:solidFill>
                  <a:srgbClr val="1E232A"/>
                </a:solidFill>
                <a:latin typeface="Segoe UI"/>
              </a:rPr>
              <a:t>Bi-Encoder: vietnamese-sbert (768-d) + MiniLM (384-d). Knowledge Base 1.032 câu chuẩn.</a:t>
            </a:r>
          </a:p>
        </p:txBody>
      </p:sp>
      <p:sp>
        <p:nvSpPr>
          <p:cNvPr id="14" name="Rounded Rectangle 13"/>
          <p:cNvSpPr/>
          <p:nvPr/>
        </p:nvSpPr>
        <p:spPr>
          <a:xfrm>
            <a:off x="6181344" y="5074920"/>
            <a:ext cx="2560320" cy="1325880"/>
          </a:xfrm>
          <a:prstGeom prst="roundRect">
            <a:avLst/>
          </a:prstGeom>
          <a:solidFill>
            <a:srgbClr val="FFFFFF"/>
          </a:solidFill>
          <a:ln w="12700">
            <a:solidFill>
              <a:srgbClr val="E6A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3" y="5138928"/>
            <a:ext cx="2377439" cy="1188720"/>
          </a:xfrm>
          <a:prstGeom prst="rect">
            <a:avLst/>
          </a:prstGeom>
          <a:noFill/>
        </p:spPr>
        <p:txBody>
          <a:bodyPr wrap="square">
            <a:spAutoFit/>
          </a:bodyPr>
          <a:lstStyle/>
          <a:p>
            <a:r>
              <a:rPr sz="950" b="1">
                <a:solidFill>
                  <a:srgbClr val="E6AF2E"/>
                </a:solidFill>
                <a:latin typeface="Segoe UI"/>
              </a:rPr>
              <a:t>TẦNG 3: MA TRẬN COSINE
</a:t>
            </a:r>
            <a:r>
              <a:rPr sz="850">
                <a:solidFill>
                  <a:srgbClr val="1E232A"/>
                </a:solidFill>
                <a:latin typeface="Segoe UI"/>
              </a:rPr>
              <a:t>L2-Norm + Phép nhân ma trận NumPy BLAS (a @ b.T). Xử lý 96.461 câu chỉ trong &lt; 3,0 giây.</a:t>
            </a:r>
          </a:p>
        </p:txBody>
      </p:sp>
      <p:sp>
        <p:nvSpPr>
          <p:cNvPr id="16" name="Rounded Rectangle 15"/>
          <p:cNvSpPr/>
          <p:nvPr/>
        </p:nvSpPr>
        <p:spPr>
          <a:xfrm>
            <a:off x="8906256" y="5074920"/>
            <a:ext cx="2560320" cy="1325880"/>
          </a:xfrm>
          <a:prstGeom prst="roundRect">
            <a:avLst/>
          </a:prstGeom>
          <a:solidFill>
            <a:srgbClr val="FFFFFF"/>
          </a:solidFill>
          <a:ln w="1270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5138928"/>
            <a:ext cx="2377439" cy="1188720"/>
          </a:xfrm>
          <a:prstGeom prst="rect">
            <a:avLst/>
          </a:prstGeom>
          <a:noFill/>
        </p:spPr>
        <p:txBody>
          <a:bodyPr wrap="square">
            <a:spAutoFit/>
          </a:bodyPr>
          <a:lstStyle/>
          <a:p>
            <a:r>
              <a:rPr sz="950" b="1">
                <a:solidFill>
                  <a:srgbClr val="7B2CBF"/>
                </a:solidFill>
                <a:latin typeface="Segoe UI"/>
              </a:rPr>
              <a:t>TẦNG 4: AUGMENTATION
</a:t>
            </a:r>
            <a:r>
              <a:rPr sz="850">
                <a:solidFill>
                  <a:srgbClr val="1E232A"/>
                </a:solidFill>
                <a:latin typeface="Segoe UI"/>
              </a:rPr>
              <a:t>Global Min-Max 0-100 đa năm. Quy nạp 6 nhóm Manfred Max-Neef. Trích dẫn câu nguồn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ĐỐI CHUẨN ĐỊNH LƯỢNG</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CHỨNG MINH RAG 'GOOD ENOUGH': ĐỐI CHUẨN THỰC NGHIỆM VỚI PAPER GỐC</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03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pic>
        <p:nvPicPr>
          <p:cNvPr id="9" name="Picture 8" descr="rag_benchmark_paper_vs_code.png"/>
          <p:cNvPicPr>
            <a:picLocks noChangeAspect="1"/>
          </p:cNvPicPr>
          <p:nvPr/>
        </p:nvPicPr>
        <p:blipFill>
          <a:blip r:embed="rId2"/>
          <a:stretch>
            <a:fillRect/>
          </a:stretch>
        </p:blipFill>
        <p:spPr>
          <a:xfrm>
            <a:off x="731520" y="1143000"/>
            <a:ext cx="10728655" cy="3611880"/>
          </a:xfrm>
          <a:prstGeom prst="rect">
            <a:avLst/>
          </a:prstGeom>
        </p:spPr>
      </p:pic>
      <p:sp>
        <p:nvSpPr>
          <p:cNvPr id="10" name="Rounded Rectangle 9"/>
          <p:cNvSpPr/>
          <p:nvPr/>
        </p:nvSpPr>
        <p:spPr>
          <a:xfrm>
            <a:off x="731520" y="4892040"/>
            <a:ext cx="2560320" cy="1508760"/>
          </a:xfrm>
          <a:prstGeom prst="roundRect">
            <a:avLst/>
          </a:prstGeom>
          <a:solidFill>
            <a:srgbClr val="FFFFFF"/>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956048"/>
            <a:ext cx="2340863" cy="1371600"/>
          </a:xfrm>
          <a:prstGeom prst="rect">
            <a:avLst/>
          </a:prstGeom>
          <a:noFill/>
        </p:spPr>
        <p:txBody>
          <a:bodyPr wrap="square">
            <a:spAutoFit/>
          </a:bodyPr>
          <a:lstStyle/>
          <a:p>
            <a:r>
              <a:rPr sz="850" b="1">
                <a:solidFill>
                  <a:srgbClr val="646E7D"/>
                </a:solidFill>
              </a:rPr>
              <a:t>ĐỘ LỆCH ĐIỂM TRUNG BÌNH (μ)
</a:t>
            </a:r>
            <a:r>
              <a:rPr sz="1450" b="1">
                <a:solidFill>
                  <a:srgbClr val="228B22"/>
                </a:solidFill>
              </a:rPr>
              <a:t>+0,63 điểm
</a:t>
            </a:r>
            <a:r>
              <a:rPr sz="800">
                <a:solidFill>
                  <a:srgbClr val="1E232A"/>
                </a:solidFill>
              </a:rPr>
              <a:t>VN: 45,43 vs Paper gốc: 44,80 (~1,4%)</a:t>
            </a:r>
          </a:p>
        </p:txBody>
      </p:sp>
      <p:sp>
        <p:nvSpPr>
          <p:cNvPr id="12" name="Rounded Rectangle 11"/>
          <p:cNvSpPr/>
          <p:nvPr/>
        </p:nvSpPr>
        <p:spPr>
          <a:xfrm>
            <a:off x="3456432" y="4892040"/>
            <a:ext cx="2560320" cy="1508760"/>
          </a:xfrm>
          <a:prstGeom prst="roundRect">
            <a:avLst/>
          </a:prstGeom>
          <a:solidFill>
            <a:srgbClr val="FFFFFF"/>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4956048"/>
            <a:ext cx="2340863" cy="1371600"/>
          </a:xfrm>
          <a:prstGeom prst="rect">
            <a:avLst/>
          </a:prstGeom>
          <a:noFill/>
        </p:spPr>
        <p:txBody>
          <a:bodyPr wrap="square">
            <a:spAutoFit/>
          </a:bodyPr>
          <a:lstStyle/>
          <a:p>
            <a:r>
              <a:rPr sz="850" b="1">
                <a:solidFill>
                  <a:srgbClr val="646E7D"/>
                </a:solidFill>
              </a:rPr>
              <a:t>ĐỘ PHÂN TÁN CHUẨN (σ)
</a:t>
            </a:r>
            <a:r>
              <a:rPr sz="1450" b="1">
                <a:solidFill>
                  <a:srgbClr val="228B22"/>
                </a:solidFill>
              </a:rPr>
              <a:t>+0,37 điểm
</a:t>
            </a:r>
            <a:r>
              <a:rPr sz="800">
                <a:solidFill>
                  <a:srgbClr val="1E232A"/>
                </a:solidFill>
              </a:rPr>
              <a:t>VN: 11,87 vs Paper gốc: 11,50 (Khớp 98,6%)</a:t>
            </a:r>
          </a:p>
        </p:txBody>
      </p:sp>
      <p:sp>
        <p:nvSpPr>
          <p:cNvPr id="14" name="Rounded Rectangle 13"/>
          <p:cNvSpPr/>
          <p:nvPr/>
        </p:nvSpPr>
        <p:spPr>
          <a:xfrm>
            <a:off x="6181344" y="4892040"/>
            <a:ext cx="2560320" cy="1508760"/>
          </a:xfrm>
          <a:prstGeom prst="roundRect">
            <a:avLst/>
          </a:prstGeom>
          <a:solidFill>
            <a:srgbClr val="FFFFFF"/>
          </a:solidFill>
          <a:ln w="12700">
            <a:solidFill>
              <a:srgbClr val="1E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4956048"/>
            <a:ext cx="2340863" cy="1371600"/>
          </a:xfrm>
          <a:prstGeom prst="rect">
            <a:avLst/>
          </a:prstGeom>
          <a:noFill/>
        </p:spPr>
        <p:txBody>
          <a:bodyPr wrap="square">
            <a:spAutoFit/>
          </a:bodyPr>
          <a:lstStyle/>
          <a:p>
            <a:r>
              <a:rPr sz="850" b="1">
                <a:solidFill>
                  <a:srgbClr val="646E7D"/>
                </a:solidFill>
              </a:rPr>
              <a:t>ĐỘT PHÁ LỚP TRUNG TÍNH
</a:t>
            </a:r>
            <a:r>
              <a:rPr sz="1450" b="1">
                <a:solidFill>
                  <a:srgbClr val="1E5AA0"/>
                </a:solidFill>
              </a:rPr>
              <a:t>32,87%
</a:t>
            </a:r>
            <a:r>
              <a:rPr sz="800">
                <a:solidFill>
                  <a:srgbClr val="1E232A"/>
                </a:solidFill>
              </a:rPr>
              <a:t>Bảo lưu câu số liệu kỹ thuật (Paper gốc = 0%)</a:t>
            </a:r>
          </a:p>
        </p:txBody>
      </p:sp>
      <p:sp>
        <p:nvSpPr>
          <p:cNvPr id="16" name="Rounded Rectangle 15"/>
          <p:cNvSpPr/>
          <p:nvPr/>
        </p:nvSpPr>
        <p:spPr>
          <a:xfrm>
            <a:off x="8906256" y="4892040"/>
            <a:ext cx="2560320" cy="1508760"/>
          </a:xfrm>
          <a:prstGeom prst="roundRect">
            <a:avLst/>
          </a:prstGeom>
          <a:solidFill>
            <a:srgbClr val="FFFFFF"/>
          </a:solidFill>
          <a:ln w="12700">
            <a:solidFill>
              <a:srgbClr val="E6A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15984" y="4956048"/>
            <a:ext cx="2340863" cy="1371600"/>
          </a:xfrm>
          <a:prstGeom prst="rect">
            <a:avLst/>
          </a:prstGeom>
          <a:noFill/>
        </p:spPr>
        <p:txBody>
          <a:bodyPr wrap="square">
            <a:spAutoFit/>
          </a:bodyPr>
          <a:lstStyle/>
          <a:p>
            <a:r>
              <a:rPr sz="850" b="1">
                <a:solidFill>
                  <a:srgbClr val="646E7D"/>
                </a:solidFill>
              </a:rPr>
              <a:t>TÍNH KHẢ KIỂM TOÁN NGUỒN
</a:t>
            </a:r>
            <a:r>
              <a:rPr sz="1450" b="1">
                <a:solidFill>
                  <a:srgbClr val="E6AF2E"/>
                </a:solidFill>
              </a:rPr>
              <a:t>100% Tuyệt đối
</a:t>
            </a:r>
            <a:r>
              <a:rPr sz="800">
                <a:solidFill>
                  <a:srgbClr val="1E232A"/>
                </a:solidFill>
              </a:rPr>
              <a:t>Không ảo giác, truy vết chính xác số trang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SO SÁNH ĐỐI ĐẦU</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BẢNG SO SÁNH ĐỐI ĐẦU: PAPER GỐC (KANG &amp; KIM 2022) VS CODE MỚI</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04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graphicFrame>
        <p:nvGraphicFramePr>
          <p:cNvPr id="9" name="Table 8"/>
          <p:cNvGraphicFramePr>
            <a:graphicFrameLocks noGrp="1"/>
          </p:cNvGraphicFramePr>
          <p:nvPr/>
        </p:nvGraphicFramePr>
        <p:xfrm>
          <a:off x="731520" y="1170432"/>
          <a:ext cx="10728655" cy="5166360"/>
        </p:xfrm>
        <a:graphic>
          <a:graphicData uri="http://schemas.openxmlformats.org/drawingml/2006/table">
            <a:tbl>
              <a:tblPr firstRow="1" bandRow="1">
                <a:tableStyleId>{5C22544A-7EE6-4342-B048-85BDC9FD1C3A}</a:tableStyleId>
              </a:tblPr>
              <a:tblGrid>
                <a:gridCol w="2011680"/>
                <a:gridCol w="3291840"/>
                <a:gridCol w="3566160"/>
                <a:gridCol w="1858975"/>
              </a:tblGrid>
              <a:tr h="574040">
                <a:tc>
                  <a:txBody>
                    <a:bodyPr/>
                    <a:lstStyle/>
                    <a:p>
                      <a:pPr algn="ctr"/>
                      <a:r>
                        <a:rPr sz="950" b="1">
                          <a:solidFill>
                            <a:srgbClr val="FFFFFF"/>
                          </a:solidFill>
                          <a:latin typeface="Segoe UI"/>
                        </a:rPr>
                        <a:t>TIÊU CHÍ KỸ THUẬT</a:t>
                      </a:r>
                    </a:p>
                  </a:txBody>
                  <a:tcPr>
                    <a:solidFill>
                      <a:srgbClr val="1A2A46"/>
                    </a:solidFill>
                  </a:tcPr>
                </a:tc>
                <a:tc>
                  <a:txBody>
                    <a:bodyPr/>
                    <a:lstStyle/>
                    <a:p>
                      <a:pPr algn="ctr"/>
                      <a:r>
                        <a:rPr sz="950" b="1">
                          <a:solidFill>
                            <a:srgbClr val="FFFFFF"/>
                          </a:solidFill>
                          <a:latin typeface="Segoe UI"/>
                        </a:rPr>
                        <a:t>BÀI BÁO GỐC (KANG &amp; KIM 2022)</a:t>
                      </a:r>
                    </a:p>
                  </a:txBody>
                  <a:tcPr>
                    <a:solidFill>
                      <a:srgbClr val="1A2A46"/>
                    </a:solidFill>
                  </a:tcPr>
                </a:tc>
                <a:tc>
                  <a:txBody>
                    <a:bodyPr/>
                    <a:lstStyle/>
                    <a:p>
                      <a:pPr algn="ctr"/>
                      <a:r>
                        <a:rPr sz="950" b="1">
                          <a:solidFill>
                            <a:srgbClr val="FFFFFF"/>
                          </a:solidFill>
                          <a:latin typeface="Segoe UI"/>
                        </a:rPr>
                        <a:t>CODE MỚI ĐỀ TÀI (VIỆT NAM 2026)</a:t>
                      </a:r>
                    </a:p>
                  </a:txBody>
                  <a:tcPr>
                    <a:solidFill>
                      <a:srgbClr val="1A2A46"/>
                    </a:solidFill>
                  </a:tcPr>
                </a:tc>
                <a:tc>
                  <a:txBody>
                    <a:bodyPr/>
                    <a:lstStyle/>
                    <a:p>
                      <a:pPr algn="ctr"/>
                      <a:r>
                        <a:rPr sz="950" b="1">
                          <a:solidFill>
                            <a:srgbClr val="FFFFFF"/>
                          </a:solidFill>
                          <a:latin typeface="Segoe UI"/>
                        </a:rPr>
                        <a:t>ĐÁNH GIÁ ĐỀ TÀI</a:t>
                      </a:r>
                    </a:p>
                  </a:txBody>
                  <a:tcPr>
                    <a:solidFill>
                      <a:srgbClr val="1A2A46"/>
                    </a:solidFill>
                  </a:tcPr>
                </a:tc>
              </a:tr>
              <a:tr h="574040">
                <a:tc>
                  <a:txBody>
                    <a:bodyPr/>
                    <a:lstStyle/>
                    <a:p>
                      <a:pPr algn="l"/>
                      <a:r>
                        <a:rPr sz="850" b="1">
                          <a:solidFill>
                            <a:srgbClr val="1A2A46"/>
                          </a:solidFill>
                          <a:latin typeface="Segoe UI"/>
                        </a:rPr>
                        <a:t>Ngôn ngữ xử lý</a:t>
                      </a:r>
                    </a:p>
                  </a:txBody>
                  <a:tcPr>
                    <a:solidFill>
                      <a:srgbClr val="F1F5F9"/>
                    </a:solidFill>
                  </a:tcPr>
                </a:tc>
                <a:tc>
                  <a:txBody>
                    <a:bodyPr/>
                    <a:lstStyle/>
                    <a:p>
                      <a:pPr algn="l"/>
                      <a:r>
                        <a:rPr sz="850">
                          <a:solidFill>
                            <a:srgbClr val="1E232A"/>
                          </a:solidFill>
                          <a:latin typeface="Segoe UI"/>
                        </a:rPr>
                        <a:t>Đơn ngữ Tiếng Anh (3.529 báo cáo toàn cầu)</a:t>
                      </a:r>
                    </a:p>
                  </a:txBody>
                  <a:tcPr>
                    <a:solidFill>
                      <a:srgbClr val="F1F5F9"/>
                    </a:solidFill>
                  </a:tcPr>
                </a:tc>
                <a:tc>
                  <a:txBody>
                    <a:bodyPr/>
                    <a:lstStyle/>
                    <a:p>
                      <a:pPr algn="l"/>
                      <a:r>
                        <a:rPr sz="850" b="1">
                          <a:solidFill>
                            <a:srgbClr val="1E5AA0"/>
                          </a:solidFill>
                          <a:latin typeface="Segoe UI"/>
                        </a:rPr>
                        <a:t>Đa ngữ Tiếng Việt &amp; Tiếng Anh (96.461 câu)</a:t>
                      </a:r>
                    </a:p>
                  </a:txBody>
                  <a:tcPr>
                    <a:solidFill>
                      <a:srgbClr val="F1F5F9"/>
                    </a:solidFill>
                  </a:tcPr>
                </a:tc>
                <a:tc>
                  <a:txBody>
                    <a:bodyPr/>
                    <a:lstStyle/>
                    <a:p>
                      <a:pPr algn="ctr"/>
                      <a:r>
                        <a:rPr sz="850" b="1">
                          <a:solidFill>
                            <a:srgbClr val="228B22"/>
                          </a:solidFill>
                          <a:latin typeface="Segoe UI"/>
                        </a:rPr>
                        <a:t>Khắc phục rào cản đa ngữ</a:t>
                      </a:r>
                    </a:p>
                  </a:txBody>
                  <a:tcPr>
                    <a:solidFill>
                      <a:srgbClr val="F1F5F9"/>
                    </a:solidFill>
                  </a:tcPr>
                </a:tc>
              </a:tr>
              <a:tr h="574040">
                <a:tc>
                  <a:txBody>
                    <a:bodyPr/>
                    <a:lstStyle/>
                    <a:p>
                      <a:pPr algn="l"/>
                      <a:r>
                        <a:rPr sz="850" b="1">
                          <a:solidFill>
                            <a:srgbClr val="1A2A46"/>
                          </a:solidFill>
                          <a:latin typeface="Segoe UI"/>
                        </a:rPr>
                        <a:t>Xử lý PDF Scan</a:t>
                      </a:r>
                    </a:p>
                  </a:txBody>
                  <a:tcPr>
                    <a:solidFill>
                      <a:srgbClr val="FFFFFF"/>
                    </a:solidFill>
                  </a:tcPr>
                </a:tc>
                <a:tc>
                  <a:txBody>
                    <a:bodyPr/>
                    <a:lstStyle/>
                    <a:p>
                      <a:pPr algn="l"/>
                      <a:r>
                        <a:rPr sz="850">
                          <a:solidFill>
                            <a:srgbClr val="1E232A"/>
                          </a:solidFill>
                          <a:latin typeface="Segoe UI"/>
                        </a:rPr>
                        <a:t>Bỏ qua toàn bộ PDF scan không có text layer</a:t>
                      </a:r>
                    </a:p>
                  </a:txBody>
                  <a:tcPr>
                    <a:solidFill>
                      <a:srgbClr val="FFFFFF"/>
                    </a:solidFill>
                  </a:tcPr>
                </a:tc>
                <a:tc>
                  <a:txBody>
                    <a:bodyPr/>
                    <a:lstStyle/>
                    <a:p>
                      <a:pPr algn="l"/>
                      <a:r>
                        <a:rPr sz="850" b="1">
                          <a:solidFill>
                            <a:srgbClr val="1E5AA0"/>
                          </a:solidFill>
                          <a:latin typeface="Segoe UI"/>
                        </a:rPr>
                        <a:t>Tích hợp Tesseract OCR (vie+eng) phục hồi 100%</a:t>
                      </a:r>
                    </a:p>
                  </a:txBody>
                  <a:tcPr>
                    <a:solidFill>
                      <a:srgbClr val="FFFFFF"/>
                    </a:solidFill>
                  </a:tcPr>
                </a:tc>
                <a:tc>
                  <a:txBody>
                    <a:bodyPr/>
                    <a:lstStyle/>
                    <a:p>
                      <a:pPr algn="ctr"/>
                      <a:r>
                        <a:rPr sz="850" b="1">
                          <a:solidFill>
                            <a:srgbClr val="228B22"/>
                          </a:solidFill>
                          <a:latin typeface="Segoe UI"/>
                        </a:rPr>
                        <a:t>Không thất thoát dữ liệu</a:t>
                      </a:r>
                    </a:p>
                  </a:txBody>
                  <a:tcPr>
                    <a:solidFill>
                      <a:srgbClr val="FFFFFF"/>
                    </a:solidFill>
                  </a:tcPr>
                </a:tc>
              </a:tr>
              <a:tr h="574040">
                <a:tc>
                  <a:txBody>
                    <a:bodyPr/>
                    <a:lstStyle/>
                    <a:p>
                      <a:pPr algn="l"/>
                      <a:r>
                        <a:rPr sz="850" b="1">
                          <a:solidFill>
                            <a:srgbClr val="1A2A46"/>
                          </a:solidFill>
                          <a:latin typeface="Segoe UI"/>
                        </a:rPr>
                        <a:t>Mô hình Vector</a:t>
                      </a:r>
                    </a:p>
                  </a:txBody>
                  <a:tcPr>
                    <a:solidFill>
                      <a:srgbClr val="F1F5F9"/>
                    </a:solidFill>
                  </a:tcPr>
                </a:tc>
                <a:tc>
                  <a:txBody>
                    <a:bodyPr/>
                    <a:lstStyle/>
                    <a:p>
                      <a:pPr algn="l"/>
                      <a:r>
                        <a:rPr sz="850">
                          <a:solidFill>
                            <a:srgbClr val="1E232A"/>
                          </a:solidFill>
                          <a:latin typeface="Segoe UI"/>
                        </a:rPr>
                        <a:t>all-MiniLM-L6-v2 (384 chiều, đơn ngữ)</a:t>
                      </a:r>
                    </a:p>
                  </a:txBody>
                  <a:tcPr>
                    <a:solidFill>
                      <a:srgbClr val="F1F5F9"/>
                    </a:solidFill>
                  </a:tcPr>
                </a:tc>
                <a:tc>
                  <a:txBody>
                    <a:bodyPr/>
                    <a:lstStyle/>
                    <a:p>
                      <a:pPr algn="l"/>
                      <a:r>
                        <a:rPr sz="850" b="1">
                          <a:solidFill>
                            <a:srgbClr val="1E5AA0"/>
                          </a:solidFill>
                          <a:latin typeface="Segoe UI"/>
                        </a:rPr>
                        <a:t>vietnamese-sbert (768 chiều) + MiniLM (384 chiều)</a:t>
                      </a:r>
                    </a:p>
                  </a:txBody>
                  <a:tcPr>
                    <a:solidFill>
                      <a:srgbClr val="F1F5F9"/>
                    </a:solidFill>
                  </a:tcPr>
                </a:tc>
                <a:tc>
                  <a:txBody>
                    <a:bodyPr/>
                    <a:lstStyle/>
                    <a:p>
                      <a:pPr algn="ctr"/>
                      <a:r>
                        <a:rPr sz="850" b="1">
                          <a:solidFill>
                            <a:srgbClr val="228B22"/>
                          </a:solidFill>
                          <a:latin typeface="Segoe UI"/>
                        </a:rPr>
                        <a:t>Ngữ cảnh sâu gấp 2 lần</a:t>
                      </a:r>
                    </a:p>
                  </a:txBody>
                  <a:tcPr>
                    <a:solidFill>
                      <a:srgbClr val="F1F5F9"/>
                    </a:solidFill>
                  </a:tcPr>
                </a:tc>
              </a:tr>
              <a:tr h="574040">
                <a:tc>
                  <a:txBody>
                    <a:bodyPr/>
                    <a:lstStyle/>
                    <a:p>
                      <a:pPr algn="l"/>
                      <a:r>
                        <a:rPr sz="850" b="1">
                          <a:solidFill>
                            <a:srgbClr val="1A2A46"/>
                          </a:solidFill>
                          <a:latin typeface="Segoe UI"/>
                        </a:rPr>
                        <a:t>Knowledge Base</a:t>
                      </a:r>
                    </a:p>
                  </a:txBody>
                  <a:tcPr>
                    <a:solidFill>
                      <a:srgbClr val="FFFFFF"/>
                    </a:solidFill>
                  </a:tcPr>
                </a:tc>
                <a:tc>
                  <a:txBody>
                    <a:bodyPr/>
                    <a:lstStyle/>
                    <a:p>
                      <a:pPr algn="l"/>
                      <a:r>
                        <a:rPr sz="850">
                          <a:solidFill>
                            <a:srgbClr val="1E232A"/>
                          </a:solidFill>
                          <a:latin typeface="Segoe UI"/>
                        </a:rPr>
                        <a:t>641 câu tiếng Anh chuẩn (169 chỉ tiêu)</a:t>
                      </a:r>
                    </a:p>
                  </a:txBody>
                  <a:tcPr>
                    <a:solidFill>
                      <a:srgbClr val="FFFFFF"/>
                    </a:solidFill>
                  </a:tcPr>
                </a:tc>
                <a:tc>
                  <a:txBody>
                    <a:bodyPr/>
                    <a:lstStyle/>
                    <a:p>
                      <a:pPr algn="l"/>
                      <a:r>
                        <a:rPr sz="850" b="1">
                          <a:solidFill>
                            <a:srgbClr val="1E5AA0"/>
                          </a:solidFill>
                          <a:latin typeface="Segoe UI"/>
                        </a:rPr>
                        <a:t>1.032 câu song ngữ (391 câu VI + 641 câu EN)</a:t>
                      </a:r>
                    </a:p>
                  </a:txBody>
                  <a:tcPr>
                    <a:solidFill>
                      <a:srgbClr val="FFFFFF"/>
                    </a:solidFill>
                  </a:tcPr>
                </a:tc>
                <a:tc>
                  <a:txBody>
                    <a:bodyPr/>
                    <a:lstStyle/>
                    <a:p>
                      <a:pPr algn="ctr"/>
                      <a:r>
                        <a:rPr sz="850" b="1">
                          <a:solidFill>
                            <a:srgbClr val="228B22"/>
                          </a:solidFill>
                          <a:latin typeface="Segoe UI"/>
                        </a:rPr>
                        <a:t>Chuẩn hóa thể chế VN</a:t>
                      </a:r>
                    </a:p>
                  </a:txBody>
                  <a:tcPr>
                    <a:solidFill>
                      <a:srgbClr val="FFFFFF"/>
                    </a:solidFill>
                  </a:tcPr>
                </a:tc>
              </a:tr>
              <a:tr h="574040">
                <a:tc>
                  <a:txBody>
                    <a:bodyPr/>
                    <a:lstStyle/>
                    <a:p>
                      <a:pPr algn="l"/>
                      <a:r>
                        <a:rPr sz="850" b="1">
                          <a:solidFill>
                            <a:srgbClr val="1A2A46"/>
                          </a:solidFill>
                          <a:latin typeface="Segoe UI"/>
                        </a:rPr>
                        <a:t>Phân loại Cảm xúc</a:t>
                      </a:r>
                    </a:p>
                  </a:txBody>
                  <a:tcPr>
                    <a:solidFill>
                      <a:srgbClr val="F1F5F9"/>
                    </a:solidFill>
                  </a:tcPr>
                </a:tc>
                <a:tc>
                  <a:txBody>
                    <a:bodyPr/>
                    <a:lstStyle/>
                    <a:p>
                      <a:pPr algn="l"/>
                      <a:r>
                        <a:rPr sz="850">
                          <a:solidFill>
                            <a:srgbClr val="1E232A"/>
                          </a:solidFill>
                          <a:latin typeface="Segoe UI"/>
                        </a:rPr>
                        <a:t>DistilBERT 2 lớp (Pos ~78%, Neg ~15%)</a:t>
                      </a:r>
                    </a:p>
                  </a:txBody>
                  <a:tcPr>
                    <a:solidFill>
                      <a:srgbClr val="F1F5F9"/>
                    </a:solidFill>
                  </a:tcPr>
                </a:tc>
                <a:tc>
                  <a:txBody>
                    <a:bodyPr/>
                    <a:lstStyle/>
                    <a:p>
                      <a:pPr algn="l"/>
                      <a:r>
                        <a:rPr sz="850" b="1">
                          <a:solidFill>
                            <a:srgbClr val="1E5AA0"/>
                          </a:solidFill>
                          <a:latin typeface="Segoe UI"/>
                        </a:rPr>
                        <a:t>PhoBERT 3 lớp (Pos 53,9%, Trung tính 32,9%, Neg 13,3%)</a:t>
                      </a:r>
                    </a:p>
                  </a:txBody>
                  <a:tcPr>
                    <a:solidFill>
                      <a:srgbClr val="F1F5F9"/>
                    </a:solidFill>
                  </a:tcPr>
                </a:tc>
                <a:tc>
                  <a:txBody>
                    <a:bodyPr/>
                    <a:lstStyle/>
                    <a:p>
                      <a:pPr algn="ctr"/>
                      <a:r>
                        <a:rPr sz="850" b="1">
                          <a:solidFill>
                            <a:srgbClr val="228B22"/>
                          </a:solidFill>
                          <a:latin typeface="Segoe UI"/>
                        </a:rPr>
                        <a:t>Đột phá lớp Trung tính</a:t>
                      </a:r>
                    </a:p>
                  </a:txBody>
                  <a:tcPr>
                    <a:solidFill>
                      <a:srgbClr val="F1F5F9"/>
                    </a:solidFill>
                  </a:tcPr>
                </a:tc>
              </a:tr>
              <a:tr h="574040">
                <a:tc>
                  <a:txBody>
                    <a:bodyPr/>
                    <a:lstStyle/>
                    <a:p>
                      <a:pPr algn="l"/>
                      <a:r>
                        <a:rPr sz="850" b="1">
                          <a:solidFill>
                            <a:srgbClr val="1A2A46"/>
                          </a:solidFill>
                          <a:latin typeface="Segoe UI"/>
                        </a:rPr>
                        <a:t>Cơ chế Tính toán</a:t>
                      </a:r>
                    </a:p>
                  </a:txBody>
                  <a:tcPr>
                    <a:solidFill>
                      <a:srgbClr val="FFFFFF"/>
                    </a:solidFill>
                  </a:tcPr>
                </a:tc>
                <a:tc>
                  <a:txBody>
                    <a:bodyPr/>
                    <a:lstStyle/>
                    <a:p>
                      <a:pPr algn="l"/>
                      <a:r>
                        <a:rPr sz="850">
                          <a:solidFill>
                            <a:srgbClr val="1E232A"/>
                          </a:solidFill>
                          <a:latin typeface="Segoe UI"/>
                        </a:rPr>
                        <a:t>Cosine similarity từng cặp, Min-Max cục bộ</a:t>
                      </a:r>
                    </a:p>
                  </a:txBody>
                  <a:tcPr>
                    <a:solidFill>
                      <a:srgbClr val="FFFFFF"/>
                    </a:solidFill>
                  </a:tcPr>
                </a:tc>
                <a:tc>
                  <a:txBody>
                    <a:bodyPr/>
                    <a:lstStyle/>
                    <a:p>
                      <a:pPr algn="l"/>
                      <a:r>
                        <a:rPr sz="850" b="1">
                          <a:solidFill>
                            <a:srgbClr val="1E5AA0"/>
                          </a:solidFill>
                          <a:latin typeface="Segoe UI"/>
                        </a:rPr>
                        <a:t>L2-Norm + Ma trận NumPy BLAS (a @ b.T) &lt; 3s, Min-Max toàn cục</a:t>
                      </a:r>
                    </a:p>
                  </a:txBody>
                  <a:tcPr>
                    <a:solidFill>
                      <a:srgbClr val="FFFFFF"/>
                    </a:solidFill>
                  </a:tcPr>
                </a:tc>
                <a:tc>
                  <a:txBody>
                    <a:bodyPr/>
                    <a:lstStyle/>
                    <a:p>
                      <a:pPr algn="ctr"/>
                      <a:r>
                        <a:rPr sz="850" b="1">
                          <a:solidFill>
                            <a:srgbClr val="228B22"/>
                          </a:solidFill>
                          <a:latin typeface="Segoe UI"/>
                        </a:rPr>
                        <a:t>So sánh chéo đa năm chuẩn</a:t>
                      </a:r>
                    </a:p>
                  </a:txBody>
                  <a:tcPr>
                    <a:solidFill>
                      <a:srgbClr val="FFFFFF"/>
                    </a:solidFill>
                  </a:tcPr>
                </a:tc>
              </a:tr>
              <a:tr h="574040">
                <a:tc>
                  <a:txBody>
                    <a:bodyPr/>
                    <a:lstStyle/>
                    <a:p>
                      <a:pPr algn="l"/>
                      <a:r>
                        <a:rPr sz="850" b="1">
                          <a:solidFill>
                            <a:srgbClr val="1A2A46"/>
                          </a:solidFill>
                          <a:latin typeface="Segoe UI"/>
                        </a:rPr>
                        <a:t>Phân tích Ngành</a:t>
                      </a:r>
                    </a:p>
                  </a:txBody>
                  <a:tcPr>
                    <a:solidFill>
                      <a:srgbClr val="F1F5F9"/>
                    </a:solidFill>
                  </a:tcPr>
                </a:tc>
                <a:tc>
                  <a:txBody>
                    <a:bodyPr/>
                    <a:lstStyle/>
                    <a:p>
                      <a:pPr algn="l"/>
                      <a:r>
                        <a:rPr sz="850">
                          <a:solidFill>
                            <a:srgbClr val="1E232A"/>
                          </a:solidFill>
                          <a:latin typeface="Segoe UI"/>
                        </a:rPr>
                        <a:t>Thống kê mẫu gộp chung, không phân hóa</a:t>
                      </a:r>
                    </a:p>
                  </a:txBody>
                  <a:tcPr>
                    <a:solidFill>
                      <a:srgbClr val="F1F5F9"/>
                    </a:solidFill>
                  </a:tcPr>
                </a:tc>
                <a:tc>
                  <a:txBody>
                    <a:bodyPr/>
                    <a:lstStyle/>
                    <a:p>
                      <a:pPr algn="l"/>
                      <a:r>
                        <a:rPr sz="850" b="1">
                          <a:solidFill>
                            <a:srgbClr val="1E5AA0"/>
                          </a:solidFill>
                          <a:latin typeface="Segoe UI"/>
                        </a:rPr>
                        <a:t>Bóc tách 7 tập đoàn theo mô hình kinh doanh cụ thể</a:t>
                      </a:r>
                    </a:p>
                  </a:txBody>
                  <a:tcPr>
                    <a:solidFill>
                      <a:srgbClr val="F1F5F9"/>
                    </a:solidFill>
                  </a:tcPr>
                </a:tc>
                <a:tc>
                  <a:txBody>
                    <a:bodyPr/>
                    <a:lstStyle/>
                    <a:p>
                      <a:pPr algn="ctr"/>
                      <a:r>
                        <a:rPr sz="850" b="1">
                          <a:solidFill>
                            <a:srgbClr val="228B22"/>
                          </a:solidFill>
                          <a:latin typeface="Segoe UI"/>
                        </a:rPr>
                        <a:t>Giải mã sâu sắc nguyên nhân</a:t>
                      </a:r>
                    </a:p>
                  </a:txBody>
                  <a:tcPr>
                    <a:solidFill>
                      <a:srgbClr val="F1F5F9"/>
                    </a:solidFill>
                  </a:tcPr>
                </a:tc>
              </a:tr>
              <a:tr h="574040">
                <a:tc>
                  <a:txBody>
                    <a:bodyPr/>
                    <a:lstStyle/>
                    <a:p>
                      <a:pPr algn="l"/>
                      <a:r>
                        <a:rPr sz="850" b="1">
                          <a:solidFill>
                            <a:srgbClr val="1A2A46"/>
                          </a:solidFill>
                          <a:latin typeface="Segoe UI"/>
                        </a:rPr>
                        <a:t>Khả năng Mở rộng</a:t>
                      </a:r>
                    </a:p>
                  </a:txBody>
                  <a:tcPr>
                    <a:solidFill>
                      <a:srgbClr val="FFFFFF"/>
                    </a:solidFill>
                  </a:tcPr>
                </a:tc>
                <a:tc>
                  <a:txBody>
                    <a:bodyPr/>
                    <a:lstStyle/>
                    <a:p>
                      <a:pPr algn="l"/>
                      <a:r>
                        <a:rPr sz="850">
                          <a:solidFill>
                            <a:srgbClr val="1E232A"/>
                          </a:solidFill>
                          <a:latin typeface="Segoe UI"/>
                        </a:rPr>
                        <a:t>Dừng lại ở biểu đồ tĩnh</a:t>
                      </a:r>
                    </a:p>
                  </a:txBody>
                  <a:tcPr>
                    <a:solidFill>
                      <a:srgbClr val="FFFFFF"/>
                    </a:solidFill>
                  </a:tcPr>
                </a:tc>
                <a:tc>
                  <a:txBody>
                    <a:bodyPr/>
                    <a:lstStyle/>
                    <a:p>
                      <a:pPr algn="l"/>
                      <a:r>
                        <a:rPr sz="850" b="1">
                          <a:solidFill>
                            <a:srgbClr val="1E5AA0"/>
                          </a:solidFill>
                          <a:latin typeface="Segoe UI"/>
                        </a:rPr>
                        <a:t>Sẵn sàng làm Context Retriever cho LLM kiểm toán</a:t>
                      </a:r>
                    </a:p>
                  </a:txBody>
                  <a:tcPr>
                    <a:solidFill>
                      <a:srgbClr val="FFFFFF"/>
                    </a:solidFill>
                  </a:tcPr>
                </a:tc>
                <a:tc>
                  <a:txBody>
                    <a:bodyPr/>
                    <a:lstStyle/>
                    <a:p>
                      <a:pPr algn="ctr"/>
                      <a:r>
                        <a:rPr sz="850" b="1">
                          <a:solidFill>
                            <a:srgbClr val="228B22"/>
                          </a:solidFill>
                          <a:latin typeface="Segoe UI"/>
                        </a:rPr>
                        <a:t>Nền tảng Agentic RAG</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ĐÁNH GIÁ HỆ THỐNG</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ĐÁNH GIÁ SÒNG PHẲNG: ĐIỂM MẠNH &amp; ĐIỂM YẾU KIẾN TRÚC RAG</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05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sp>
        <p:nvSpPr>
          <p:cNvPr id="9" name="Rounded Rectangle 8"/>
          <p:cNvSpPr/>
          <p:nvPr/>
        </p:nvSpPr>
        <p:spPr>
          <a:xfrm>
            <a:off x="731520" y="1170432"/>
            <a:ext cx="5257800" cy="3977639"/>
          </a:xfrm>
          <a:prstGeom prst="roundRect">
            <a:avLst/>
          </a:prstGeom>
          <a:solidFill>
            <a:srgbClr val="FFFFFF"/>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261872"/>
            <a:ext cx="4892040" cy="365760"/>
          </a:xfrm>
          <a:prstGeom prst="rect">
            <a:avLst/>
          </a:prstGeom>
          <a:noFill/>
        </p:spPr>
        <p:txBody>
          <a:bodyPr wrap="none">
            <a:spAutoFit/>
          </a:bodyPr>
          <a:lstStyle/>
          <a:p>
            <a:r>
              <a:rPr b="1" sz="1200">
                <a:solidFill>
                  <a:srgbClr val="228B22"/>
                </a:solidFill>
              </a:rPr>
              <a:t>✔ 4 ĐIỂM MẠNH CỐT LÕI (STRENGTHS)</a:t>
            </a:r>
          </a:p>
        </p:txBody>
      </p:sp>
      <p:sp>
        <p:nvSpPr>
          <p:cNvPr id="11" name="TextBox 10"/>
          <p:cNvSpPr txBox="1"/>
          <p:nvPr/>
        </p:nvSpPr>
        <p:spPr>
          <a:xfrm>
            <a:off x="914400" y="1691640"/>
            <a:ext cx="4892040" cy="3291840"/>
          </a:xfrm>
          <a:prstGeom prst="rect">
            <a:avLst/>
          </a:prstGeom>
          <a:noFill/>
        </p:spPr>
        <p:txBody>
          <a:bodyPr wrap="square">
            <a:spAutoFit/>
          </a:bodyPr>
          <a:lstStyle/>
          <a:p>
            <a:pPr>
              <a:spcAft>
                <a:spcPts val="400"/>
              </a:spcAft>
            </a:pPr>
            <a:r>
              <a:rPr b="1" sz="950">
                <a:solidFill>
                  <a:srgbClr val="1A2A46"/>
                </a:solidFill>
              </a:rPr>
              <a:t>1. Dense Semantic Vượt trội Từ khóa: </a:t>
            </a:r>
            <a:r>
              <a:rPr sz="900">
                <a:solidFill>
                  <a:srgbClr val="1E232A"/>
                </a:solidFill>
              </a:rPr>
              <a:t>Giải quyết triệt để vấn đề từ đồng nghĩa mà BM25 thất bại; nắm bắt ngữ nghĩa trừu tượng trong không gian 768 chiều.</a:t>
            </a:r>
          </a:p>
          <a:p>
            <a:pPr>
              <a:spcAft>
                <a:spcPts val="400"/>
              </a:spcAft>
            </a:pPr>
            <a:r>
              <a:rPr b="1" sz="950">
                <a:solidFill>
                  <a:srgbClr val="1A2A46"/>
                </a:solidFill>
              </a:rPr>
              <a:t>2. Tách biệt Tri thức &amp; Zero Training Cost: </a:t>
            </a:r>
            <a:r>
              <a:rPr sz="900">
                <a:solidFill>
                  <a:srgbClr val="1E232A"/>
                </a:solidFill>
              </a:rPr>
              <a:t>Không cần fine-tune lại mạng nơ-ron; cập nhật tiêu chuẩn mới tức thì (Zero-shot) chỉ bằng cách nạp câu chuẩn.</a:t>
            </a:r>
          </a:p>
          <a:p>
            <a:pPr>
              <a:spcAft>
                <a:spcPts val="400"/>
              </a:spcAft>
            </a:pPr>
            <a:r>
              <a:rPr b="1" sz="950">
                <a:solidFill>
                  <a:srgbClr val="1A2A46"/>
                </a:solidFill>
              </a:rPr>
              <a:t>3. Tốc độ Suy luận Ma trận Siêu tốc (&lt; 3s): </a:t>
            </a:r>
            <a:r>
              <a:rPr sz="900">
                <a:solidFill>
                  <a:srgbClr val="1E232A"/>
                </a:solidFill>
              </a:rPr>
              <a:t>Vector hóa 1 lần duy nhất, tính toán bằng tích vô hướng NumPy A @ B.T. RAM tiêu thụ &lt; 300MB, chi phí API = 0 USD.</a:t>
            </a:r>
          </a:p>
          <a:p>
            <a:pPr>
              <a:spcAft>
                <a:spcPts val="400"/>
              </a:spcAft>
            </a:pPr>
            <a:r>
              <a:rPr b="1" sz="950">
                <a:solidFill>
                  <a:srgbClr val="1A2A46"/>
                </a:solidFill>
              </a:rPr>
              <a:t>4. Tính Minh bạch &amp; Kiểm toán Nguồn 100%: </a:t>
            </a:r>
            <a:r>
              <a:rPr sz="900">
                <a:solidFill>
                  <a:srgbClr val="1E232A"/>
                </a:solidFill>
              </a:rPr>
              <a:t>Zero Hallucination. Mọi chỉ số đều truy vết ngược về từng câu văn và số trang cụ thể trong file PDF gốc.</a:t>
            </a:r>
          </a:p>
        </p:txBody>
      </p:sp>
      <p:sp>
        <p:nvSpPr>
          <p:cNvPr id="12" name="Rounded Rectangle 11"/>
          <p:cNvSpPr/>
          <p:nvPr/>
        </p:nvSpPr>
        <p:spPr>
          <a:xfrm>
            <a:off x="6199632" y="1170432"/>
            <a:ext cx="5257800" cy="3977639"/>
          </a:xfrm>
          <a:prstGeom prst="roundRect">
            <a:avLst/>
          </a:prstGeom>
          <a:solidFill>
            <a:srgbClr val="FFFFFF"/>
          </a:solidFill>
          <a:ln w="12700">
            <a:solidFill>
              <a:srgbClr val="D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261872"/>
            <a:ext cx="4892040" cy="365760"/>
          </a:xfrm>
          <a:prstGeom prst="rect">
            <a:avLst/>
          </a:prstGeom>
          <a:noFill/>
        </p:spPr>
        <p:txBody>
          <a:bodyPr wrap="none">
            <a:spAutoFit/>
          </a:bodyPr>
          <a:lstStyle/>
          <a:p>
            <a:r>
              <a:rPr b="1" sz="1200">
                <a:solidFill>
                  <a:srgbClr val="D62828"/>
                </a:solidFill>
              </a:rPr>
              <a:t>▲ 4 ĐIỂM NGHẼN CẦN CẢI TIẾN (WEAKNESSES)</a:t>
            </a:r>
          </a:p>
        </p:txBody>
      </p:sp>
      <p:sp>
        <p:nvSpPr>
          <p:cNvPr id="14" name="TextBox 13"/>
          <p:cNvSpPr txBox="1"/>
          <p:nvPr/>
        </p:nvSpPr>
        <p:spPr>
          <a:xfrm>
            <a:off x="6382512" y="1691640"/>
            <a:ext cx="4892040" cy="3291840"/>
          </a:xfrm>
          <a:prstGeom prst="rect">
            <a:avLst/>
          </a:prstGeom>
          <a:noFill/>
        </p:spPr>
        <p:txBody>
          <a:bodyPr wrap="square">
            <a:spAutoFit/>
          </a:bodyPr>
          <a:lstStyle/>
          <a:p>
            <a:pPr>
              <a:spcAft>
                <a:spcPts val="400"/>
              </a:spcAft>
            </a:pPr>
            <a:r>
              <a:rPr b="1" sz="950">
                <a:solidFill>
                  <a:srgbClr val="D62828"/>
                </a:solidFill>
              </a:rPr>
              <a:t>1. Sentence Chunking làm Mất Ngữ cảnh Rộng: </a:t>
            </a:r>
            <a:r>
              <a:rPr sz="900">
                <a:solidFill>
                  <a:srgbClr val="1E232A"/>
                </a:solidFill>
              </a:rPr>
              <a:t>Cắt câu độc lập khiến câu phụ thuộc bị mất chủ ngữ, làm giảm điểm tương đồng so với ngữ cảnh toàn đoạn.</a:t>
            </a:r>
          </a:p>
          <a:p>
            <a:pPr>
              <a:spcAft>
                <a:spcPts val="400"/>
              </a:spcAft>
            </a:pPr>
            <a:r>
              <a:rPr b="1" sz="950">
                <a:solidFill>
                  <a:srgbClr val="D62828"/>
                </a:solidFill>
              </a:rPr>
              <a:t>2. Chưa có Parser Bảng biểu (Tabular Data): </a:t>
            </a:r>
            <a:r>
              <a:rPr sz="900">
                <a:solidFill>
                  <a:srgbClr val="1E232A"/>
                </a:solidFill>
              </a:rPr>
              <a:t>Số liệu phát thải Scope 1-2-3 và chỉ số GRI nằm trong Table bị vỡ thành các dòng text rời rạc.</a:t>
            </a:r>
          </a:p>
          <a:p>
            <a:pPr>
              <a:spcAft>
                <a:spcPts val="400"/>
              </a:spcAft>
            </a:pPr>
            <a:r>
              <a:rPr b="1" sz="950">
                <a:solidFill>
                  <a:srgbClr val="D62828"/>
                </a:solidFill>
              </a:rPr>
              <a:t>3. Bi-Encoder Đánh đổi Tương tác Token-Level: </a:t>
            </a:r>
            <a:r>
              <a:rPr sz="900">
                <a:solidFill>
                  <a:srgbClr val="1E232A"/>
                </a:solidFill>
              </a:rPr>
              <a:t>Nén câu thành 1 vector duy nhất làm mất tương tác chéo giữa các cặp từ (Cross-Attention) như Cross-Encoder.</a:t>
            </a:r>
          </a:p>
          <a:p>
            <a:pPr>
              <a:spcAft>
                <a:spcPts val="400"/>
              </a:spcAft>
            </a:pPr>
            <a:r>
              <a:rPr b="1" sz="950">
                <a:solidFill>
                  <a:srgbClr val="D62828"/>
                </a:solidFill>
              </a:rPr>
              <a:t>4. Thiếu Sparse Search &amp; Re-ranking: </a:t>
            </a:r>
            <a:r>
              <a:rPr sz="900">
                <a:solidFill>
                  <a:srgbClr val="1E232A"/>
                </a:solidFill>
              </a:rPr>
              <a:t>Thuần 100% Dense Cosine khiến hệ thống yếu thế khi truy vấn các mã số hiệu kỹ thuật chuẩn mực (ISO, GRI, PAS).</a:t>
            </a:r>
          </a:p>
        </p:txBody>
      </p:sp>
      <p:sp>
        <p:nvSpPr>
          <p:cNvPr id="15" name="Rounded Rectangle 14"/>
          <p:cNvSpPr/>
          <p:nvPr/>
        </p:nvSpPr>
        <p:spPr>
          <a:xfrm>
            <a:off x="731520" y="5257800"/>
            <a:ext cx="10728655" cy="1143000"/>
          </a:xfrm>
          <a:prstGeom prst="roundRect">
            <a:avLst/>
          </a:prstGeom>
          <a:solidFill>
            <a:srgbClr val="EEF4FC"/>
          </a:solidFill>
          <a:ln w="12700">
            <a:solidFill>
              <a:srgbClr val="1E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21808"/>
            <a:ext cx="10362895" cy="1005840"/>
          </a:xfrm>
          <a:prstGeom prst="rect">
            <a:avLst/>
          </a:prstGeom>
          <a:noFill/>
        </p:spPr>
        <p:txBody>
          <a:bodyPr wrap="square">
            <a:spAutoFit/>
          </a:bodyPr>
          <a:lstStyle/>
          <a:p>
            <a:r>
              <a:rPr b="1" sz="1000">
                <a:solidFill>
                  <a:srgbClr val="1A2A46"/>
                </a:solidFill>
              </a:rPr>
              <a:t>KẾT LUẬN CÂN BẰNG KỸ THUẬT (TRADE-OFF CONCLUSION): </a:t>
            </a:r>
            <a:r>
              <a:rPr sz="900">
                <a:solidFill>
                  <a:srgbClr val="1E232A"/>
                </a:solidFill>
              </a:rPr>
              <a:t>Hệ thống hiện tại đã đánh đổi tương tác token-level của Cross-Encoder để lấy tốc độ xử lý ma trận siêu tốc (&lt; 3 giây cho 96k câu). Đây là sự đánh đổi hoàn toàn chính xác cho pha 1 nghiên cứu thực nghiệm. Ở pha 2 nâng cấp sản phẩm, chúng ta sẽ áp dụng mô hình 2 giai đoạn (Two-Stage Retrieval) để dung hòa cả hai ưu thế.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LỘ TRÌNH KỸ THUẬT</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LỘ TRÌNH CẢI TIẾN: HYBRID SEARCH &amp; CROSS-ENCODER RERANKING</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06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pic>
        <p:nvPicPr>
          <p:cNvPr id="9" name="Picture 8" descr="rag_improvements_flow.png"/>
          <p:cNvPicPr>
            <a:picLocks noChangeAspect="1"/>
          </p:cNvPicPr>
          <p:nvPr/>
        </p:nvPicPr>
        <p:blipFill>
          <a:blip r:embed="rId2"/>
          <a:stretch>
            <a:fillRect/>
          </a:stretch>
        </p:blipFill>
        <p:spPr>
          <a:xfrm>
            <a:off x="731520" y="1143000"/>
            <a:ext cx="10728655" cy="3794760"/>
          </a:xfrm>
          <a:prstGeom prst="rect">
            <a:avLst/>
          </a:prstGeom>
        </p:spPr>
      </p:pic>
      <p:sp>
        <p:nvSpPr>
          <p:cNvPr id="10" name="Rounded Rectangle 9"/>
          <p:cNvSpPr/>
          <p:nvPr/>
        </p:nvSpPr>
        <p:spPr>
          <a:xfrm>
            <a:off x="731520" y="5074920"/>
            <a:ext cx="3429000" cy="1325880"/>
          </a:xfrm>
          <a:prstGeom prst="roundRect">
            <a:avLst/>
          </a:prstGeom>
          <a:solidFill>
            <a:srgbClr val="FFFFFF"/>
          </a:solidFill>
          <a:ln w="12700">
            <a:solidFill>
              <a:srgbClr val="1E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138928"/>
            <a:ext cx="3209544" cy="1188720"/>
          </a:xfrm>
          <a:prstGeom prst="rect">
            <a:avLst/>
          </a:prstGeom>
          <a:noFill/>
        </p:spPr>
        <p:txBody>
          <a:bodyPr wrap="square">
            <a:spAutoFit/>
          </a:bodyPr>
          <a:lstStyle/>
          <a:p>
            <a:r>
              <a:rPr sz="950" b="1">
                <a:solidFill>
                  <a:srgbClr val="1E5AA0"/>
                </a:solidFill>
              </a:rPr>
              <a:t>1. HYBRID SEARCH &amp; RRF FUSION
</a:t>
            </a:r>
            <a:r>
              <a:rPr sz="850">
                <a:solidFill>
                  <a:srgbClr val="1E232A"/>
                </a:solidFill>
              </a:rPr>
              <a:t>Chạy song song Dense SBERT (ngữ nghĩa) + Sparse BM25 (từ khóa ISO/GRI). Hợp nhất thứ hạng bằng RRF.</a:t>
            </a:r>
          </a:p>
        </p:txBody>
      </p:sp>
      <p:sp>
        <p:nvSpPr>
          <p:cNvPr id="12" name="Rounded Rectangle 11"/>
          <p:cNvSpPr/>
          <p:nvPr/>
        </p:nvSpPr>
        <p:spPr>
          <a:xfrm>
            <a:off x="4379976" y="5074920"/>
            <a:ext cx="3429000" cy="1325880"/>
          </a:xfrm>
          <a:prstGeom prst="roundRect">
            <a:avLst/>
          </a:prstGeom>
          <a:solidFill>
            <a:srgbClr val="FFFFFF"/>
          </a:solidFill>
          <a:ln w="1270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9704" y="5138928"/>
            <a:ext cx="3209544" cy="1188720"/>
          </a:xfrm>
          <a:prstGeom prst="rect">
            <a:avLst/>
          </a:prstGeom>
          <a:noFill/>
        </p:spPr>
        <p:txBody>
          <a:bodyPr wrap="square">
            <a:spAutoFit/>
          </a:bodyPr>
          <a:lstStyle/>
          <a:p>
            <a:r>
              <a:rPr sz="950" b="1">
                <a:solidFill>
                  <a:srgbClr val="7B2CBF"/>
                </a:solidFill>
              </a:rPr>
              <a:t>2. TWO-STAGE RERANKING
</a:t>
            </a:r>
            <a:r>
              <a:rPr sz="850">
                <a:solidFill>
                  <a:srgbClr val="1E232A"/>
                </a:solidFill>
              </a:rPr>
              <a:t>Bi-Encoder lọc nhanh Top 50 câu trong vài giây -&gt; Cross-Encoder (bge-reranker-large) chấm điểm token-level.</a:t>
            </a:r>
          </a:p>
        </p:txBody>
      </p:sp>
      <p:sp>
        <p:nvSpPr>
          <p:cNvPr id="14" name="Rounded Rectangle 13"/>
          <p:cNvSpPr/>
          <p:nvPr/>
        </p:nvSpPr>
        <p:spPr>
          <a:xfrm>
            <a:off x="8028432" y="5074920"/>
            <a:ext cx="3429000" cy="1325880"/>
          </a:xfrm>
          <a:prstGeom prst="roundRect">
            <a:avLst/>
          </a:prstGeom>
          <a:solidFill>
            <a:srgbClr val="FFFFFF"/>
          </a:solidFill>
          <a:ln w="12700">
            <a:solidFill>
              <a:srgbClr val="E6A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5138928"/>
            <a:ext cx="3209544" cy="1188720"/>
          </a:xfrm>
          <a:prstGeom prst="rect">
            <a:avLst/>
          </a:prstGeom>
          <a:noFill/>
        </p:spPr>
        <p:txBody>
          <a:bodyPr wrap="square">
            <a:spAutoFit/>
          </a:bodyPr>
          <a:lstStyle/>
          <a:p>
            <a:r>
              <a:rPr sz="950" b="1">
                <a:solidFill>
                  <a:srgbClr val="E6AF2E"/>
                </a:solidFill>
              </a:rPr>
              <a:t>3. PARENT-CHILD &amp; TABLE PARSER
</a:t>
            </a:r>
            <a:r>
              <a:rPr sz="850">
                <a:solidFill>
                  <a:srgbClr val="1E232A"/>
                </a:solidFill>
              </a:rPr>
              <a:t>Dùng câu đơn để search chính xác, nhưng trả về cả paragraph cha cho LLM. Dùng `pdfplumber` bóc tách bảng GRI.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LỘ TRÌNH SẢN PHẨM</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TƯƠNG LAI: TỪ RAG ĐỊNH LƯỢNG ĐẾN AGENTIC ESG AUDITOR</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07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pic>
        <p:nvPicPr>
          <p:cNvPr id="9" name="Picture 8" descr="rag_agentic_flow.png"/>
          <p:cNvPicPr>
            <a:picLocks noChangeAspect="1"/>
          </p:cNvPicPr>
          <p:nvPr/>
        </p:nvPicPr>
        <p:blipFill>
          <a:blip r:embed="rId2"/>
          <a:stretch>
            <a:fillRect/>
          </a:stretch>
        </p:blipFill>
        <p:spPr>
          <a:xfrm>
            <a:off x="731520" y="1143000"/>
            <a:ext cx="10728655" cy="3794760"/>
          </a:xfrm>
          <a:prstGeom prst="rect">
            <a:avLst/>
          </a:prstGeom>
        </p:spPr>
      </p:pic>
      <p:sp>
        <p:nvSpPr>
          <p:cNvPr id="10" name="Rounded Rectangle 9"/>
          <p:cNvSpPr/>
          <p:nvPr/>
        </p:nvSpPr>
        <p:spPr>
          <a:xfrm>
            <a:off x="731520" y="5074920"/>
            <a:ext cx="3429000" cy="1325880"/>
          </a:xfrm>
          <a:prstGeom prst="roundRect">
            <a:avLst/>
          </a:prstGeom>
          <a:solidFill>
            <a:srgbClr val="FFFFFF"/>
          </a:solidFill>
          <a:ln w="12700">
            <a:solidFill>
              <a:srgbClr val="1E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138928"/>
            <a:ext cx="3209544" cy="1188720"/>
          </a:xfrm>
          <a:prstGeom prst="rect">
            <a:avLst/>
          </a:prstGeom>
          <a:noFill/>
        </p:spPr>
        <p:txBody>
          <a:bodyPr wrap="square">
            <a:spAutoFit/>
          </a:bodyPr>
          <a:lstStyle/>
          <a:p>
            <a:r>
              <a:rPr sz="950" b="1">
                <a:solidFill>
                  <a:srgbClr val="1E5AA0"/>
                </a:solidFill>
              </a:rPr>
              <a:t>QUỸ ĐẦU TƯ &amp; NGÂN HÀNG
</a:t>
            </a:r>
            <a:r>
              <a:rPr sz="850">
                <a:solidFill>
                  <a:srgbClr val="1E232A"/>
                </a:solidFill>
              </a:rPr>
              <a:t>Thẩm định tự động rủi ro ESG và tín dụng xanh (Green Credit) của hàng trăm doanh nghiệp trước khi giải ngân.</a:t>
            </a:r>
          </a:p>
        </p:txBody>
      </p:sp>
      <p:sp>
        <p:nvSpPr>
          <p:cNvPr id="12" name="Rounded Rectangle 11"/>
          <p:cNvSpPr/>
          <p:nvPr/>
        </p:nvSpPr>
        <p:spPr>
          <a:xfrm>
            <a:off x="4379976" y="5074920"/>
            <a:ext cx="3429000" cy="1325880"/>
          </a:xfrm>
          <a:prstGeom prst="roundRect">
            <a:avLst/>
          </a:prstGeom>
          <a:solidFill>
            <a:srgbClr val="FFFFFF"/>
          </a:solidFill>
          <a:ln w="12700">
            <a:solidFill>
              <a:srgbClr val="D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9704" y="5138928"/>
            <a:ext cx="3209544" cy="1188720"/>
          </a:xfrm>
          <a:prstGeom prst="rect">
            <a:avLst/>
          </a:prstGeom>
          <a:noFill/>
        </p:spPr>
        <p:txBody>
          <a:bodyPr wrap="square">
            <a:spAutoFit/>
          </a:bodyPr>
          <a:lstStyle/>
          <a:p>
            <a:r>
              <a:rPr sz="950" b="1">
                <a:solidFill>
                  <a:srgbClr val="D62828"/>
                </a:solidFill>
              </a:rPr>
              <a:t>CÔNG TY KIỂM TOÁN &amp; TƯ VẤN
</a:t>
            </a:r>
            <a:r>
              <a:rPr sz="850">
                <a:solidFill>
                  <a:srgbClr val="1E232A"/>
                </a:solidFill>
              </a:rPr>
              <a:t>Tiết kiệm 80% thời gian rà soát báo cáo 200 trang; phát hiện ngay dấu hiệu Tẩy xanh (Greenwashing) và mâu thuẫn số liệu.</a:t>
            </a:r>
          </a:p>
        </p:txBody>
      </p:sp>
      <p:sp>
        <p:nvSpPr>
          <p:cNvPr id="14" name="Rounded Rectangle 13"/>
          <p:cNvSpPr/>
          <p:nvPr/>
        </p:nvSpPr>
        <p:spPr>
          <a:xfrm>
            <a:off x="8028432" y="5074920"/>
            <a:ext cx="3429000" cy="1325880"/>
          </a:xfrm>
          <a:prstGeom prst="roundRect">
            <a:avLst/>
          </a:prstGeom>
          <a:solidFill>
            <a:srgbClr val="FFFFFF"/>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5138928"/>
            <a:ext cx="3209544" cy="1188720"/>
          </a:xfrm>
          <a:prstGeom prst="rect">
            <a:avLst/>
          </a:prstGeom>
          <a:noFill/>
        </p:spPr>
        <p:txBody>
          <a:bodyPr wrap="square">
            <a:spAutoFit/>
          </a:bodyPr>
          <a:lstStyle/>
          <a:p>
            <a:r>
              <a:rPr sz="950" b="1">
                <a:solidFill>
                  <a:srgbClr val="228B22"/>
                </a:solidFill>
              </a:rPr>
              <a:t>ĐÓNG GÓI SẢN PHẨM SAAS
</a:t>
            </a:r>
            <a:r>
              <a:rPr sz="850">
                <a:solidFill>
                  <a:srgbClr val="1E232A"/>
                </a:solidFill>
              </a:rPr>
              <a:t>Xây dựng SaaS thương mại: Backend FastAPI + Frontend React/Next.js. Người dùng kéo thả PDF nhận báo cáo trong 30 giây.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FFFFFF"/>
          </a:solidFill>
          <a:ln w="9525">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45720"/>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28016"/>
            <a:ext cx="2926080" cy="237744"/>
          </a:xfrm>
          <a:prstGeom prst="roundRect">
            <a:avLst/>
          </a:prstGeom>
          <a:solidFill>
            <a:srgbClr val="1A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Segoe UI"/>
              </a:rPr>
              <a:t>TỔNG KẾT &amp; HÀNH ĐỘNG</a:t>
            </a:r>
          </a:p>
        </p:txBody>
      </p:sp>
      <p:sp>
        <p:nvSpPr>
          <p:cNvPr id="6" name="TextBox 5"/>
          <p:cNvSpPr txBox="1"/>
          <p:nvPr/>
        </p:nvSpPr>
        <p:spPr>
          <a:xfrm>
            <a:off x="685800" y="384048"/>
            <a:ext cx="9601200" cy="502920"/>
          </a:xfrm>
          <a:prstGeom prst="rect">
            <a:avLst/>
          </a:prstGeom>
          <a:noFill/>
        </p:spPr>
        <p:txBody>
          <a:bodyPr wrap="square" anchor="ctr">
            <a:spAutoFit/>
          </a:bodyPr>
          <a:lstStyle/>
          <a:p>
            <a:r>
              <a:rPr sz="1650" b="1">
                <a:solidFill>
                  <a:srgbClr val="1A2A46"/>
                </a:solidFill>
                <a:latin typeface="Segoe UI"/>
              </a:rPr>
              <a:t>TỔNG KẾT &amp; KHUYẾN NGHỊ HÀNH ĐỘNG CHO TECH LEAD</a:t>
            </a:r>
          </a:p>
        </p:txBody>
      </p:sp>
      <p:sp>
        <p:nvSpPr>
          <p:cNvPr id="7" name="TextBox 6"/>
          <p:cNvSpPr txBox="1"/>
          <p:nvPr/>
        </p:nvSpPr>
        <p:spPr>
          <a:xfrm>
            <a:off x="10789920" y="292608"/>
            <a:ext cx="914400" cy="457200"/>
          </a:xfrm>
          <a:prstGeom prst="rect">
            <a:avLst/>
          </a:prstGeom>
          <a:noFill/>
        </p:spPr>
        <p:txBody>
          <a:bodyPr wrap="none">
            <a:spAutoFit/>
          </a:bodyPr>
          <a:lstStyle/>
          <a:p>
            <a:pPr algn="r"/>
            <a:r>
              <a:rPr sz="1100" b="1">
                <a:solidFill>
                  <a:srgbClr val="646E7D"/>
                </a:solidFill>
                <a:latin typeface="Segoe UI"/>
              </a:rPr>
              <a:t>08 / 08</a:t>
            </a:r>
          </a:p>
        </p:txBody>
      </p:sp>
      <p:sp>
        <p:nvSpPr>
          <p:cNvPr id="8" name="TextBox 7"/>
          <p:cNvSpPr txBox="1"/>
          <p:nvPr/>
        </p:nvSpPr>
        <p:spPr>
          <a:xfrm>
            <a:off x="731520" y="6565392"/>
            <a:ext cx="10789920" cy="256032"/>
          </a:xfrm>
          <a:prstGeom prst="rect">
            <a:avLst/>
          </a:prstGeom>
          <a:noFill/>
        </p:spPr>
        <p:txBody>
          <a:bodyPr wrap="none">
            <a:spAutoFit/>
          </a:bodyPr>
          <a:lstStyle/>
          <a:p>
            <a:r>
              <a:rPr sz="850">
                <a:solidFill>
                  <a:srgbClr val="646E7D"/>
                </a:solidFill>
                <a:latin typeface="Segoe UI"/>
              </a:rPr>
              <a:t>Chuyên đề RAG: Báo cáo Kiểm thử Hiệu năng, So sánh Paper gốc vs Code mới &amp; Lộ trình Nâng cấp | Lê Đan Sơn, Dương Thị Hoàn</a:t>
            </a:r>
          </a:p>
        </p:txBody>
      </p:sp>
      <p:sp>
        <p:nvSpPr>
          <p:cNvPr id="9" name="Rounded Rectangle 8"/>
          <p:cNvSpPr/>
          <p:nvPr/>
        </p:nvSpPr>
        <p:spPr>
          <a:xfrm>
            <a:off x="731520" y="1234440"/>
            <a:ext cx="3429000" cy="3886200"/>
          </a:xfrm>
          <a:prstGeom prst="roundRect">
            <a:avLst/>
          </a:prstGeom>
          <a:solidFill>
            <a:srgbClr val="FFFFFF"/>
          </a:solidFill>
          <a:ln w="12700">
            <a:solidFill>
              <a:srgbClr val="228B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34440"/>
            <a:ext cx="3429000" cy="41148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Segoe UI"/>
              </a:rPr>
              <a:t>KẾT LUẬN VỀ TÍNH 'GOOD ENOUGH'</a:t>
            </a:r>
          </a:p>
        </p:txBody>
      </p:sp>
      <p:sp>
        <p:nvSpPr>
          <p:cNvPr id="11" name="TextBox 10"/>
          <p:cNvSpPr txBox="1"/>
          <p:nvPr/>
        </p:nvSpPr>
        <p:spPr>
          <a:xfrm>
            <a:off x="868680" y="1737360"/>
            <a:ext cx="3154680" cy="3291840"/>
          </a:xfrm>
          <a:prstGeom prst="rect">
            <a:avLst/>
          </a:prstGeom>
          <a:noFill/>
        </p:spPr>
        <p:txBody>
          <a:bodyPr wrap="square">
            <a:spAutoFit/>
          </a:bodyPr>
          <a:lstStyle/>
          <a:p>
            <a:pPr>
              <a:spcAft>
                <a:spcPts val="800"/>
              </a:spcAft>
            </a:pPr>
            <a:r>
              <a:rPr sz="950">
                <a:solidFill>
                  <a:srgbClr val="1E232A"/>
                </a:solidFill>
                <a:latin typeface="Segoe UI"/>
              </a:rPr>
              <a:t>✔ Khớp 98,6% với Kang &amp; Kim (2022) về phân phối thống kê.</a:t>
            </a:r>
          </a:p>
          <a:p>
            <a:pPr>
              <a:spcAft>
                <a:spcPts val="800"/>
              </a:spcAft>
            </a:pPr>
            <a:r>
              <a:rPr sz="950">
                <a:solidFill>
                  <a:srgbClr val="1E232A"/>
                </a:solidFill>
                <a:latin typeface="Segoe UI"/>
              </a:rPr>
              <a:t>✔ Bóc tách rõ nét đặc thù ngành nghề của 7 doanh nghiệp lớn.</a:t>
            </a:r>
          </a:p>
          <a:p>
            <a:pPr>
              <a:spcAft>
                <a:spcPts val="800"/>
              </a:spcAft>
            </a:pPr>
            <a:r>
              <a:rPr sz="950">
                <a:solidFill>
                  <a:srgbClr val="1E232A"/>
                </a:solidFill>
                <a:latin typeface="Segoe UI"/>
              </a:rPr>
              <a:t>✔ Tốc độ siêu tốc (&lt; 3s ma trận), bảo mật 100% On-Premise, zero hallucination.</a:t>
            </a:r>
          </a:p>
        </p:txBody>
      </p:sp>
      <p:sp>
        <p:nvSpPr>
          <p:cNvPr id="12" name="Rounded Rectangle 11"/>
          <p:cNvSpPr/>
          <p:nvPr/>
        </p:nvSpPr>
        <p:spPr>
          <a:xfrm>
            <a:off x="4379976" y="1234440"/>
            <a:ext cx="3429000" cy="3886200"/>
          </a:xfrm>
          <a:prstGeom prst="roundRect">
            <a:avLst/>
          </a:prstGeom>
          <a:solidFill>
            <a:srgbClr val="FFFFFF"/>
          </a:solidFill>
          <a:ln w="12700">
            <a:solidFill>
              <a:srgbClr val="E6AF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9976" y="1234440"/>
            <a:ext cx="3429000" cy="411480"/>
          </a:xfrm>
          <a:prstGeom prst="rect">
            <a:avLst/>
          </a:prstGeom>
          <a:solidFill>
            <a:srgbClr val="E6A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Segoe UI"/>
              </a:rPr>
              <a:t>KẾ HOẠCH NÂNG CẤP SPRINT 1 TUẦN</a:t>
            </a:r>
          </a:p>
        </p:txBody>
      </p:sp>
      <p:sp>
        <p:nvSpPr>
          <p:cNvPr id="14" name="TextBox 13"/>
          <p:cNvSpPr txBox="1"/>
          <p:nvPr/>
        </p:nvSpPr>
        <p:spPr>
          <a:xfrm>
            <a:off x="4517136" y="1737360"/>
            <a:ext cx="3154680" cy="3291840"/>
          </a:xfrm>
          <a:prstGeom prst="rect">
            <a:avLst/>
          </a:prstGeom>
          <a:noFill/>
        </p:spPr>
        <p:txBody>
          <a:bodyPr wrap="square">
            <a:spAutoFit/>
          </a:bodyPr>
          <a:lstStyle/>
          <a:p>
            <a:pPr>
              <a:spcAft>
                <a:spcPts val="800"/>
              </a:spcAft>
            </a:pPr>
            <a:r>
              <a:rPr sz="950">
                <a:solidFill>
                  <a:srgbClr val="1E232A"/>
                </a:solidFill>
                <a:latin typeface="Segoe UI"/>
              </a:rPr>
              <a:t>▲ Tích hợp Sparse BM25 + Thuật toán RRF để bắt từ khóa chuẩn mực (ISO/GRI).</a:t>
            </a:r>
          </a:p>
          <a:p>
            <a:pPr>
              <a:spcAft>
                <a:spcPts val="800"/>
              </a:spcAft>
            </a:pPr>
            <a:r>
              <a:rPr sz="950">
                <a:solidFill>
                  <a:srgbClr val="1E232A"/>
                </a:solidFill>
                <a:latin typeface="Segoe UI"/>
              </a:rPr>
              <a:t>▲ Thử nghiệm Cross-Encoder Reranker trên Top 50 câu.</a:t>
            </a:r>
          </a:p>
          <a:p>
            <a:pPr>
              <a:spcAft>
                <a:spcPts val="800"/>
              </a:spcAft>
            </a:pPr>
            <a:r>
              <a:rPr sz="950">
                <a:solidFill>
                  <a:srgbClr val="1E232A"/>
                </a:solidFill>
                <a:latin typeface="Segoe UI"/>
              </a:rPr>
              <a:t>▲ Tích hợp `pdfplumber` bóc tách dữ liệu bảng biểu phát thải Scope 1-2-3.</a:t>
            </a:r>
          </a:p>
        </p:txBody>
      </p:sp>
      <p:sp>
        <p:nvSpPr>
          <p:cNvPr id="15" name="Rounded Rectangle 14"/>
          <p:cNvSpPr/>
          <p:nvPr/>
        </p:nvSpPr>
        <p:spPr>
          <a:xfrm>
            <a:off x="8028432" y="1234440"/>
            <a:ext cx="3429000" cy="3886200"/>
          </a:xfrm>
          <a:prstGeom prst="roundRect">
            <a:avLst/>
          </a:prstGeom>
          <a:solidFill>
            <a:srgbClr val="FFFFFF"/>
          </a:solidFill>
          <a:ln w="12700">
            <a:solidFill>
              <a:srgbClr val="1E5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2" y="1234440"/>
            <a:ext cx="3429000" cy="411480"/>
          </a:xfrm>
          <a:prstGeom prst="rect">
            <a:avLst/>
          </a:prstGeom>
          <a:solidFill>
            <a:srgbClr val="1E5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Segoe UI"/>
              </a:rPr>
              <a:t>ĐỀ XUẤT HÀNH ĐỘNG DÀI HẠN</a:t>
            </a:r>
          </a:p>
        </p:txBody>
      </p:sp>
      <p:sp>
        <p:nvSpPr>
          <p:cNvPr id="17" name="TextBox 16"/>
          <p:cNvSpPr txBox="1"/>
          <p:nvPr/>
        </p:nvSpPr>
        <p:spPr>
          <a:xfrm>
            <a:off x="8165592" y="1737360"/>
            <a:ext cx="3154680" cy="3291840"/>
          </a:xfrm>
          <a:prstGeom prst="rect">
            <a:avLst/>
          </a:prstGeom>
          <a:noFill/>
        </p:spPr>
        <p:txBody>
          <a:bodyPr wrap="square">
            <a:spAutoFit/>
          </a:bodyPr>
          <a:lstStyle/>
          <a:p>
            <a:pPr>
              <a:spcAft>
                <a:spcPts val="800"/>
              </a:spcAft>
            </a:pPr>
            <a:r>
              <a:rPr sz="950">
                <a:solidFill>
                  <a:srgbClr val="1E232A"/>
                </a:solidFill>
                <a:latin typeface="Segoe UI"/>
              </a:rPr>
              <a:t>★ Giữ nguyên Core Dense SBERT Engine làm nền tảng ổn định.</a:t>
            </a:r>
          </a:p>
          <a:p>
            <a:pPr>
              <a:spcAft>
                <a:spcPts val="800"/>
              </a:spcAft>
            </a:pPr>
            <a:r>
              <a:rPr sz="950">
                <a:solidFill>
                  <a:srgbClr val="1E232A"/>
                </a:solidFill>
                <a:latin typeface="Segoe UI"/>
              </a:rPr>
              <a:t>★ Chuẩn bị hạ tầng API nạp context cho LLM (Agentic ESG Auditor).</a:t>
            </a:r>
          </a:p>
          <a:p>
            <a:pPr>
              <a:spcAft>
                <a:spcPts val="800"/>
              </a:spcAft>
            </a:pPr>
            <a:r>
              <a:rPr sz="950">
                <a:solidFill>
                  <a:srgbClr val="1E232A"/>
                </a:solidFill>
                <a:latin typeface="Segoe UI"/>
              </a:rPr>
              <a:t>★ Đóng gói demo tương tác cho nhà đầu tư và hội đồng đánh giá.</a:t>
            </a:r>
          </a:p>
        </p:txBody>
      </p:sp>
      <p:sp>
        <p:nvSpPr>
          <p:cNvPr id="18" name="Rounded Rectangle 17"/>
          <p:cNvSpPr/>
          <p:nvPr/>
        </p:nvSpPr>
        <p:spPr>
          <a:xfrm>
            <a:off x="731520" y="5257800"/>
            <a:ext cx="10728655" cy="1143000"/>
          </a:xfrm>
          <a:prstGeom prst="roundRect">
            <a:avLst/>
          </a:prstGeom>
          <a:solidFill>
            <a:srgbClr val="1A2A46"/>
          </a:solidFill>
          <a:ln w="12700">
            <a:solidFill>
              <a:srgbClr val="00A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321808"/>
            <a:ext cx="10362895" cy="1005840"/>
          </a:xfrm>
          <a:prstGeom prst="rect">
            <a:avLst/>
          </a:prstGeom>
          <a:noFill/>
        </p:spPr>
        <p:txBody>
          <a:bodyPr wrap="square">
            <a:spAutoFit/>
          </a:bodyPr>
          <a:lstStyle/>
          <a:p>
            <a:pPr algn="ctr"/>
            <a:r>
              <a:rPr b="1" sz="1300">
                <a:solidFill>
                  <a:srgbClr val="E6AF2E"/>
                </a:solidFill>
              </a:rPr>
              <a:t>XIN TRÂN TRỌNG CẢM ƠN TECH LEAD &amp; HỘI ĐỒNG!
</a:t>
            </a:r>
            <a:r>
              <a:rPr sz="1000">
                <a:solidFill>
                  <a:srgbClr val="FFFFFF"/>
                </a:solidFill>
              </a:rPr>
              <a:t>Sẵn sàng lắng nghe câu hỏi phản biện kỹ thuật và góp ý chuyên sâu về kiến trúc hệ thống.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