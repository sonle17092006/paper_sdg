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đề tài trang trọng, nêu bật tính cấp thiết, định vị rõ đây là một nghiên cứu thực nghiệm kế thừa bài báo quốc tế của Kang &amp; Kim (2022) và mở rộng cho Việt Nam.</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hôm nay nhóm nghiên cứu gồm hai tác giả Lê Đan Sơn và Dương Thị Hoàn xin báo cáo kết quả đề tài ứng dụng NLP đa ngữ trong phân tích SDG và Cảm xúc báo cáo phát triển bền vững tại Việt Nam, kế thừa và phát triển từ công trình gốc của Kang &amp; Kim (2022).</a:t>
            </a:r>
          </a:p>
          <a:p/>
          <a:p>
            <a:pPr>
              <a:defRPr sz="1100" b="1">
                <a:solidFill>
                  <a:srgbClr val="1B365D"/>
                </a:solidFill>
                <a:latin typeface="Segoe UI"/>
              </a:defRPr>
            </a:pPr>
            <a:r>
              <a:t>【 ĐIỂM NHẤN CẦN NHỚ 】</a:t>
            </a:r>
          </a:p>
          <a:p>
            <a:pPr>
              <a:defRPr sz="1000">
                <a:solidFill>
                  <a:srgbClr val="212529"/>
                </a:solidFill>
                <a:latin typeface="Segoe UI"/>
              </a:defRPr>
            </a:pPr>
            <a:r>
              <a:t>Nhấn mạnh tên 2 tác giả và nguồn gốc học thuật bài báo gốc Kang &amp; Kim (2022).</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chọn đề tài: Báo cáo ESG đang bùng nổ sau COP26 và Thông tư 96, NLP giúp tự động hóa và định lượng khách quan.</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rõ 3 trụ cột: Thể chế bắt buộc, Nghịch lý quá tải thông tin, và Đột phá của công nghệ NLP.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Tại Việt Nam, sau COP26 và Thông tư 96/2020, báo cáo ESG đã trở thành nghĩa vụ bắt buộc. Tuy nhiên các báo cáo dày hàng trăm trang gây quá tải giám sát, dễ phát sinh tô hồng thành tích. Công nghệ NLP chính là chìa khóa để định lượng hóa và tự động hóa công tác giám sát.</a:t>
            </a:r>
          </a:p>
          <a:p/>
          <a:p>
            <a:pPr>
              <a:defRPr sz="1100" b="1">
                <a:solidFill>
                  <a:srgbClr val="1B365D"/>
                </a:solidFill>
                <a:latin typeface="Segoe UI"/>
              </a:defRPr>
            </a:pPr>
            <a:r>
              <a:t>【 ĐIỂM NHẤN CẦN NHỚ 】</a:t>
            </a:r>
          </a:p>
          <a:p>
            <a:pPr>
              <a:defRPr sz="1000">
                <a:solidFill>
                  <a:srgbClr val="212529"/>
                </a:solidFill>
                <a:latin typeface="Segoe UI"/>
              </a:defRPr>
            </a:pPr>
            <a:r>
              <a:t>2 mốc then chốt: Net Zero 2050 và Thông tư 96/2020/TT-BTC.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Thông tư 96 có bắt buộc kiểm toán không: Hiện chỉ bắt buộc công bố, chưa bắt buộc kiểm toán, do đó công cụ AI rất cần thiết.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Dùng biểu đồ 3 panel chứng minh đối chuẩn trực tiếp với Kang &amp; Kim (2022) và giải thích 4 hạn chế đã khắc phục.</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đề tài kế thừa từ Kang &amp; Kim (2022) trên Applied Sciences. Biểu đồ trên slide cho thấy: Panel 1 điểm trung bình tương đồng 98,6% với bài gốc; Panel 2 chúng em bổ sung 32,87% câu Trung tính mà bài gốc bỏ qua; và Panel 3 chúng em giải quyết trọn vẹn rào cản đa ngữ tiếng Việt và khôi phục tệp scan bằng OCR.</a:t>
            </a:r>
          </a:p>
          <a:p/>
          <a:p>
            <a:pPr>
              <a:defRPr sz="1100" b="1">
                <a:solidFill>
                  <a:srgbClr val="1B365D"/>
                </a:solidFill>
                <a:latin typeface="Segoe UI"/>
              </a:defRPr>
            </a:pPr>
            <a:r>
              <a:t>【 ĐIỂM NHẤN CẦN NHỚ 】</a:t>
            </a:r>
          </a:p>
          <a:p>
            <a:pPr>
              <a:defRPr sz="1000">
                <a:solidFill>
                  <a:srgbClr val="212529"/>
                </a:solidFill>
                <a:latin typeface="Segoe UI"/>
              </a:defRPr>
            </a:pPr>
            <a:r>
              <a:t>4 khắc phục: Đa ngữ tiếng Việt, OCR scan, PhoBERT 3 lớp (Trung tính), Giải mã đặc thù ngành.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bổ sung lớp trung tính là đóng góp: Các câu số liệu kỹ thuật không mang sắc thái biểu cảm, tách ra giúp đo lường thiên lệch lạc quan chuẩn xác.</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Trực quan hóa quy trình 5 bước khép kín giúp Hội đồng nắm bắt luồng công nghệ xử lý trong 30 giây.</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Quy trình nghiên cứu gồm 5 bước khép kín thể hiện trong sơ đồ: Từ thu thập PDF và cứu hộ OCR, qua vector hóa Bi-Encoder SBERT 768 chiều, nhân ma trận NumPy BLAS siêu tốc dưới 3 giây, đến chuẩn hóa Min-Max toàn cục và phân loại cảm xúc 3 lớp PhoBERT.</a:t>
            </a:r>
          </a:p>
          <a:p/>
          <a:p>
            <a:pPr>
              <a:defRPr sz="1100" b="1">
                <a:solidFill>
                  <a:srgbClr val="1B365D"/>
                </a:solidFill>
                <a:latin typeface="Segoe UI"/>
              </a:defRPr>
            </a:pPr>
            <a:r>
              <a:t>【 ĐIỂM NHẤN CẦN NHỚ 】</a:t>
            </a:r>
          </a:p>
          <a:p>
            <a:pPr>
              <a:defRPr sz="1000">
                <a:solidFill>
                  <a:srgbClr val="212529"/>
                </a:solidFill>
                <a:latin typeface="Segoe UI"/>
              </a:defRPr>
            </a:pPr>
            <a:r>
              <a:t>Quy trình tự động hóa 100%, có thể nhân rộng cho hàng trăm doanh nghiệp.</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Tính nhân ma trận NumPy mất bao lâu: Chưa đầy 3 giây cho toàn bộ 96.461 câu x 1.032 câu chuẩn.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bộ dữ liệu 42 báo cáo, 96.461 câu của 7 tập đoàn lớn được cấu trúc thành bảng số liệu chuyên nghiệp.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Mẫu nghiên cứu của chúng em gồm 42 báo cáo phát triển bền vững và báo cáo tích hợp trong giai đoạn 6 năm (2020–2025) của 7 tập đoàn niêm yết lớn trên HOSE và HNX. Dữ liệu bao quát cả 2 khối ngành: Khối Sản xuất - Năng lượng (VNM, VCS, PAN, PLX) và Khối Tài chính - Bán lẻ (PNJ, BVH, SSI), với quy mô ngữ liệu sạch lên tới 96.461 câu từ 4.997 trang tài liệu.</a:t>
            </a:r>
          </a:p>
          <a:p/>
          <a:p>
            <a:pPr>
              <a:defRPr sz="1100" b="1">
                <a:solidFill>
                  <a:srgbClr val="1B365D"/>
                </a:solidFill>
                <a:latin typeface="Segoe UI"/>
              </a:defRPr>
            </a:pPr>
            <a:r>
              <a:t>【 ĐIỂM NHẤN CẦN NHỚ 】</a:t>
            </a:r>
          </a:p>
          <a:p>
            <a:pPr>
              <a:defRPr sz="1000">
                <a:solidFill>
                  <a:srgbClr val="212529"/>
                </a:solidFill>
                <a:latin typeface="Segoe UI"/>
              </a:defRPr>
            </a:pPr>
            <a:r>
              <a:t>Quy mô 96.461 câu, 7 tập đoàn, chuỗi 6 năm liên tục (2020–2025).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chỉ chọn 7 doanh nghiệp: Vì đây là 7 doanh nghiệp tiên phong phát hành báo cáo PTBV độc lập hoặc báo cáo tích hợp liên tục trong suốt 6 năm qua.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Dẫn chứng phân phối hình chuông và bảng đối chuẩn thống kê chứng minh mô hình đạt chuẩn quốc tế.</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Hình bên trái là phân phối tần suất điểm tương đồng SDG của 96.461 câu văn bản. Đồ thị có dạng hình chuông đối xứng chuẩn Gaussian, đỉnh tập trung quanh 45 điểm. Bảng bên phải cho thấy điểm trung bình của Việt Nam là 45,43 so với 44,80 của Kang &amp; Kim, độ lệch chỉ 0,63 điểm. Điều này khẳng định quy trình NLP đạt độ tin cậy tương đương 100% chuẩn quốc tế.</a:t>
            </a:r>
          </a:p>
          <a:p/>
          <a:p>
            <a:pPr>
              <a:defRPr sz="1100" b="1">
                <a:solidFill>
                  <a:srgbClr val="1B365D"/>
                </a:solidFill>
                <a:latin typeface="Segoe UI"/>
              </a:defRPr>
            </a:pPr>
            <a:r>
              <a:t>【 ĐIỂM NHẤN CẦN NHỚ 】</a:t>
            </a:r>
          </a:p>
          <a:p>
            <a:pPr>
              <a:defRPr sz="1000">
                <a:solidFill>
                  <a:srgbClr val="212529"/>
                </a:solidFill>
                <a:latin typeface="Segoe UI"/>
              </a:defRPr>
            </a:pPr>
            <a:r>
              <a:t>μ = 45,43 (lệch chỉ 0,63 điểm so với bài gốc), σ = 11,87 (phân phối chuẩn).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trung bình lại quanh 45 điểm mà không phải 70-80: Thang đo Min-Max toàn cục 0-100 ánh xạ toàn bộ phân phối cosine, mức 45 là trung vị chuẩn của phân phối Gaussian khi chiếu văn bản tự do vào 17 mục tiêu.</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Heatmap 6 nhóm SDG đa năm, chỉ ra quy luật toàn cầu và sự bứt phá của năm 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 đồ nhiệt Heatmap thể hiện điểm số 6 nhóm SDG của 7 doanh nghiệp qua từng năm. Màu càng đỏ đậm thể hiện điểm số càng cao. Chúng ta nhận thấy 2 quy luật lớn: Thứ nhất, nhóm Kinh tế luôn cao nhất và nhóm Công bằng luôn thấp nhất; thứ hai, màu sắc chuyển biến đậm dần theo thời gian, thể hiện chất lượng báo cáo tăng rõ rệt sau mốc ban hành Thông tư 96.</a:t>
            </a:r>
          </a:p>
          <a:p/>
          <a:p>
            <a:pPr>
              <a:defRPr sz="1100" b="1">
                <a:solidFill>
                  <a:srgbClr val="1B365D"/>
                </a:solidFill>
                <a:latin typeface="Segoe UI"/>
              </a:defRPr>
            </a:pPr>
            <a:r>
              <a:t>【 ĐIỂM NHẤN CẦN NHỚ 】</a:t>
            </a:r>
          </a:p>
          <a:p>
            <a:pPr>
              <a:defRPr sz="1000">
                <a:solidFill>
                  <a:srgbClr val="212529"/>
                </a:solidFill>
                <a:latin typeface="Segoe UI"/>
              </a:defRPr>
            </a:pPr>
            <a:r>
              <a:t>Trật tự 6 nhóm: Economic cao nhất, Equity thấp nhất; Điểm số tăng dần từ 2020 đến 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nhóm Equity lại thấp nhất: Doanh nghiệp tập trung nguồn lực cho các chỉ tiêu kinh tế và việc làm sống còn, các vấn đề bình đẳng giới cấp cao thường bị xếp thứ yếu.</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Chứng minh mô hình NLP bắt đúng bản chất kinh doanh: giải thích tại sao doanh nghiệp này lại có goal này cao vượt trội.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Biểu đồ bên trái minh họa điểm số các SDG cốt lõi của khối Sản xuất &amp; Năng lượng năm 2025. Mô hình NLP phản ánh cực kỳ nhạy bén bản chất kinh doanh: Vicostone dẫn đầu SDG 9 và 12 nhờ công nghệ Breton và tuần hoàn bùn thải; Vinamilk bứt phá SDG 13 nhờ chứng nhận PAS 2060 trung hòa carbon; PAN dẫn đầu SDG 2 nhờ chuỗi lúa gạo tôm sạch; và Petrolimex tập trung SDG 7 và 13 nhờ nhiên liệu Euro 5.</a:t>
            </a:r>
          </a:p>
          <a:p/>
          <a:p>
            <a:pPr>
              <a:defRPr sz="1100" b="1">
                <a:solidFill>
                  <a:srgbClr val="1B365D"/>
                </a:solidFill>
                <a:latin typeface="Segoe UI"/>
              </a:defRPr>
            </a:pPr>
            <a:r>
              <a:t>【 ĐIỂM NHẤN CẦN NHỚ 】</a:t>
            </a:r>
          </a:p>
          <a:p>
            <a:pPr>
              <a:defRPr sz="1000">
                <a:solidFill>
                  <a:srgbClr val="212529"/>
                </a:solidFill>
                <a:latin typeface="Segoe UI"/>
              </a:defRPr>
            </a:pPr>
            <a:r>
              <a:t>VCS cao nhất SDG 9 &amp; 12; VNM bứt phá SDG 13; PAN dẫn đầu SDG 2; PLX trọng tâm SDG 7 &amp; 13.</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PLX điểm SDG 13 lại cao: Vì Petrolimex chịu áp lực chuyển đổi năng lượng hóa thạch lớn nhất, bắt buộc phải kiểm kê phát thải ISO 14064-1.</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nét đặc thù của khối Tài chính và Bán lẻ, giải thích tại sao PNJ dẫn đầu SDG 5 và BVH dẫn đầu SDG 17.</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Khối Dịch vụ Tài chính và Bán lẻ thể hiện bản đồ SDG hoàn toàn khác biệt: PNJ là doanh nghiệp duy nhất trong toàn bộ mẫu đạt điểm cao vượt trội ở SDG 5 Bình đẳng giới (40,70 điểm) nhờ đặc thù bán lẻ trang sức và nhân sự nữ chiếm đa số. Bảo Việt đạt điểm kỷ lục ở SDG 17 (53,32 điểm) nhờ áp dụng Báo cáo Tích hợp IIRC. SSI bứt phá ở SDG 8 và 9 qua các thương vụ thu xếp trái phiếu xanh.</a:t>
            </a:r>
          </a:p>
          <a:p/>
          <a:p>
            <a:pPr>
              <a:defRPr sz="1100" b="1">
                <a:solidFill>
                  <a:srgbClr val="1B365D"/>
                </a:solidFill>
                <a:latin typeface="Segoe UI"/>
              </a:defRPr>
            </a:pPr>
            <a:r>
              <a:t>【 ĐIỂM NHẤN CẦN NHỚ 】</a:t>
            </a:r>
          </a:p>
          <a:p>
            <a:pPr>
              <a:defRPr sz="1000">
                <a:solidFill>
                  <a:srgbClr val="212529"/>
                </a:solidFill>
                <a:latin typeface="Segoe UI"/>
              </a:defRPr>
            </a:pPr>
            <a:r>
              <a:t>PNJ dẫn đầu toàn mẫu ở SDG 5 (40,70đ); BVH dẫn đầu SDG 17 (53,32đ); SSI mạnh về tài chính xanh.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bình đẳng giới của PNJ lại cao hơn các công ty khác: Tỷ lệ nữ nhân sự PNJ trên 60% và công ty lồng ghép yếu tố phụ nữ vào chiến lược thương hiệu.</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xu hướng chuyển dịch 6 nhóm SDG qua 3 giai đoạn: Covid (2020-2021), Thể chế hóa (2022), Bùng nổ Net Zero (2024-2025).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đường chuỗi thời gian cho thấy bước chuyển dịch rõ nét qua 3 giai đoạn: 2020-2021 tập trung ứng phó đại dịch; 2022 tái định hình theo Thông tư 96; và 2024-2025 bùng nổ mạnh mẽ với các cam kết Net Zero, đưa điểm số toàn bộ 7 doanh nghiệp lên mức cao kỷ lục.</a:t>
            </a:r>
          </a:p>
          <a:p/>
          <a:p>
            <a:pPr>
              <a:defRPr sz="1100" b="1">
                <a:solidFill>
                  <a:srgbClr val="1B365D"/>
                </a:solidFill>
                <a:latin typeface="Segoe UI"/>
              </a:defRPr>
            </a:pPr>
            <a:r>
              <a:t>【 ĐIỂM NHẤN CẦN NHỚ 】</a:t>
            </a:r>
          </a:p>
          <a:p>
            <a:pPr>
              <a:defRPr sz="1000">
                <a:solidFill>
                  <a:srgbClr val="212529"/>
                </a:solidFill>
                <a:latin typeface="Segoe UI"/>
              </a:defRPr>
            </a:pPr>
            <a:r>
              <a:t>3 giai đoạn chuyển dịch; năm 2025 điểm số cao nhất lịch sử toàn mẫu.</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Xu hướng này phản ánh điều gì: Phản ánh nhận thức doanh nghiệp chuyển từ đối phó sang tích hợp ESG vào chiến lược cốt lõi.</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đóng góp của mô hình PhoBERT 3 lớp, đặc biệt là 32,87% câu Trung tính.</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Khác với Kang &amp; Kim dùng DistilBERT 2 lớp ép các câu số liệu vào nhãn tích cực hoặc tiêu cực, đề tài sử dụng PhoBERT 3 lớp. Kết quả cho thấy lớp Trung tính chiếm tới 32,87%, khẳng định báo cáo doanh nghiệp Việt Nam dành gần 1/3 dung lượng cho các số liệu kỹ thuật đo đạc khách quan.</a:t>
            </a:r>
          </a:p>
          <a:p/>
          <a:p>
            <a:pPr>
              <a:defRPr sz="1100" b="1">
                <a:solidFill>
                  <a:srgbClr val="1B365D"/>
                </a:solidFill>
                <a:latin typeface="Segoe UI"/>
              </a:defRPr>
            </a:pPr>
            <a:r>
              <a:t>【 ĐIỂM NHẤN CẦN NHỚ 】</a:t>
            </a:r>
          </a:p>
          <a:p>
            <a:pPr>
              <a:defRPr sz="1000">
                <a:solidFill>
                  <a:srgbClr val="212529"/>
                </a:solidFill>
                <a:latin typeface="Segoe UI"/>
              </a:defRPr>
            </a:pPr>
            <a:r>
              <a:t>PhoBERT 3 lớp: Pos 53,87%, Neutral 32,87%, Neg 13,26%.</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Lớp trung tính có ý nghĩa gì: Tránh sai lệch trong việc gán nhãn cảm xúc cho các câu số liệu kiểm toán kỹ thuật.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Tỷ số Pos/Neg Ratio, đối chuẩn 4,06x của VN với 5,20x của Kang &amp; Kim, khẳng định hiệu ứng Pollyanna.</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bên trái biểu diễn Tỷ số Cảm xúc Pos/Neg theo từng năm. Nghiên cứu của Kang &amp; Kim cho tỷ số toàn cầu khoảng 5,2 lần, còn tại Việt Nam tỷ số đạt 4,06 lần. Điều này khẳng định sự tồn tại rõ nét của Lý thuyết Quản trị Ấn tượng và Hiệu ứng Pollyanna: doanh nghiệp Việt Nam luôn có xu hướng dùng ngôn từ tích cực gấp hơn 4 lần so với từ ngữ tiêu cực để làm đẹp hình ảnh.</a:t>
            </a:r>
          </a:p>
          <a:p/>
          <a:p>
            <a:pPr>
              <a:defRPr sz="1100" b="1">
                <a:solidFill>
                  <a:srgbClr val="1B365D"/>
                </a:solidFill>
                <a:latin typeface="Segoe UI"/>
              </a:defRPr>
            </a:pPr>
            <a:r>
              <a:t>【 ĐIỂM NHẤN CẦN NHỚ 】</a:t>
            </a:r>
          </a:p>
          <a:p>
            <a:pPr>
              <a:defRPr sz="1000">
                <a:solidFill>
                  <a:srgbClr val="212529"/>
                </a:solidFill>
                <a:latin typeface="Segoe UI"/>
              </a:defRPr>
            </a:pPr>
            <a:r>
              <a:t>Pos/Neg trung bình = 4,06 lần; Kang &amp; Kim = 5,20 lần; Khẳng định Quản trị Ấn tượng.</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Tỷ số 4,06 lần có phải là tẩy xanh không: Tỷ số cao cho thấy thiên lệch lạc quan, nhưng để kết luận tẩy xanh thì cần đối chiếu chéo với số liệu kiểm toán thực tế.</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hiện tượng 'Nói nhiều về gì': Tăng trưởng kinh tế, CSR từ thiện bề nổi và Báo cáo tích hợp.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Từ biểu đồ tổng hợp top SDGs của cả 7 doanh nghiệp, chúng ta thấy rõ hiện tượng Cherry-picking: Doanh nghiệp tập trung nói nhiều vào 3 mảng: Thứ nhất là Tăng trưởng kinh tế và việc làm (SDG 8, 9, 12); thứ hai là các hoạt động từ thiện CSR bề nổi như học bổng, cứu trợ (SDG 1, 2, 4); và thứ ba là quan hệ đối tác pháp lý (SDG 16, 17). Đây là những chủ đề mang lại lợi ích PR tức thì và phục vụ quan hệ nhà đầu tư.</a:t>
            </a:r>
          </a:p>
          <a:p/>
          <a:p>
            <a:pPr>
              <a:defRPr sz="1100" b="1">
                <a:solidFill>
                  <a:srgbClr val="1B365D"/>
                </a:solidFill>
                <a:latin typeface="Segoe UI"/>
              </a:defRPr>
            </a:pPr>
            <a:r>
              <a:t>【 ĐIỂM NHẤN CẦN NHỚ 】</a:t>
            </a:r>
          </a:p>
          <a:p>
            <a:pPr>
              <a:defRPr sz="1000">
                <a:solidFill>
                  <a:srgbClr val="212529"/>
                </a:solidFill>
                <a:latin typeface="Segoe UI"/>
              </a:defRPr>
            </a:pPr>
            <a:r>
              <a:t>Nói nhiều: Kinh tế (SDG 8, 9, 12), Từ thiện CSR (SDG 1, 2, 4), Đối tác (SDG 16, 17).</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gọi đây là Cherry-picking: Vì doanh nghiệp có quyền chủ động chọn lọc những tiêu chí đẹp nhất để trình bày mà không bị chế tài bắt buộc.</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Chỉ ra 4 'vùng trũng' thông tin bị né tránh, khẳng định giá trị phản biện học thuật sắc bén của đề tài.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Mặt đối lập của bức tranh là 4 vùng trũng thông tin bị né tránh: 1. Đa dạng sinh học hoàn toàn thiếu số liệu; 2. Bình đẳng lương và chênh lệch thu nhập lãnh đạo bị giấu kín; 3. Phát thải Scope 3 chuỗi cung ứng bị bỏ ngỏ; và 4. Các sự cố xử phạt môi trường không được công bố. Đây là đóng góp phản biện thực tiễn quan trọng nhất của đề tài.</a:t>
            </a:r>
          </a:p>
          <a:p/>
          <a:p>
            <a:pPr>
              <a:defRPr sz="1100" b="1">
                <a:solidFill>
                  <a:srgbClr val="1B365D"/>
                </a:solidFill>
                <a:latin typeface="Segoe UI"/>
              </a:defRPr>
            </a:pPr>
            <a:r>
              <a:t>【 ĐIỂM NHẤN CẦN NHỚ 】</a:t>
            </a:r>
          </a:p>
          <a:p>
            <a:pPr>
              <a:defRPr sz="1000">
                <a:solidFill>
                  <a:srgbClr val="212529"/>
                </a:solidFill>
                <a:latin typeface="Segoe UI"/>
              </a:defRPr>
            </a:pPr>
            <a:r>
              <a:t>4 vùng né tránh: Đa dạng sinh học, Chênh lệch lương CEO, Scope 3 chuỗi cung ứng, Sự cố xử phạt.</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phát hiện né tránh lại quan trọng: Giám sát AI giúp nhìn ra những gì bị ẩn giấu chứ không chỉ đọc những gì được trình bày.</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Khẳng định sự vượt trội và giá trị nâng cấp của code mới so với bài báo gốc Kang &amp; Kim (2022) trên 8 tiêu chí.</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Bảng trên slide là sự đối chuẩn trực diện giữa công trình gốc Kang &amp; Kim (2022) và nghiên cứu của chúng em trên 8 khía cạnh kỹ thuật: Đa ngữ tiếng Việt, OCR cứu hộ 100% scan, tăng gấp đôi số chiều vector lên 768 chiều, bộ ngữ liệu song ngữ 1.032 câu chuẩn, đột phá lớp Trung tính 32,9% của PhoBERT, phép nhân ma trận toàn cục dưới 3 giây, bóc tách đặc thù ngành sâu sắc và sẵn sàng cho Agentic RAG.</a:t>
            </a:r>
          </a:p>
          <a:p/>
          <a:p>
            <a:pPr>
              <a:defRPr sz="1100" b="1">
                <a:solidFill>
                  <a:srgbClr val="1B365D"/>
                </a:solidFill>
                <a:latin typeface="Segoe UI"/>
              </a:defRPr>
            </a:pPr>
            <a:r>
              <a:t>【 ĐIỂM NHẤN CẦN NHỚ 】</a:t>
            </a:r>
          </a:p>
          <a:p>
            <a:pPr>
              <a:defRPr sz="1000">
                <a:solidFill>
                  <a:srgbClr val="212529"/>
                </a:solidFill>
                <a:latin typeface="Segoe UI"/>
              </a:defRPr>
            </a:pPr>
            <a:r>
              <a:t>8 điểm nâng cấp trực tiếp so với paper gốc.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Đóng góp lớn nhất: Không sao chép nguyên xi mà bản địa hóa thành công, giải quyết triệt để 4 rào cản kỹ thuật của paper gốc.</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Đưa ra khuyến nghị thiết thực cho 3 đối tượng: Nhà nước (UBCKNN), Doanh nghiệp và Nhà đầu tư.</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Nghiên cứu đem lại 3 hàm ý lớn: UBCKNN cần chuẩn hóa định dạng XBRL và lập cổng AI giám sát; Doanh nghiệp cần chuyển từ tiếp thị sang giải trình rủi ro; Nhà đầu tư có thể dùng công cụ NLP này để sàng lọc nhanh hồ sơ vay vốn xanh và phòng ngừa tẩy xanh.</a:t>
            </a:r>
          </a:p>
          <a:p/>
          <a:p>
            <a:pPr>
              <a:defRPr sz="1100" b="1">
                <a:solidFill>
                  <a:srgbClr val="1B365D"/>
                </a:solidFill>
                <a:latin typeface="Segoe UI"/>
              </a:defRPr>
            </a:pPr>
            <a:r>
              <a:t>【 ĐIỂM NHẤN CẦN NHỚ 】</a:t>
            </a:r>
          </a:p>
          <a:p>
            <a:pPr>
              <a:defRPr sz="1000">
                <a:solidFill>
                  <a:srgbClr val="212529"/>
                </a:solidFill>
                <a:latin typeface="Segoe UI"/>
              </a:defRPr>
            </a:pPr>
            <a:r>
              <a:t>Khuyến nghị 3 bên: XBRL cho Nhà nước, Giải trình cho Doanh nghiệp, Sàng lọc nhanh cho Nhà đầu tư.</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XBRL quan trọng: Giúp máy đọc tự động dữ liệu bảng biểu tài chính và phi tài chính 100% không bị lỗi font.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Thẳng thắn nhìn nhận hạn chế và vạch ra lộ trình tích hợp Multi-Agent AI trong tương lai.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Chúng em nhìn nhận rõ 3 hạn chế: Mẫu 7 tập đoàn, chưa kiểm chứng chéo số liệu bảng biểu, và chunking câu đơn. Tuy nhiên sơ đồ bên phải chỉ ra hướng phát triển tự nhiên: dùng pipeline hiện tại làm nền móng sạch để cắm thêm các Agent kiểm tra số liệu bảng biểu và đưa vào LLM sinh báo cáo kiểm toán độc lập.</a:t>
            </a:r>
          </a:p>
          <a:p/>
          <a:p>
            <a:pPr>
              <a:defRPr sz="1100" b="1">
                <a:solidFill>
                  <a:srgbClr val="1B365D"/>
                </a:solidFill>
                <a:latin typeface="Segoe UI"/>
              </a:defRPr>
            </a:pPr>
            <a:r>
              <a:t>【 ĐIỂM NHẤN CẦN NHỚ 】</a:t>
            </a:r>
          </a:p>
          <a:p>
            <a:pPr>
              <a:defRPr sz="1000">
                <a:solidFill>
                  <a:srgbClr val="212529"/>
                </a:solidFill>
                <a:latin typeface="Segoe UI"/>
              </a:defRPr>
            </a:pPr>
            <a:r>
              <a:t>Thẳng thắn nhìn nhận hạn chế; Mở ra tầm nhìn Agentic ESG Auditor.</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không dùng LLM ngay từ đầu: Vì LLM nhồi cả cuốn PDF rất đắt và dễ ảo giác, dùng SBERT làm Retrieval sạch trước mới đảm bảo độ chính xác.</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Tóm kết đĩnh đạc 4 thông điệp cốt lõi, gửi lời cảm ơn trang trọng đến Hội đồng và tự tin mở phiên Hỏi đáp (Q&amp;A).</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đề tài gửi gắm 4 thông điệp cốt lõi: 1. Chuyển giao thành công sang tiếng Việt; 2. Phản ánh đúng bản chất ngành; 3. Bóc trần sự đối lập giữa những gì nói nhiều và né tránh; 4. Xác nhận thiên lệch lạc quan và nhu cầu công cụ AI kiểm toán. Nhóm tác giả xin trân trọng cảm ơn Quý Thầy Cô!</a:t>
            </a:r>
          </a:p>
          <a:p/>
          <a:p>
            <a:pPr>
              <a:defRPr sz="1100" b="1">
                <a:solidFill>
                  <a:srgbClr val="1B365D"/>
                </a:solidFill>
                <a:latin typeface="Segoe UI"/>
              </a:defRPr>
            </a:pPr>
            <a:r>
              <a:t>【 ĐIỂM NHẤN CẦN NHỚ 】</a:t>
            </a:r>
          </a:p>
          <a:p>
            <a:pPr>
              <a:defRPr sz="1000">
                <a:solidFill>
                  <a:srgbClr val="212529"/>
                </a:solidFill>
                <a:latin typeface="Segoe UI"/>
              </a:defRPr>
            </a:pPr>
            <a:r>
              <a:t>Cúi đầu chào và mời các thầy cô đặt câu hỏi. Giữ phong thái tự tin, khiêm tốn.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Sẵn sàng mở lại các slide biểu đồ tương ứng khi thầy cô yêu cầu giải trình.</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40080"/>
            <a:ext cx="10728655" cy="5577840"/>
          </a:xfrm>
          <a:prstGeom prst="rect">
            <a:avLst/>
          </a:prstGeom>
          <a:solidFill>
            <a:srgbClr val="122A4A"/>
          </a:solidFill>
          <a:ln w="1905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1005840"/>
            <a:ext cx="4114800" cy="347472"/>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C1E36"/>
                </a:solidFill>
                <a:latin typeface="Segoe UI"/>
              </a:rPr>
              <a:t>BÁO CÁO KẾT QUẢ NGHIÊN CỨU KHOA HỌC</a:t>
            </a:r>
          </a:p>
        </p:txBody>
      </p:sp>
      <p:sp>
        <p:nvSpPr>
          <p:cNvPr id="6" name="TextBox 5"/>
          <p:cNvSpPr txBox="1"/>
          <p:nvPr/>
        </p:nvSpPr>
        <p:spPr>
          <a:xfrm>
            <a:off x="1188720" y="1463040"/>
            <a:ext cx="9784080" cy="1645920"/>
          </a:xfrm>
          <a:prstGeom prst="rect">
            <a:avLst/>
          </a:prstGeom>
          <a:noFill/>
        </p:spPr>
        <p:txBody>
          <a:bodyPr wrap="square">
            <a:spAutoFit/>
          </a:bodyPr>
          <a:lstStyle/>
          <a:p>
            <a:r>
              <a:rPr sz="2100" b="1">
                <a:solidFill>
                  <a:srgbClr val="FFFFFF"/>
                </a:solidFill>
                <a:latin typeface="Segoe UI"/>
              </a:rPr>
              <a:t>XỬ LÝ NGÔN NGỮ TỰ NHIÊN ĐA NGỮ TRONG PHÂN TÍCH SDG VÀ CẢM XÚC BÁO CÁO PHÁT TRIỂN BỀN VỮNG CỦA DOANH NGHIỆP:
BẰNG CHỨNG THỰC NGHIỆM TỪ CÁC DOANH NGHIỆP VIỆT NAM</a:t>
            </a:r>
          </a:p>
        </p:txBody>
      </p:sp>
      <p:sp>
        <p:nvSpPr>
          <p:cNvPr id="7" name="TextBox 6"/>
          <p:cNvSpPr txBox="1"/>
          <p:nvPr/>
        </p:nvSpPr>
        <p:spPr>
          <a:xfrm>
            <a:off x="1188720" y="3154680"/>
            <a:ext cx="9784080" cy="731520"/>
          </a:xfrm>
          <a:prstGeom prst="rect">
            <a:avLst/>
          </a:prstGeom>
          <a:noFill/>
        </p:spPr>
        <p:txBody>
          <a:bodyPr wrap="square">
            <a:spAutoFit/>
          </a:bodyPr>
          <a:lstStyle/>
          <a:p>
            <a:r>
              <a:rPr sz="1250" i="1">
                <a:solidFill>
                  <a:srgbClr val="BED2EB"/>
                </a:solidFill>
                <a:latin typeface="Segoe UI"/>
              </a:rPr>
              <a:t>Multilingual NLP for SDG and Sentiment Analysis of Corporate Sustainability Reports: Evidence from Vietnamese Enterprises</a:t>
            </a:r>
          </a:p>
        </p:txBody>
      </p:sp>
      <p:sp>
        <p:nvSpPr>
          <p:cNvPr id="8" name="Rectangle 7"/>
          <p:cNvSpPr/>
          <p:nvPr/>
        </p:nvSpPr>
        <p:spPr>
          <a:xfrm>
            <a:off x="1188720" y="3977639"/>
            <a:ext cx="9784080" cy="2743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114800"/>
            <a:ext cx="5486400" cy="1645920"/>
          </a:xfrm>
          <a:prstGeom prst="rect">
            <a:avLst/>
          </a:prstGeom>
          <a:noFill/>
        </p:spPr>
        <p:txBody>
          <a:bodyPr wrap="square">
            <a:spAutoFit/>
          </a:bodyPr>
          <a:lstStyle/>
          <a:p>
            <a:r>
              <a:rPr b="1" sz="1000">
                <a:solidFill>
                  <a:srgbClr val="D4AF37"/>
                </a:solidFill>
              </a:rPr>
              <a:t>KHUNG PHƯƠNG PHÁP LUẬN KẾ THỪA:
</a:t>
            </a:r>
            <a:r>
              <a:rPr sz="1000">
                <a:solidFill>
                  <a:srgbClr val="DCE6F5"/>
                </a:solidFill>
              </a:rPr>
              <a:t>Mô hình Trí tuệ Nhân tạo &amp; NLP của Kang &amp; Kim (2022),
Tạp chí Applied Sciences (MDPI), 12(11), 5614.
Ứng dụng chuyển giao &amp; mở rộng thực nghiệm trên thị trường Việt Nam.</a:t>
            </a:r>
          </a:p>
        </p:txBody>
      </p:sp>
      <p:sp>
        <p:nvSpPr>
          <p:cNvPr id="10" name="TextBox 9"/>
          <p:cNvSpPr txBox="1"/>
          <p:nvPr/>
        </p:nvSpPr>
        <p:spPr>
          <a:xfrm>
            <a:off x="6949440" y="4114800"/>
            <a:ext cx="4023360" cy="1645920"/>
          </a:xfrm>
          <a:prstGeom prst="rect">
            <a:avLst/>
          </a:prstGeom>
          <a:noFill/>
        </p:spPr>
        <p:txBody>
          <a:bodyPr wrap="square">
            <a:spAutoFit/>
          </a:bodyPr>
          <a:lstStyle/>
          <a:p>
            <a:r>
              <a:rPr b="1" sz="1000">
                <a:solidFill>
                  <a:srgbClr val="D4AF37"/>
                </a:solidFill>
              </a:rPr>
              <a:t>TÁC GIẢ THỰC HIỆN ĐỀ TÀI:
</a:t>
            </a:r>
            <a:r>
              <a:rPr sz="1150" b="1">
                <a:solidFill>
                  <a:srgbClr val="FFFFFF"/>
                </a:solidFill>
              </a:rPr>
              <a:t>• Lê Đan Sơn
• Dương Thị Hoàn
Năm thực hiện: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TỔNG QUAN VẤN ĐỀ</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BỐI CẢNH NGHIÊN CỨU &amp; ĐỘNG LỰC THỰC TIỄN</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02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3840480"/>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Segoe UI"/>
              </a:rPr>
              <a:t>1. ĐỘNG LỰC THỂ CHẾ ESG</a:t>
            </a:r>
          </a:p>
        </p:txBody>
      </p:sp>
      <p:sp>
        <p:nvSpPr>
          <p:cNvPr id="11" name="TextBox 10"/>
          <p:cNvSpPr txBox="1"/>
          <p:nvPr/>
        </p:nvSpPr>
        <p:spPr>
          <a:xfrm>
            <a:off x="868680" y="1737360"/>
            <a:ext cx="3154680" cy="3246120"/>
          </a:xfrm>
          <a:prstGeom prst="rect">
            <a:avLst/>
          </a:prstGeom>
          <a:noFill/>
        </p:spPr>
        <p:txBody>
          <a:bodyPr wrap="square">
            <a:spAutoFit/>
          </a:bodyPr>
          <a:lstStyle/>
          <a:p>
            <a:pPr>
              <a:spcAft>
                <a:spcPts val="600"/>
              </a:spcAft>
            </a:pPr>
            <a:r>
              <a:rPr sz="950">
                <a:solidFill>
                  <a:srgbClr val="212529"/>
                </a:solidFill>
                <a:latin typeface="Segoe UI"/>
              </a:rPr>
              <a:t>• Cam kết COP26 &amp; Net Zero 2050: Định hình chiến lược chuyển dịch xanh quốc gia.</a:t>
            </a:r>
          </a:p>
          <a:p>
            <a:pPr>
              <a:spcAft>
                <a:spcPts val="600"/>
              </a:spcAft>
            </a:pPr>
            <a:r>
              <a:rPr sz="950">
                <a:solidFill>
                  <a:srgbClr val="212529"/>
                </a:solidFill>
                <a:latin typeface="Segoe UI"/>
              </a:rPr>
              <a:t>• Thông tư 96/2020/TT-BTC: Bắt buộc công bố thông tin môi trường &amp; xã hội trên TTCK.</a:t>
            </a:r>
          </a:p>
          <a:p>
            <a:pPr>
              <a:spcAft>
                <a:spcPts val="600"/>
              </a:spcAft>
            </a:pPr>
            <a:r>
              <a:rPr sz="950">
                <a:solidFill>
                  <a:srgbClr val="212529"/>
                </a:solidFill>
                <a:latin typeface="Segoe UI"/>
              </a:rPr>
              <a:t>• Khung CSI &amp; UBCKNN: Tiêu chuẩn hóa các chỉ số phát triển bền vững.</a:t>
            </a:r>
          </a:p>
        </p:txBody>
      </p:sp>
      <p:sp>
        <p:nvSpPr>
          <p:cNvPr id="12" name="Rounded Rectangle 11"/>
          <p:cNvSpPr/>
          <p:nvPr/>
        </p:nvSpPr>
        <p:spPr>
          <a:xfrm>
            <a:off x="4379976" y="1234440"/>
            <a:ext cx="3429000" cy="3840480"/>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Segoe UI"/>
              </a:rPr>
              <a:t>2. NGHỊCH LÝ &amp; THÁCH THỨC</a:t>
            </a:r>
          </a:p>
        </p:txBody>
      </p:sp>
      <p:sp>
        <p:nvSpPr>
          <p:cNvPr id="14" name="TextBox 13"/>
          <p:cNvSpPr txBox="1"/>
          <p:nvPr/>
        </p:nvSpPr>
        <p:spPr>
          <a:xfrm>
            <a:off x="4517136" y="1737360"/>
            <a:ext cx="3154680" cy="3246120"/>
          </a:xfrm>
          <a:prstGeom prst="rect">
            <a:avLst/>
          </a:prstGeom>
          <a:noFill/>
        </p:spPr>
        <p:txBody>
          <a:bodyPr wrap="square">
            <a:spAutoFit/>
          </a:bodyPr>
          <a:lstStyle/>
          <a:p>
            <a:pPr>
              <a:spcAft>
                <a:spcPts val="600"/>
              </a:spcAft>
            </a:pPr>
            <a:r>
              <a:rPr sz="950">
                <a:solidFill>
                  <a:srgbClr val="212529"/>
                </a:solidFill>
                <a:latin typeface="Segoe UI"/>
              </a:rPr>
              <a:t>• Bùng nổ văn bản: Trung bình 100–200 trang/báo cáo, ngôn ngữ tự do phi cấu trúc.</a:t>
            </a:r>
          </a:p>
          <a:p>
            <a:pPr>
              <a:spcAft>
                <a:spcPts val="600"/>
              </a:spcAft>
            </a:pPr>
            <a:r>
              <a:rPr sz="950">
                <a:solidFill>
                  <a:srgbClr val="212529"/>
                </a:solidFill>
                <a:latin typeface="Segoe UI"/>
              </a:rPr>
              <a:t>• Quá tải giám sát thủ công: Không đủ nguồn lực đọc và thẩm tra định tính từng câu.</a:t>
            </a:r>
          </a:p>
          <a:p>
            <a:pPr>
              <a:spcAft>
                <a:spcPts val="600"/>
              </a:spcAft>
            </a:pPr>
            <a:r>
              <a:rPr sz="950">
                <a:solidFill>
                  <a:srgbClr val="212529"/>
                </a:solidFill>
                <a:latin typeface="Segoe UI"/>
              </a:rPr>
              <a:t>• Rủi ro Quản trị Ấn tượng: Doanh nghiệp có xu hướng tô hồng thành tích, che giấu rủi ro.</a:t>
            </a:r>
          </a:p>
        </p:txBody>
      </p:sp>
      <p:sp>
        <p:nvSpPr>
          <p:cNvPr id="15" name="Rounded Rectangle 14"/>
          <p:cNvSpPr/>
          <p:nvPr/>
        </p:nvSpPr>
        <p:spPr>
          <a:xfrm>
            <a:off x="8028432" y="1234440"/>
            <a:ext cx="3429000" cy="3840480"/>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Segoe UI"/>
              </a:rPr>
              <a:t>3. ĐỘT PHÁ CÔNG NGHỆ NLP</a:t>
            </a:r>
          </a:p>
        </p:txBody>
      </p:sp>
      <p:sp>
        <p:nvSpPr>
          <p:cNvPr id="17" name="TextBox 16"/>
          <p:cNvSpPr txBox="1"/>
          <p:nvPr/>
        </p:nvSpPr>
        <p:spPr>
          <a:xfrm>
            <a:off x="8165592" y="1737360"/>
            <a:ext cx="3154680" cy="3246120"/>
          </a:xfrm>
          <a:prstGeom prst="rect">
            <a:avLst/>
          </a:prstGeom>
          <a:noFill/>
        </p:spPr>
        <p:txBody>
          <a:bodyPr wrap="square">
            <a:spAutoFit/>
          </a:bodyPr>
          <a:lstStyle/>
          <a:p>
            <a:pPr>
              <a:spcAft>
                <a:spcPts val="600"/>
              </a:spcAft>
            </a:pPr>
            <a:r>
              <a:rPr sz="950">
                <a:solidFill>
                  <a:srgbClr val="212529"/>
                </a:solidFill>
                <a:latin typeface="Segoe UI"/>
              </a:rPr>
              <a:t>• Tự động hóa định lượng: Đọc hiểu 96.461 câu trong vài giây, loại bỏ cảm tính.</a:t>
            </a:r>
          </a:p>
          <a:p>
            <a:pPr>
              <a:spcAft>
                <a:spcPts val="600"/>
              </a:spcAft>
            </a:pPr>
            <a:r>
              <a:rPr sz="950">
                <a:solidFill>
                  <a:srgbClr val="212529"/>
                </a:solidFill>
                <a:latin typeface="Segoe UI"/>
              </a:rPr>
              <a:t>• Đo lường chuẩn hóa 17 SDGs: Ánh xạ ngữ nghĩa vector SBERT vào 169 mục tiêu LHQ.</a:t>
            </a:r>
          </a:p>
          <a:p>
            <a:pPr>
              <a:spcAft>
                <a:spcPts val="600"/>
              </a:spcAft>
            </a:pPr>
            <a:r>
              <a:rPr sz="950">
                <a:solidFill>
                  <a:srgbClr val="212529"/>
                </a:solidFill>
                <a:latin typeface="Segoe UI"/>
              </a:rPr>
              <a:t>• Nhận diện cảm xúc khách quan: PhoBERT 3 lớp nhận diện thiên lệch lạc quan.</a:t>
            </a:r>
          </a:p>
        </p:txBody>
      </p:sp>
      <p:sp>
        <p:nvSpPr>
          <p:cNvPr id="18" name="Rounded Rectangle 17"/>
          <p:cNvSpPr/>
          <p:nvPr/>
        </p:nvSpPr>
        <p:spPr>
          <a:xfrm>
            <a:off x="731520" y="5257800"/>
            <a:ext cx="10728655" cy="114300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321808"/>
            <a:ext cx="2560320" cy="1005840"/>
          </a:xfrm>
          <a:prstGeom prst="rect">
            <a:avLst/>
          </a:prstGeom>
          <a:noFill/>
        </p:spPr>
        <p:txBody>
          <a:bodyPr wrap="square">
            <a:spAutoFit/>
          </a:bodyPr>
          <a:lstStyle/>
          <a:p>
            <a:r>
              <a:rPr sz="850" b="1">
                <a:solidFill>
                  <a:srgbClr val="6C757D"/>
                </a:solidFill>
              </a:rPr>
              <a:t>MỐC CAM KẾT QUỐC GIA
</a:t>
            </a:r>
            <a:r>
              <a:rPr sz="1300" b="1">
                <a:solidFill>
                  <a:srgbClr val="1B365D"/>
                </a:solidFill>
              </a:rPr>
              <a:t>Net Zero 2050
</a:t>
            </a:r>
            <a:r>
              <a:rPr sz="800">
                <a:solidFill>
                  <a:srgbClr val="1F77B4"/>
                </a:solidFill>
              </a:rPr>
              <a:t>(Hội nghị COP26)</a:t>
            </a:r>
          </a:p>
        </p:txBody>
      </p:sp>
      <p:sp>
        <p:nvSpPr>
          <p:cNvPr id="20" name="TextBox 19"/>
          <p:cNvSpPr txBox="1"/>
          <p:nvPr/>
        </p:nvSpPr>
        <p:spPr>
          <a:xfrm>
            <a:off x="3520439" y="5321808"/>
            <a:ext cx="2560320" cy="1005840"/>
          </a:xfrm>
          <a:prstGeom prst="rect">
            <a:avLst/>
          </a:prstGeom>
          <a:noFill/>
        </p:spPr>
        <p:txBody>
          <a:bodyPr wrap="square">
            <a:spAutoFit/>
          </a:bodyPr>
          <a:lstStyle/>
          <a:p>
            <a:r>
              <a:rPr sz="850" b="1">
                <a:solidFill>
                  <a:srgbClr val="6C757D"/>
                </a:solidFill>
              </a:rPr>
              <a:t>KHUNG PHÁP LÝ BẮT BUỘC
</a:t>
            </a:r>
            <a:r>
              <a:rPr sz="1300" b="1">
                <a:solidFill>
                  <a:srgbClr val="1B365D"/>
                </a:solidFill>
              </a:rPr>
              <a:t>TT 96/2020/TT-BTC
</a:t>
            </a:r>
            <a:r>
              <a:rPr sz="800">
                <a:solidFill>
                  <a:srgbClr val="1F77B4"/>
                </a:solidFill>
              </a:rPr>
              <a:t>(Bộ Tài chính ban hành)</a:t>
            </a:r>
          </a:p>
        </p:txBody>
      </p:sp>
      <p:sp>
        <p:nvSpPr>
          <p:cNvPr id="21" name="TextBox 20"/>
          <p:cNvSpPr txBox="1"/>
          <p:nvPr/>
        </p:nvSpPr>
        <p:spPr>
          <a:xfrm>
            <a:off x="6172200" y="5321808"/>
            <a:ext cx="2560320" cy="1005840"/>
          </a:xfrm>
          <a:prstGeom prst="rect">
            <a:avLst/>
          </a:prstGeom>
          <a:noFill/>
        </p:spPr>
        <p:txBody>
          <a:bodyPr wrap="square">
            <a:spAutoFit/>
          </a:bodyPr>
          <a:lstStyle/>
          <a:p>
            <a:r>
              <a:rPr sz="850" b="1">
                <a:solidFill>
                  <a:srgbClr val="6C757D"/>
                </a:solidFill>
              </a:rPr>
              <a:t>DUNG LƯỢNG BÁO CÁO
</a:t>
            </a:r>
            <a:r>
              <a:rPr sz="1300" b="1">
                <a:solidFill>
                  <a:srgbClr val="1B365D"/>
                </a:solidFill>
              </a:rPr>
              <a:t>100–200 Trang
</a:t>
            </a:r>
            <a:r>
              <a:rPr sz="800">
                <a:solidFill>
                  <a:srgbClr val="1F77B4"/>
                </a:solidFill>
              </a:rPr>
              <a:t>(Quá tải đọc thủ công)</a:t>
            </a:r>
          </a:p>
        </p:txBody>
      </p:sp>
      <p:sp>
        <p:nvSpPr>
          <p:cNvPr id="22" name="TextBox 21"/>
          <p:cNvSpPr txBox="1"/>
          <p:nvPr/>
        </p:nvSpPr>
        <p:spPr>
          <a:xfrm>
            <a:off x="8823959" y="5321808"/>
            <a:ext cx="2560320" cy="1005840"/>
          </a:xfrm>
          <a:prstGeom prst="rect">
            <a:avLst/>
          </a:prstGeom>
          <a:noFill/>
        </p:spPr>
        <p:txBody>
          <a:bodyPr wrap="square">
            <a:spAutoFit/>
          </a:bodyPr>
          <a:lstStyle/>
          <a:p>
            <a:r>
              <a:rPr sz="850" b="1">
                <a:solidFill>
                  <a:srgbClr val="6C757D"/>
                </a:solidFill>
              </a:rPr>
              <a:t>CÔNG CỤ GIẢI PHÁP
</a:t>
            </a:r>
            <a:r>
              <a:rPr sz="1300" b="1">
                <a:solidFill>
                  <a:srgbClr val="1B365D"/>
                </a:solidFill>
              </a:rPr>
              <a:t>NLP &amp; AI Đa Ngữ
</a:t>
            </a:r>
            <a:r>
              <a:rPr sz="800">
                <a:solidFill>
                  <a:srgbClr val="1F77B4"/>
                </a:solidFill>
              </a:rPr>
              <a:t>(Định lượng tự động hóa)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TỔNG QUAN HỌC THUẬT</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BÀI BÁO GỐC KANG &amp; KIM (2022) &amp; ĐỀ TÀI NÀY KHẮC PHỤC ĐIỀU GÌ?</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03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benchmark_paper_vs_code.png"/>
          <p:cNvPicPr>
            <a:picLocks noChangeAspect="1"/>
          </p:cNvPicPr>
          <p:nvPr/>
        </p:nvPicPr>
        <p:blipFill>
          <a:blip r:embed="rId2"/>
          <a:stretch>
            <a:fillRect/>
          </a:stretch>
        </p:blipFill>
        <p:spPr>
          <a:xfrm>
            <a:off x="731520" y="1143000"/>
            <a:ext cx="10728655" cy="3611880"/>
          </a:xfrm>
          <a:prstGeom prst="rect">
            <a:avLst/>
          </a:prstGeom>
        </p:spPr>
      </p:pic>
      <p:sp>
        <p:nvSpPr>
          <p:cNvPr id="10" name="Rounded Rectangle 9"/>
          <p:cNvSpPr/>
          <p:nvPr/>
        </p:nvSpPr>
        <p:spPr>
          <a:xfrm>
            <a:off x="731520" y="4892040"/>
            <a:ext cx="2560320"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56048"/>
            <a:ext cx="2340863" cy="1371600"/>
          </a:xfrm>
          <a:prstGeom prst="rect">
            <a:avLst/>
          </a:prstGeom>
          <a:noFill/>
        </p:spPr>
        <p:txBody>
          <a:bodyPr wrap="square">
            <a:spAutoFit/>
          </a:bodyPr>
          <a:lstStyle/>
          <a:p>
            <a:r>
              <a:rPr sz="850" b="1">
                <a:solidFill>
                  <a:srgbClr val="1B365D"/>
                </a:solidFill>
              </a:rPr>
              <a:t>1. RÀO CẢN ĐƠN NGỮ TIẾNG ANH
</a:t>
            </a:r>
            <a:r>
              <a:rPr sz="819">
                <a:solidFill>
                  <a:srgbClr val="212529"/>
                </a:solidFill>
              </a:rPr>
              <a:t>Paper gốc chỉ chạy tiếng Anh -&gt; Đề tài xây dựng pipeline đa ngữ vietnamese-sbert (768-d) + Ngữ liệu 1.032 câu chuẩn.</a:t>
            </a:r>
          </a:p>
        </p:txBody>
      </p:sp>
      <p:sp>
        <p:nvSpPr>
          <p:cNvPr id="12" name="Rounded Rectangle 11"/>
          <p:cNvSpPr/>
          <p:nvPr/>
        </p:nvSpPr>
        <p:spPr>
          <a:xfrm>
            <a:off x="3456432" y="4892040"/>
            <a:ext cx="2560320" cy="150876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956048"/>
            <a:ext cx="2340863" cy="1371600"/>
          </a:xfrm>
          <a:prstGeom prst="rect">
            <a:avLst/>
          </a:prstGeom>
          <a:noFill/>
        </p:spPr>
        <p:txBody>
          <a:bodyPr wrap="square">
            <a:spAutoFit/>
          </a:bodyPr>
          <a:lstStyle/>
          <a:p>
            <a:r>
              <a:rPr sz="850" b="1">
                <a:solidFill>
                  <a:srgbClr val="1F77B4"/>
                </a:solidFill>
              </a:rPr>
              <a:t>2. BỎ QUA TỆP SCAN HÌNH ẢNH
</a:t>
            </a:r>
            <a:r>
              <a:rPr sz="819">
                <a:solidFill>
                  <a:srgbClr val="212529"/>
                </a:solidFill>
              </a:rPr>
              <a:t>Paper gốc loại bỏ PDF scan -&gt; Đề tài tích hợp Tesseract OCR (vie+eng) phục hồi 100% dữ liệu (như PNJ 2022).</a:t>
            </a:r>
          </a:p>
        </p:txBody>
      </p:sp>
      <p:sp>
        <p:nvSpPr>
          <p:cNvPr id="14" name="Rounded Rectangle 13"/>
          <p:cNvSpPr/>
          <p:nvPr/>
        </p:nvSpPr>
        <p:spPr>
          <a:xfrm>
            <a:off x="6181344" y="4892040"/>
            <a:ext cx="2560320" cy="15087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4956048"/>
            <a:ext cx="2340863" cy="1371600"/>
          </a:xfrm>
          <a:prstGeom prst="rect">
            <a:avLst/>
          </a:prstGeom>
          <a:noFill/>
        </p:spPr>
        <p:txBody>
          <a:bodyPr wrap="square">
            <a:spAutoFit/>
          </a:bodyPr>
          <a:lstStyle/>
          <a:p>
            <a:r>
              <a:rPr sz="850" b="1">
                <a:solidFill>
                  <a:srgbClr val="288C3C"/>
                </a:solidFill>
              </a:rPr>
              <a:t>3. CẢM XÚC 2 LỚP GƯỢNG ÉP
</a:t>
            </a:r>
            <a:r>
              <a:rPr sz="819">
                <a:solidFill>
                  <a:srgbClr val="212529"/>
                </a:solidFill>
              </a:rPr>
              <a:t>Paper gốc ép câu số liệu vào Pos/Neg -&gt; Đề tài dùng PhoBERT 3 lớp, bổ sung lớp Trung tính (32,87%) bảo toàn số liệu.</a:t>
            </a:r>
          </a:p>
        </p:txBody>
      </p:sp>
      <p:sp>
        <p:nvSpPr>
          <p:cNvPr id="16" name="Rounded Rectangle 15"/>
          <p:cNvSpPr/>
          <p:nvPr/>
        </p:nvSpPr>
        <p:spPr>
          <a:xfrm>
            <a:off x="8906256" y="4892040"/>
            <a:ext cx="2560320" cy="15087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15984" y="4956048"/>
            <a:ext cx="2340863" cy="1371600"/>
          </a:xfrm>
          <a:prstGeom prst="rect">
            <a:avLst/>
          </a:prstGeom>
          <a:noFill/>
        </p:spPr>
        <p:txBody>
          <a:bodyPr wrap="square">
            <a:spAutoFit/>
          </a:bodyPr>
          <a:lstStyle/>
          <a:p>
            <a:r>
              <a:rPr sz="850" b="1">
                <a:solidFill>
                  <a:srgbClr val="7030A0"/>
                </a:solidFill>
              </a:rPr>
              <a:t>4. KHẢO SÁT BỀ MẶT MẪU GỘP
</a:t>
            </a:r>
            <a:r>
              <a:rPr sz="819">
                <a:solidFill>
                  <a:srgbClr val="212529"/>
                </a:solidFill>
              </a:rPr>
              <a:t>Paper gốc dừng ở thống kê chung -&gt; Đề tài giải mã sâu sắc mô hình kinh doanh và hiện tượng 'Nói nhiều vs Né tránh'.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PHƯƠNG PHÁP NGHIÊN CỨU</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KHUNG PHƯƠNG PHÁP LUẬN NLP ĐA NGỮ 5 BƯỚC KHÉP KÍN</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04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architecture_flow.png"/>
          <p:cNvPicPr>
            <a:picLocks noChangeAspect="1"/>
          </p:cNvPicPr>
          <p:nvPr/>
        </p:nvPicPr>
        <p:blipFill>
          <a:blip r:embed="rId2"/>
          <a:stretch>
            <a:fillRect/>
          </a:stretch>
        </p:blipFill>
        <p:spPr>
          <a:xfrm>
            <a:off x="731520" y="1143000"/>
            <a:ext cx="10728655" cy="3794760"/>
          </a:xfrm>
          <a:prstGeom prst="rect">
            <a:avLst/>
          </a:prstGeom>
        </p:spPr>
      </p:pic>
      <p:sp>
        <p:nvSpPr>
          <p:cNvPr id="10" name="Rounded Rectangle 9"/>
          <p:cNvSpPr/>
          <p:nvPr/>
        </p:nvSpPr>
        <p:spPr>
          <a:xfrm>
            <a:off x="731520" y="5074920"/>
            <a:ext cx="2029968" cy="13258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138928"/>
            <a:ext cx="1847088" cy="1188720"/>
          </a:xfrm>
          <a:prstGeom prst="rect">
            <a:avLst/>
          </a:prstGeom>
          <a:noFill/>
        </p:spPr>
        <p:txBody>
          <a:bodyPr wrap="square">
            <a:spAutoFit/>
          </a:bodyPr>
          <a:lstStyle/>
          <a:p>
            <a:r>
              <a:rPr sz="950" b="1">
                <a:solidFill>
                  <a:srgbClr val="1B365D"/>
                </a:solidFill>
              </a:rPr>
              <a:t>B1. Thu thập PDF
</a:t>
            </a:r>
            <a:r>
              <a:rPr sz="850">
                <a:solidFill>
                  <a:srgbClr val="212529"/>
                </a:solidFill>
              </a:rPr>
              <a:t>42 báo cáo từ 7 tập đoàn lớn (2020–2025).</a:t>
            </a:r>
          </a:p>
        </p:txBody>
      </p:sp>
      <p:sp>
        <p:nvSpPr>
          <p:cNvPr id="12" name="Rounded Rectangle 11"/>
          <p:cNvSpPr/>
          <p:nvPr/>
        </p:nvSpPr>
        <p:spPr>
          <a:xfrm>
            <a:off x="2907792" y="5074920"/>
            <a:ext cx="2029968" cy="132588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9232" y="5138928"/>
            <a:ext cx="1847088" cy="1188720"/>
          </a:xfrm>
          <a:prstGeom prst="rect">
            <a:avLst/>
          </a:prstGeom>
          <a:noFill/>
        </p:spPr>
        <p:txBody>
          <a:bodyPr wrap="square">
            <a:spAutoFit/>
          </a:bodyPr>
          <a:lstStyle/>
          <a:p>
            <a:r>
              <a:rPr sz="950" b="1">
                <a:solidFill>
                  <a:srgbClr val="1F77B4"/>
                </a:solidFill>
              </a:rPr>
              <a:t>B2. Tiền xử lý &amp; OCR
</a:t>
            </a:r>
            <a:r>
              <a:rPr sz="850">
                <a:solidFill>
                  <a:srgbClr val="212529"/>
                </a:solidFill>
              </a:rPr>
              <a:t>PyMuPDF + Tesseract OCR khôi phục 100% tệp scan.</a:t>
            </a:r>
          </a:p>
        </p:txBody>
      </p:sp>
      <p:sp>
        <p:nvSpPr>
          <p:cNvPr id="14" name="Rounded Rectangle 13"/>
          <p:cNvSpPr/>
          <p:nvPr/>
        </p:nvSpPr>
        <p:spPr>
          <a:xfrm>
            <a:off x="5084064" y="5074920"/>
            <a:ext cx="2029968" cy="132588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75504" y="5138928"/>
            <a:ext cx="1847088" cy="1188720"/>
          </a:xfrm>
          <a:prstGeom prst="rect">
            <a:avLst/>
          </a:prstGeom>
          <a:noFill/>
        </p:spPr>
        <p:txBody>
          <a:bodyPr wrap="square">
            <a:spAutoFit/>
          </a:bodyPr>
          <a:lstStyle/>
          <a:p>
            <a:r>
              <a:rPr sz="950" b="1">
                <a:solidFill>
                  <a:srgbClr val="D4AF37"/>
                </a:solidFill>
              </a:rPr>
              <a:t>B3. Nhúng SBERT
</a:t>
            </a:r>
            <a:r>
              <a:rPr sz="850">
                <a:solidFill>
                  <a:srgbClr val="212529"/>
                </a:solidFill>
              </a:rPr>
              <a:t>vietnamese-sbert 768-d + Ngữ liệu 1.032 câu.</a:t>
            </a:r>
          </a:p>
        </p:txBody>
      </p:sp>
      <p:sp>
        <p:nvSpPr>
          <p:cNvPr id="16" name="Rounded Rectangle 15"/>
          <p:cNvSpPr/>
          <p:nvPr/>
        </p:nvSpPr>
        <p:spPr>
          <a:xfrm>
            <a:off x="7260336" y="5074920"/>
            <a:ext cx="2029968" cy="132588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51776" y="5138928"/>
            <a:ext cx="1847088" cy="1188720"/>
          </a:xfrm>
          <a:prstGeom prst="rect">
            <a:avLst/>
          </a:prstGeom>
          <a:noFill/>
        </p:spPr>
        <p:txBody>
          <a:bodyPr wrap="square">
            <a:spAutoFit/>
          </a:bodyPr>
          <a:lstStyle/>
          <a:p>
            <a:r>
              <a:rPr sz="950" b="1">
                <a:solidFill>
                  <a:srgbClr val="7030A0"/>
                </a:solidFill>
              </a:rPr>
              <a:t>B4. Min-Max 0-100
</a:t>
            </a:r>
            <a:r>
              <a:rPr sz="850">
                <a:solidFill>
                  <a:srgbClr val="212529"/>
                </a:solidFill>
              </a:rPr>
              <a:t>Chuẩn hóa toàn cục + Quy nạp 6 nhóm Max-Neef.</a:t>
            </a:r>
          </a:p>
        </p:txBody>
      </p:sp>
      <p:sp>
        <p:nvSpPr>
          <p:cNvPr id="18" name="Rounded Rectangle 17"/>
          <p:cNvSpPr/>
          <p:nvPr/>
        </p:nvSpPr>
        <p:spPr>
          <a:xfrm>
            <a:off x="9436608" y="5074920"/>
            <a:ext cx="2029968" cy="132588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8048" y="5138928"/>
            <a:ext cx="1847088" cy="1188720"/>
          </a:xfrm>
          <a:prstGeom prst="rect">
            <a:avLst/>
          </a:prstGeom>
          <a:noFill/>
        </p:spPr>
        <p:txBody>
          <a:bodyPr wrap="square">
            <a:spAutoFit/>
          </a:bodyPr>
          <a:lstStyle/>
          <a:p>
            <a:r>
              <a:rPr sz="950" b="1">
                <a:solidFill>
                  <a:srgbClr val="288C3C"/>
                </a:solidFill>
              </a:rPr>
              <a:t>B5. PhoBERT 3 lớp
</a:t>
            </a:r>
            <a:r>
              <a:rPr sz="850">
                <a:solidFill>
                  <a:srgbClr val="212529"/>
                </a:solidFill>
              </a:rPr>
              <a:t>Phân loại cảm xúc &amp; tính Tỷ số Pos/Neg Ratio.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DỮ LIỆU THỰC NGHIỆM</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MẪU DỮ LIỆU THỰC NGHIỆM: 7 TẬP ĐOÀN NIÊM YẾT (42 BÁO CÁO)</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05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858000" cy="5166360"/>
        </p:xfrm>
        <a:graphic>
          <a:graphicData uri="http://schemas.openxmlformats.org/drawingml/2006/table">
            <a:tbl>
              <a:tblPr firstRow="1" bandRow="1">
                <a:tableStyleId>{5C22544A-7EE6-4342-B048-85BDC9FD1C3A}</a:tableStyleId>
              </a:tblPr>
              <a:tblGrid>
                <a:gridCol w="914400"/>
                <a:gridCol w="2103120"/>
                <a:gridCol w="1645920"/>
                <a:gridCol w="1097280"/>
                <a:gridCol w="1097280"/>
              </a:tblGrid>
              <a:tr h="645795">
                <a:tc>
                  <a:txBody>
                    <a:bodyPr/>
                    <a:lstStyle/>
                    <a:p>
                      <a:pPr algn="ctr"/>
                      <a:r>
                        <a:rPr b="1" sz="950">
                          <a:solidFill>
                            <a:srgbClr val="FFFFFF"/>
                          </a:solidFill>
                        </a:rPr>
                        <a:t>MÃ CK</a:t>
                      </a:r>
                    </a:p>
                  </a:txBody>
                  <a:tcPr>
                    <a:solidFill>
                      <a:srgbClr val="1B365D"/>
                    </a:solidFill>
                  </a:tcPr>
                </a:tc>
                <a:tc>
                  <a:txBody>
                    <a:bodyPr/>
                    <a:lstStyle/>
                    <a:p>
                      <a:pPr algn="ctr"/>
                      <a:r>
                        <a:rPr b="1" sz="950">
                          <a:solidFill>
                            <a:srgbClr val="FFFFFF"/>
                          </a:solidFill>
                        </a:rPr>
                        <a:t>DOANH NGHIỆP</a:t>
                      </a:r>
                    </a:p>
                  </a:txBody>
                  <a:tcPr>
                    <a:solidFill>
                      <a:srgbClr val="1B365D"/>
                    </a:solidFill>
                  </a:tcPr>
                </a:tc>
                <a:tc>
                  <a:txBody>
                    <a:bodyPr/>
                    <a:lstStyle/>
                    <a:p>
                      <a:pPr algn="ctr"/>
                      <a:r>
                        <a:rPr b="1" sz="950">
                          <a:solidFill>
                            <a:srgbClr val="FFFFFF"/>
                          </a:solidFill>
                        </a:rPr>
                        <a:t>NGÀNH NGHỀ</a:t>
                      </a:r>
                    </a:p>
                  </a:txBody>
                  <a:tcPr>
                    <a:solidFill>
                      <a:srgbClr val="1B365D"/>
                    </a:solidFill>
                  </a:tcPr>
                </a:tc>
                <a:tc>
                  <a:txBody>
                    <a:bodyPr/>
                    <a:lstStyle/>
                    <a:p>
                      <a:pPr algn="ctr"/>
                      <a:r>
                        <a:rPr b="1" sz="950">
                          <a:solidFill>
                            <a:srgbClr val="FFFFFF"/>
                          </a:solidFill>
                        </a:rPr>
                        <a:t>SỐ BC</a:t>
                      </a:r>
                    </a:p>
                  </a:txBody>
                  <a:tcPr>
                    <a:solidFill>
                      <a:srgbClr val="1B365D"/>
                    </a:solidFill>
                  </a:tcPr>
                </a:tc>
                <a:tc>
                  <a:txBody>
                    <a:bodyPr/>
                    <a:lstStyle/>
                    <a:p>
                      <a:pPr algn="ctr"/>
                      <a:r>
                        <a:rPr b="1" sz="950">
                          <a:solidFill>
                            <a:srgbClr val="FFFFFF"/>
                          </a:solidFill>
                        </a:rPr>
                        <a:t>SỐ CÂU</a:t>
                      </a:r>
                    </a:p>
                  </a:txBody>
                  <a:tcPr>
                    <a:solidFill>
                      <a:srgbClr val="1B365D"/>
                    </a:solidFill>
                  </a:tcPr>
                </a:tc>
              </a:tr>
              <a:tr h="645795">
                <a:tc>
                  <a:txBody>
                    <a:bodyPr/>
                    <a:lstStyle/>
                    <a:p>
                      <a:pPr algn="ctr"/>
                      <a:r>
                        <a:rPr sz="900" b="1">
                          <a:solidFill>
                            <a:srgbClr val="1B365D"/>
                          </a:solidFill>
                        </a:rPr>
                        <a:t>VNM</a:t>
                      </a:r>
                    </a:p>
                  </a:txBody>
                  <a:tcPr>
                    <a:solidFill>
                      <a:srgbClr val="F1F5F9"/>
                    </a:solidFill>
                  </a:tcPr>
                </a:tc>
                <a:tc>
                  <a:txBody>
                    <a:bodyPr/>
                    <a:lstStyle/>
                    <a:p>
                      <a:pPr algn="l"/>
                      <a:r>
                        <a:rPr sz="900">
                          <a:solidFill>
                            <a:srgbClr val="212529"/>
                          </a:solidFill>
                        </a:rPr>
                        <a:t>Vinamilk</a:t>
                      </a:r>
                    </a:p>
                  </a:txBody>
                  <a:tcPr>
                    <a:solidFill>
                      <a:srgbClr val="F1F5F9"/>
                    </a:solidFill>
                  </a:tcPr>
                </a:tc>
                <a:tc>
                  <a:txBody>
                    <a:bodyPr/>
                    <a:lstStyle/>
                    <a:p>
                      <a:pPr algn="l"/>
                      <a:r>
                        <a:rPr sz="900">
                          <a:solidFill>
                            <a:srgbClr val="212529"/>
                          </a:solidFill>
                        </a:rPr>
                        <a:t>Chế biến Sữa &amp; Thực phẩm</a:t>
                      </a:r>
                    </a:p>
                  </a:txBody>
                  <a:tcPr>
                    <a:solidFill>
                      <a:srgbClr val="F1F5F9"/>
                    </a:solidFill>
                  </a:tcPr>
                </a:tc>
                <a:tc>
                  <a:txBody>
                    <a:bodyPr/>
                    <a:lstStyle/>
                    <a:p>
                      <a:pPr algn="ctr"/>
                      <a:r>
                        <a:rPr sz="900">
                          <a:solidFill>
                            <a:srgbClr val="212529"/>
                          </a:solidFill>
                        </a:rPr>
                        <a:t>6 BC</a:t>
                      </a:r>
                    </a:p>
                  </a:txBody>
                  <a:tcPr>
                    <a:solidFill>
                      <a:srgbClr val="F1F5F9"/>
                    </a:solidFill>
                  </a:tcPr>
                </a:tc>
                <a:tc>
                  <a:txBody>
                    <a:bodyPr/>
                    <a:lstStyle/>
                    <a:p>
                      <a:pPr algn="ctr"/>
                      <a:r>
                        <a:rPr sz="900">
                          <a:solidFill>
                            <a:srgbClr val="212529"/>
                          </a:solidFill>
                        </a:rPr>
                        <a:t>18.420 câu</a:t>
                      </a:r>
                    </a:p>
                  </a:txBody>
                  <a:tcPr>
                    <a:solidFill>
                      <a:srgbClr val="F1F5F9"/>
                    </a:solidFill>
                  </a:tcPr>
                </a:tc>
              </a:tr>
              <a:tr h="645795">
                <a:tc>
                  <a:txBody>
                    <a:bodyPr/>
                    <a:lstStyle/>
                    <a:p>
                      <a:pPr algn="ctr"/>
                      <a:r>
                        <a:rPr sz="900" b="1">
                          <a:solidFill>
                            <a:srgbClr val="1B365D"/>
                          </a:solidFill>
                        </a:rPr>
                        <a:t>VCS</a:t>
                      </a:r>
                    </a:p>
                  </a:txBody>
                  <a:tcPr>
                    <a:solidFill>
                      <a:srgbClr val="FFFFFF"/>
                    </a:solidFill>
                  </a:tcPr>
                </a:tc>
                <a:tc>
                  <a:txBody>
                    <a:bodyPr/>
                    <a:lstStyle/>
                    <a:p>
                      <a:pPr algn="l"/>
                      <a:r>
                        <a:rPr sz="900">
                          <a:solidFill>
                            <a:srgbClr val="212529"/>
                          </a:solidFill>
                        </a:rPr>
                        <a:t>Vicostone</a:t>
                      </a:r>
                    </a:p>
                  </a:txBody>
                  <a:tcPr>
                    <a:solidFill>
                      <a:srgbClr val="FFFFFF"/>
                    </a:solidFill>
                  </a:tcPr>
                </a:tc>
                <a:tc>
                  <a:txBody>
                    <a:bodyPr/>
                    <a:lstStyle/>
                    <a:p>
                      <a:pPr algn="l"/>
                      <a:r>
                        <a:rPr sz="900">
                          <a:solidFill>
                            <a:srgbClr val="212529"/>
                          </a:solidFill>
                        </a:rPr>
                        <a:t>Vật liệu Đá thạch anh nhân tạo</a:t>
                      </a:r>
                    </a:p>
                  </a:txBody>
                  <a:tcPr>
                    <a:solidFill>
                      <a:srgbClr val="FFFFFF"/>
                    </a:solidFill>
                  </a:tcPr>
                </a:tc>
                <a:tc>
                  <a:txBody>
                    <a:bodyPr/>
                    <a:lstStyle/>
                    <a:p>
                      <a:pPr algn="ctr"/>
                      <a:r>
                        <a:rPr sz="900">
                          <a:solidFill>
                            <a:srgbClr val="212529"/>
                          </a:solidFill>
                        </a:rPr>
                        <a:t>6 BC</a:t>
                      </a:r>
                    </a:p>
                  </a:txBody>
                  <a:tcPr>
                    <a:solidFill>
                      <a:srgbClr val="FFFFFF"/>
                    </a:solidFill>
                  </a:tcPr>
                </a:tc>
                <a:tc>
                  <a:txBody>
                    <a:bodyPr/>
                    <a:lstStyle/>
                    <a:p>
                      <a:pPr algn="ctr"/>
                      <a:r>
                        <a:rPr sz="900">
                          <a:solidFill>
                            <a:srgbClr val="212529"/>
                          </a:solidFill>
                        </a:rPr>
                        <a:t>14.650 câu</a:t>
                      </a:r>
                    </a:p>
                  </a:txBody>
                  <a:tcPr>
                    <a:solidFill>
                      <a:srgbClr val="FFFFFF"/>
                    </a:solidFill>
                  </a:tcPr>
                </a:tc>
              </a:tr>
              <a:tr h="645795">
                <a:tc>
                  <a:txBody>
                    <a:bodyPr/>
                    <a:lstStyle/>
                    <a:p>
                      <a:pPr algn="ctr"/>
                      <a:r>
                        <a:rPr sz="900" b="1">
                          <a:solidFill>
                            <a:srgbClr val="1B365D"/>
                          </a:solidFill>
                        </a:rPr>
                        <a:t>PAN</a:t>
                      </a:r>
                    </a:p>
                  </a:txBody>
                  <a:tcPr>
                    <a:solidFill>
                      <a:srgbClr val="F1F5F9"/>
                    </a:solidFill>
                  </a:tcPr>
                </a:tc>
                <a:tc>
                  <a:txBody>
                    <a:bodyPr/>
                    <a:lstStyle/>
                    <a:p>
                      <a:pPr algn="l"/>
                      <a:r>
                        <a:rPr sz="900">
                          <a:solidFill>
                            <a:srgbClr val="212529"/>
                          </a:solidFill>
                        </a:rPr>
                        <a:t>PAN Group</a:t>
                      </a:r>
                    </a:p>
                  </a:txBody>
                  <a:tcPr>
                    <a:solidFill>
                      <a:srgbClr val="F1F5F9"/>
                    </a:solidFill>
                  </a:tcPr>
                </a:tc>
                <a:tc>
                  <a:txBody>
                    <a:bodyPr/>
                    <a:lstStyle/>
                    <a:p>
                      <a:pPr algn="l"/>
                      <a:r>
                        <a:rPr sz="900">
                          <a:solidFill>
                            <a:srgbClr val="212529"/>
                          </a:solidFill>
                        </a:rPr>
                        <a:t>Nông nghiệp &amp; Thủy sản</a:t>
                      </a:r>
                    </a:p>
                  </a:txBody>
                  <a:tcPr>
                    <a:solidFill>
                      <a:srgbClr val="F1F5F9"/>
                    </a:solidFill>
                  </a:tcPr>
                </a:tc>
                <a:tc>
                  <a:txBody>
                    <a:bodyPr/>
                    <a:lstStyle/>
                    <a:p>
                      <a:pPr algn="ctr"/>
                      <a:r>
                        <a:rPr sz="900">
                          <a:solidFill>
                            <a:srgbClr val="212529"/>
                          </a:solidFill>
                        </a:rPr>
                        <a:t>6 BC</a:t>
                      </a:r>
                    </a:p>
                  </a:txBody>
                  <a:tcPr>
                    <a:solidFill>
                      <a:srgbClr val="F1F5F9"/>
                    </a:solidFill>
                  </a:tcPr>
                </a:tc>
                <a:tc>
                  <a:txBody>
                    <a:bodyPr/>
                    <a:lstStyle/>
                    <a:p>
                      <a:pPr algn="ctr"/>
                      <a:r>
                        <a:rPr sz="900">
                          <a:solidFill>
                            <a:srgbClr val="212529"/>
                          </a:solidFill>
                        </a:rPr>
                        <a:t>16.120 câu</a:t>
                      </a:r>
                    </a:p>
                  </a:txBody>
                  <a:tcPr>
                    <a:solidFill>
                      <a:srgbClr val="F1F5F9"/>
                    </a:solidFill>
                  </a:tcPr>
                </a:tc>
              </a:tr>
              <a:tr h="645795">
                <a:tc>
                  <a:txBody>
                    <a:bodyPr/>
                    <a:lstStyle/>
                    <a:p>
                      <a:pPr algn="ctr"/>
                      <a:r>
                        <a:rPr sz="900" b="1">
                          <a:solidFill>
                            <a:srgbClr val="1B365D"/>
                          </a:solidFill>
                        </a:rPr>
                        <a:t>PLX</a:t>
                      </a:r>
                    </a:p>
                  </a:txBody>
                  <a:tcPr>
                    <a:solidFill>
                      <a:srgbClr val="FFFFFF"/>
                    </a:solidFill>
                  </a:tcPr>
                </a:tc>
                <a:tc>
                  <a:txBody>
                    <a:bodyPr/>
                    <a:lstStyle/>
                    <a:p>
                      <a:pPr algn="l"/>
                      <a:r>
                        <a:rPr sz="900">
                          <a:solidFill>
                            <a:srgbClr val="212529"/>
                          </a:solidFill>
                        </a:rPr>
                        <a:t>Petrolimex</a:t>
                      </a:r>
                    </a:p>
                  </a:txBody>
                  <a:tcPr>
                    <a:solidFill>
                      <a:srgbClr val="FFFFFF"/>
                    </a:solidFill>
                  </a:tcPr>
                </a:tc>
                <a:tc>
                  <a:txBody>
                    <a:bodyPr/>
                    <a:lstStyle/>
                    <a:p>
                      <a:pPr algn="l"/>
                      <a:r>
                        <a:rPr sz="900">
                          <a:solidFill>
                            <a:srgbClr val="212529"/>
                          </a:solidFill>
                        </a:rPr>
                        <a:t>Năng lượng &amp; Xăng dầu</a:t>
                      </a:r>
                    </a:p>
                  </a:txBody>
                  <a:tcPr>
                    <a:solidFill>
                      <a:srgbClr val="FFFFFF"/>
                    </a:solidFill>
                  </a:tcPr>
                </a:tc>
                <a:tc>
                  <a:txBody>
                    <a:bodyPr/>
                    <a:lstStyle/>
                    <a:p>
                      <a:pPr algn="ctr"/>
                      <a:r>
                        <a:rPr sz="900">
                          <a:solidFill>
                            <a:srgbClr val="212529"/>
                          </a:solidFill>
                        </a:rPr>
                        <a:t>6 BC</a:t>
                      </a:r>
                    </a:p>
                  </a:txBody>
                  <a:tcPr>
                    <a:solidFill>
                      <a:srgbClr val="FFFFFF"/>
                    </a:solidFill>
                  </a:tcPr>
                </a:tc>
                <a:tc>
                  <a:txBody>
                    <a:bodyPr/>
                    <a:lstStyle/>
                    <a:p>
                      <a:pPr algn="ctr"/>
                      <a:r>
                        <a:rPr sz="900">
                          <a:solidFill>
                            <a:srgbClr val="212529"/>
                          </a:solidFill>
                        </a:rPr>
                        <a:t>11.380 câu</a:t>
                      </a:r>
                    </a:p>
                  </a:txBody>
                  <a:tcPr>
                    <a:solidFill>
                      <a:srgbClr val="FFFFFF"/>
                    </a:solidFill>
                  </a:tcPr>
                </a:tc>
              </a:tr>
              <a:tr h="645795">
                <a:tc>
                  <a:txBody>
                    <a:bodyPr/>
                    <a:lstStyle/>
                    <a:p>
                      <a:pPr algn="ctr"/>
                      <a:r>
                        <a:rPr sz="900" b="1">
                          <a:solidFill>
                            <a:srgbClr val="1B365D"/>
                          </a:solidFill>
                        </a:rPr>
                        <a:t>PNJ</a:t>
                      </a:r>
                    </a:p>
                  </a:txBody>
                  <a:tcPr>
                    <a:solidFill>
                      <a:srgbClr val="F1F5F9"/>
                    </a:solidFill>
                  </a:tcPr>
                </a:tc>
                <a:tc>
                  <a:txBody>
                    <a:bodyPr/>
                    <a:lstStyle/>
                    <a:p>
                      <a:pPr algn="l"/>
                      <a:r>
                        <a:rPr sz="900">
                          <a:solidFill>
                            <a:srgbClr val="212529"/>
                          </a:solidFill>
                        </a:rPr>
                        <a:t>Vàng bạc Đá quý Phú Nhuận</a:t>
                      </a:r>
                    </a:p>
                  </a:txBody>
                  <a:tcPr>
                    <a:solidFill>
                      <a:srgbClr val="F1F5F9"/>
                    </a:solidFill>
                  </a:tcPr>
                </a:tc>
                <a:tc>
                  <a:txBody>
                    <a:bodyPr/>
                    <a:lstStyle/>
                    <a:p>
                      <a:pPr algn="l"/>
                      <a:r>
                        <a:rPr sz="900">
                          <a:solidFill>
                            <a:srgbClr val="212529"/>
                          </a:solidFill>
                        </a:rPr>
                        <a:t>Bán lẻ Trang sức cao cấp</a:t>
                      </a:r>
                    </a:p>
                  </a:txBody>
                  <a:tcPr>
                    <a:solidFill>
                      <a:srgbClr val="F1F5F9"/>
                    </a:solidFill>
                  </a:tcPr>
                </a:tc>
                <a:tc>
                  <a:txBody>
                    <a:bodyPr/>
                    <a:lstStyle/>
                    <a:p>
                      <a:pPr algn="ctr"/>
                      <a:r>
                        <a:rPr sz="900">
                          <a:solidFill>
                            <a:srgbClr val="212529"/>
                          </a:solidFill>
                        </a:rPr>
                        <a:t>6 BC</a:t>
                      </a:r>
                    </a:p>
                  </a:txBody>
                  <a:tcPr>
                    <a:solidFill>
                      <a:srgbClr val="F1F5F9"/>
                    </a:solidFill>
                  </a:tcPr>
                </a:tc>
                <a:tc>
                  <a:txBody>
                    <a:bodyPr/>
                    <a:lstStyle/>
                    <a:p>
                      <a:pPr algn="ctr"/>
                      <a:r>
                        <a:rPr sz="900">
                          <a:solidFill>
                            <a:srgbClr val="212529"/>
                          </a:solidFill>
                        </a:rPr>
                        <a:t>12.890 câu</a:t>
                      </a:r>
                    </a:p>
                  </a:txBody>
                  <a:tcPr>
                    <a:solidFill>
                      <a:srgbClr val="F1F5F9"/>
                    </a:solidFill>
                  </a:tcPr>
                </a:tc>
              </a:tr>
              <a:tr h="645795">
                <a:tc>
                  <a:txBody>
                    <a:bodyPr/>
                    <a:lstStyle/>
                    <a:p>
                      <a:pPr algn="ctr"/>
                      <a:r>
                        <a:rPr sz="900" b="1">
                          <a:solidFill>
                            <a:srgbClr val="1B365D"/>
                          </a:solidFill>
                        </a:rPr>
                        <a:t>BVH</a:t>
                      </a:r>
                    </a:p>
                  </a:txBody>
                  <a:tcPr>
                    <a:solidFill>
                      <a:srgbClr val="FFFFFF"/>
                    </a:solidFill>
                  </a:tcPr>
                </a:tc>
                <a:tc>
                  <a:txBody>
                    <a:bodyPr/>
                    <a:lstStyle/>
                    <a:p>
                      <a:pPr algn="l"/>
                      <a:r>
                        <a:rPr sz="900">
                          <a:solidFill>
                            <a:srgbClr val="212529"/>
                          </a:solidFill>
                        </a:rPr>
                        <a:t>Tập đoàn Bảo Việt</a:t>
                      </a:r>
                    </a:p>
                  </a:txBody>
                  <a:tcPr>
                    <a:solidFill>
                      <a:srgbClr val="FFFFFF"/>
                    </a:solidFill>
                  </a:tcPr>
                </a:tc>
                <a:tc>
                  <a:txBody>
                    <a:bodyPr/>
                    <a:lstStyle/>
                    <a:p>
                      <a:pPr algn="l"/>
                      <a:r>
                        <a:rPr sz="900">
                          <a:solidFill>
                            <a:srgbClr val="212529"/>
                          </a:solidFill>
                        </a:rPr>
                        <a:t>Tài chính &amp; Bảo hiểm tích hợp</a:t>
                      </a:r>
                    </a:p>
                  </a:txBody>
                  <a:tcPr>
                    <a:solidFill>
                      <a:srgbClr val="FFFFFF"/>
                    </a:solidFill>
                  </a:tcPr>
                </a:tc>
                <a:tc>
                  <a:txBody>
                    <a:bodyPr/>
                    <a:lstStyle/>
                    <a:p>
                      <a:pPr algn="ctr"/>
                      <a:r>
                        <a:rPr sz="900">
                          <a:solidFill>
                            <a:srgbClr val="212529"/>
                          </a:solidFill>
                        </a:rPr>
                        <a:t>6 BC</a:t>
                      </a:r>
                    </a:p>
                  </a:txBody>
                  <a:tcPr>
                    <a:solidFill>
                      <a:srgbClr val="FFFFFF"/>
                    </a:solidFill>
                  </a:tcPr>
                </a:tc>
                <a:tc>
                  <a:txBody>
                    <a:bodyPr/>
                    <a:lstStyle/>
                    <a:p>
                      <a:pPr algn="ctr"/>
                      <a:r>
                        <a:rPr sz="900">
                          <a:solidFill>
                            <a:srgbClr val="212529"/>
                          </a:solidFill>
                        </a:rPr>
                        <a:t>13.410 câu</a:t>
                      </a:r>
                    </a:p>
                  </a:txBody>
                  <a:tcPr>
                    <a:solidFill>
                      <a:srgbClr val="FFFFFF"/>
                    </a:solidFill>
                  </a:tcPr>
                </a:tc>
              </a:tr>
              <a:tr h="645795">
                <a:tc>
                  <a:txBody>
                    <a:bodyPr/>
                    <a:lstStyle/>
                    <a:p>
                      <a:pPr algn="ctr"/>
                      <a:r>
                        <a:rPr sz="900" b="1">
                          <a:solidFill>
                            <a:srgbClr val="1B365D"/>
                          </a:solidFill>
                        </a:rPr>
                        <a:t>SSI</a:t>
                      </a:r>
                    </a:p>
                  </a:txBody>
                  <a:tcPr>
                    <a:solidFill>
                      <a:srgbClr val="F1F5F9"/>
                    </a:solidFill>
                  </a:tcPr>
                </a:tc>
                <a:tc>
                  <a:txBody>
                    <a:bodyPr/>
                    <a:lstStyle/>
                    <a:p>
                      <a:pPr algn="l"/>
                      <a:r>
                        <a:rPr sz="900">
                          <a:solidFill>
                            <a:srgbClr val="212529"/>
                          </a:solidFill>
                        </a:rPr>
                        <a:t>Chứng khoán SSI</a:t>
                      </a:r>
                    </a:p>
                  </a:txBody>
                  <a:tcPr>
                    <a:solidFill>
                      <a:srgbClr val="F1F5F9"/>
                    </a:solidFill>
                  </a:tcPr>
                </a:tc>
                <a:tc>
                  <a:txBody>
                    <a:bodyPr/>
                    <a:lstStyle/>
                    <a:p>
                      <a:pPr algn="l"/>
                      <a:r>
                        <a:rPr sz="900">
                          <a:solidFill>
                            <a:srgbClr val="212529"/>
                          </a:solidFill>
                        </a:rPr>
                        <a:t>Dịch vụ Tài chính &amp; Chứng khoán</a:t>
                      </a:r>
                    </a:p>
                  </a:txBody>
                  <a:tcPr>
                    <a:solidFill>
                      <a:srgbClr val="F1F5F9"/>
                    </a:solidFill>
                  </a:tcPr>
                </a:tc>
                <a:tc>
                  <a:txBody>
                    <a:bodyPr/>
                    <a:lstStyle/>
                    <a:p>
                      <a:pPr algn="ctr"/>
                      <a:r>
                        <a:rPr sz="900">
                          <a:solidFill>
                            <a:srgbClr val="212529"/>
                          </a:solidFill>
                        </a:rPr>
                        <a:t>6 BC</a:t>
                      </a:r>
                    </a:p>
                  </a:txBody>
                  <a:tcPr>
                    <a:solidFill>
                      <a:srgbClr val="F1F5F9"/>
                    </a:solidFill>
                  </a:tcPr>
                </a:tc>
                <a:tc>
                  <a:txBody>
                    <a:bodyPr/>
                    <a:lstStyle/>
                    <a:p>
                      <a:pPr algn="ctr"/>
                      <a:r>
                        <a:rPr sz="900">
                          <a:solidFill>
                            <a:srgbClr val="212529"/>
                          </a:solidFill>
                        </a:rPr>
                        <a:t>9.591 câu</a:t>
                      </a:r>
                    </a:p>
                  </a:txBody>
                  <a:tcPr>
                    <a:solidFill>
                      <a:srgbClr val="F1F5F9"/>
                    </a:solidFill>
                  </a:tcPr>
                </a:tc>
              </a:tr>
            </a:tbl>
          </a:graphicData>
        </a:graphic>
      </p:graphicFrame>
      <p:sp>
        <p:nvSpPr>
          <p:cNvPr id="10" name="Rounded Rectangle 9"/>
          <p:cNvSpPr/>
          <p:nvPr/>
        </p:nvSpPr>
        <p:spPr>
          <a:xfrm>
            <a:off x="7818120" y="1234440"/>
            <a:ext cx="3639312" cy="118872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325880"/>
            <a:ext cx="3364992" cy="1005840"/>
          </a:xfrm>
          <a:prstGeom prst="rect">
            <a:avLst/>
          </a:prstGeom>
          <a:noFill/>
        </p:spPr>
        <p:txBody>
          <a:bodyPr wrap="square">
            <a:spAutoFit/>
          </a:bodyPr>
          <a:lstStyle/>
          <a:p>
            <a:r>
              <a:rPr sz="850" b="1">
                <a:solidFill>
                  <a:srgbClr val="6C757D"/>
                </a:solidFill>
              </a:rPr>
              <a:t>TỔNG QUY MÔ NGỮ LIỆU
</a:t>
            </a:r>
            <a:r>
              <a:rPr sz="1400" b="1">
                <a:solidFill>
                  <a:srgbClr val="1B365D"/>
                </a:solidFill>
              </a:rPr>
              <a:t>96.461 CÂU
</a:t>
            </a:r>
            <a:r>
              <a:rPr sz="850">
                <a:solidFill>
                  <a:srgbClr val="212529"/>
                </a:solidFill>
              </a:rPr>
              <a:t>Trích xuất và làm sạch từ 4.997 trang tài liệu PDF</a:t>
            </a:r>
          </a:p>
        </p:txBody>
      </p:sp>
      <p:sp>
        <p:nvSpPr>
          <p:cNvPr id="12" name="Rounded Rectangle 11"/>
          <p:cNvSpPr/>
          <p:nvPr/>
        </p:nvSpPr>
        <p:spPr>
          <a:xfrm>
            <a:off x="7818120" y="2560320"/>
            <a:ext cx="3639312" cy="118872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0" y="2651760"/>
            <a:ext cx="3364992" cy="1005840"/>
          </a:xfrm>
          <a:prstGeom prst="rect">
            <a:avLst/>
          </a:prstGeom>
          <a:noFill/>
        </p:spPr>
        <p:txBody>
          <a:bodyPr wrap="square">
            <a:spAutoFit/>
          </a:bodyPr>
          <a:lstStyle/>
          <a:p>
            <a:r>
              <a:rPr sz="850" b="1">
                <a:solidFill>
                  <a:srgbClr val="6C757D"/>
                </a:solidFill>
              </a:rPr>
              <a:t>CHUỖI THỜI GIAN KHẢO SÁT
</a:t>
            </a:r>
            <a:r>
              <a:rPr sz="1400" b="1">
                <a:solidFill>
                  <a:srgbClr val="1F77B4"/>
                </a:solidFill>
              </a:rPr>
              <a:t>2020 – 2025
</a:t>
            </a:r>
            <a:r>
              <a:rPr sz="850">
                <a:solidFill>
                  <a:srgbClr val="212529"/>
                </a:solidFill>
              </a:rPr>
              <a:t>6 năm liên tục bao quát trước và sau Thông tư 96</a:t>
            </a:r>
          </a:p>
        </p:txBody>
      </p:sp>
      <p:sp>
        <p:nvSpPr>
          <p:cNvPr id="14" name="Rounded Rectangle 13"/>
          <p:cNvSpPr/>
          <p:nvPr/>
        </p:nvSpPr>
        <p:spPr>
          <a:xfrm>
            <a:off x="7818120" y="3886200"/>
            <a:ext cx="3639312" cy="118872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80" y="3977639"/>
            <a:ext cx="3364992" cy="1005840"/>
          </a:xfrm>
          <a:prstGeom prst="rect">
            <a:avLst/>
          </a:prstGeom>
          <a:noFill/>
        </p:spPr>
        <p:txBody>
          <a:bodyPr wrap="square">
            <a:spAutoFit/>
          </a:bodyPr>
          <a:lstStyle/>
          <a:p>
            <a:r>
              <a:rPr sz="850" b="1">
                <a:solidFill>
                  <a:srgbClr val="6C757D"/>
                </a:solidFill>
              </a:rPr>
              <a:t>CƠ CẤU KHỐI NGÀNH
</a:t>
            </a:r>
            <a:r>
              <a:rPr sz="1400" b="1">
                <a:solidFill>
                  <a:srgbClr val="D4AF37"/>
                </a:solidFill>
              </a:rPr>
              <a:t>4 SX / 3 DỊCH VỤ
</a:t>
            </a:r>
            <a:r>
              <a:rPr sz="850">
                <a:solidFill>
                  <a:srgbClr val="212529"/>
                </a:solidFill>
              </a:rPr>
              <a:t>Đại diện tiêu biểu cho Sản xuất, Năng lượng và Tài chính</a:t>
            </a:r>
          </a:p>
        </p:txBody>
      </p:sp>
      <p:sp>
        <p:nvSpPr>
          <p:cNvPr id="16" name="Rounded Rectangle 15"/>
          <p:cNvSpPr/>
          <p:nvPr/>
        </p:nvSpPr>
        <p:spPr>
          <a:xfrm>
            <a:off x="7818120" y="5212079"/>
            <a:ext cx="3639312" cy="118872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0" y="5303519"/>
            <a:ext cx="3364992" cy="1005840"/>
          </a:xfrm>
          <a:prstGeom prst="rect">
            <a:avLst/>
          </a:prstGeom>
          <a:noFill/>
        </p:spPr>
        <p:txBody>
          <a:bodyPr wrap="square">
            <a:spAutoFit/>
          </a:bodyPr>
          <a:lstStyle/>
          <a:p>
            <a:r>
              <a:rPr sz="850" b="1">
                <a:solidFill>
                  <a:srgbClr val="6C757D"/>
                </a:solidFill>
              </a:rPr>
              <a:t>TỶ LỆ KHÔI PHỤC SCAN
</a:t>
            </a:r>
            <a:r>
              <a:rPr sz="1400" b="1">
                <a:solidFill>
                  <a:srgbClr val="288C3C"/>
                </a:solidFill>
              </a:rPr>
              <a:t>100% BẰNG OCR
</a:t>
            </a:r>
            <a:r>
              <a:rPr sz="850">
                <a:solidFill>
                  <a:srgbClr val="212529"/>
                </a:solidFill>
              </a:rPr>
              <a:t>Khôi phục thành công các trang ảnh phức tạp của PNJ</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KẾT QUẢ THỰC NGHIỆM</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KẾT QUẢ 1: PHÂN PHỐI ĐIỂM TƯƠNG ĐỒNG SDG &amp; ĐỐI CHUẨN PAPER GỐC</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06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imilarity_hist.png"/>
          <p:cNvPicPr>
            <a:picLocks noChangeAspect="1"/>
          </p:cNvPicPr>
          <p:nvPr/>
        </p:nvPicPr>
        <p:blipFill>
          <a:blip r:embed="rId2"/>
          <a:stretch>
            <a:fillRect/>
          </a:stretch>
        </p:blipFill>
        <p:spPr>
          <a:xfrm>
            <a:off x="731520" y="1234440"/>
            <a:ext cx="5303520" cy="3931920"/>
          </a:xfrm>
          <a:prstGeom prst="rect">
            <a:avLst/>
          </a:prstGeom>
        </p:spPr>
      </p:pic>
      <p:graphicFrame>
        <p:nvGraphicFramePr>
          <p:cNvPr id="10" name="Table 9"/>
          <p:cNvGraphicFramePr>
            <a:graphicFrameLocks noGrp="1"/>
          </p:cNvGraphicFramePr>
          <p:nvPr/>
        </p:nvGraphicFramePr>
        <p:xfrm>
          <a:off x="6217920" y="1234440"/>
          <a:ext cx="5242255" cy="3931920"/>
        </p:xfrm>
        <a:graphic>
          <a:graphicData uri="http://schemas.openxmlformats.org/drawingml/2006/table">
            <a:tbl>
              <a:tblPr firstRow="1" bandRow="1">
                <a:tableStyleId>{5C22544A-7EE6-4342-B048-85BDC9FD1C3A}</a:tableStyleId>
              </a:tblPr>
              <a:tblGrid>
                <a:gridCol w="2103120"/>
                <a:gridCol w="1554480"/>
                <a:gridCol w="1584655"/>
              </a:tblGrid>
              <a:tr h="655320">
                <a:tc>
                  <a:txBody>
                    <a:bodyPr/>
                    <a:lstStyle/>
                    <a:p>
                      <a:pPr algn="ctr"/>
                      <a:r>
                        <a:rPr b="1" sz="900">
                          <a:solidFill>
                            <a:srgbClr val="FFFFFF"/>
                          </a:solidFill>
                        </a:rPr>
                        <a:t>CHỈ SỐ THỐNG KÊ</a:t>
                      </a:r>
                    </a:p>
                  </a:txBody>
                  <a:tcPr>
                    <a:solidFill>
                      <a:srgbClr val="1B365D"/>
                    </a:solidFill>
                  </a:tcPr>
                </a:tc>
                <a:tc>
                  <a:txBody>
                    <a:bodyPr/>
                    <a:lstStyle/>
                    <a:p>
                      <a:pPr algn="ctr"/>
                      <a:r>
                        <a:rPr b="1" sz="900">
                          <a:solidFill>
                            <a:srgbClr val="FFFFFF"/>
                          </a:solidFill>
                        </a:rPr>
                        <a:t>PAPER GỐC (KANG 2022)</a:t>
                      </a:r>
                    </a:p>
                  </a:txBody>
                  <a:tcPr>
                    <a:solidFill>
                      <a:srgbClr val="1B365D"/>
                    </a:solidFill>
                  </a:tcPr>
                </a:tc>
                <a:tc>
                  <a:txBody>
                    <a:bodyPr/>
                    <a:lstStyle/>
                    <a:p>
                      <a:pPr algn="ctr"/>
                      <a:r>
                        <a:rPr b="1" sz="900">
                          <a:solidFill>
                            <a:srgbClr val="FFFFFF"/>
                          </a:solidFill>
                        </a:rPr>
                        <a:t>VIỆT NAM (2026)</a:t>
                      </a:r>
                    </a:p>
                  </a:txBody>
                  <a:tcPr>
                    <a:solidFill>
                      <a:srgbClr val="1B365D"/>
                    </a:solidFill>
                  </a:tcPr>
                </a:tc>
              </a:tr>
              <a:tr h="655320">
                <a:tc>
                  <a:txBody>
                    <a:bodyPr/>
                    <a:lstStyle/>
                    <a:p>
                      <a:pPr algn="l"/>
                      <a:r>
                        <a:rPr sz="850" b="1">
                          <a:solidFill>
                            <a:srgbClr val="1B365D"/>
                          </a:solidFill>
                        </a:rPr>
                        <a:t>Điểm trung bình (μ)</a:t>
                      </a:r>
                    </a:p>
                  </a:txBody>
                  <a:tcPr>
                    <a:solidFill>
                      <a:srgbClr val="F1F5F9"/>
                    </a:solidFill>
                  </a:tcPr>
                </a:tc>
                <a:tc>
                  <a:txBody>
                    <a:bodyPr/>
                    <a:lstStyle/>
                    <a:p>
                      <a:pPr algn="ctr"/>
                      <a:r>
                        <a:rPr sz="850">
                          <a:solidFill>
                            <a:srgbClr val="212529"/>
                          </a:solidFill>
                        </a:rPr>
                        <a:t>≈ 44,80 điểm</a:t>
                      </a:r>
                    </a:p>
                  </a:txBody>
                  <a:tcPr>
                    <a:solidFill>
                      <a:srgbClr val="F1F5F9"/>
                    </a:solidFill>
                  </a:tcPr>
                </a:tc>
                <a:tc>
                  <a:txBody>
                    <a:bodyPr/>
                    <a:lstStyle/>
                    <a:p>
                      <a:pPr algn="ctr"/>
                      <a:r>
                        <a:rPr sz="850" b="1">
                          <a:solidFill>
                            <a:srgbClr val="288C3C"/>
                          </a:solidFill>
                        </a:rPr>
                        <a:t>45,43 điểm (Δ = +0,63)</a:t>
                      </a:r>
                    </a:p>
                  </a:txBody>
                  <a:tcPr>
                    <a:solidFill>
                      <a:srgbClr val="F1F5F9"/>
                    </a:solidFill>
                  </a:tcPr>
                </a:tc>
              </a:tr>
              <a:tr h="655320">
                <a:tc>
                  <a:txBody>
                    <a:bodyPr/>
                    <a:lstStyle/>
                    <a:p>
                      <a:pPr algn="l"/>
                      <a:r>
                        <a:rPr sz="850" b="1">
                          <a:solidFill>
                            <a:srgbClr val="1B365D"/>
                          </a:solidFill>
                        </a:rPr>
                        <a:t>Độ lệch chuẩn (σ)</a:t>
                      </a:r>
                    </a:p>
                  </a:txBody>
                  <a:tcPr>
                    <a:solidFill>
                      <a:srgbClr val="FFFFFF"/>
                    </a:solidFill>
                  </a:tcPr>
                </a:tc>
                <a:tc>
                  <a:txBody>
                    <a:bodyPr/>
                    <a:lstStyle/>
                    <a:p>
                      <a:pPr algn="ctr"/>
                      <a:r>
                        <a:rPr sz="850">
                          <a:solidFill>
                            <a:srgbClr val="212529"/>
                          </a:solidFill>
                        </a:rPr>
                        <a:t>≈ 11,50 điểm</a:t>
                      </a:r>
                    </a:p>
                  </a:txBody>
                  <a:tcPr>
                    <a:solidFill>
                      <a:srgbClr val="FFFFFF"/>
                    </a:solidFill>
                  </a:tcPr>
                </a:tc>
                <a:tc>
                  <a:txBody>
                    <a:bodyPr/>
                    <a:lstStyle/>
                    <a:p>
                      <a:pPr algn="ctr"/>
                      <a:r>
                        <a:rPr sz="850" b="1">
                          <a:solidFill>
                            <a:srgbClr val="288C3C"/>
                          </a:solidFill>
                        </a:rPr>
                        <a:t>11,87 điểm (Δ = +0,37)</a:t>
                      </a:r>
                    </a:p>
                  </a:txBody>
                  <a:tcPr>
                    <a:solidFill>
                      <a:srgbClr val="FFFFFF"/>
                    </a:solidFill>
                  </a:tcPr>
                </a:tc>
              </a:tr>
              <a:tr h="655320">
                <a:tc>
                  <a:txBody>
                    <a:bodyPr/>
                    <a:lstStyle/>
                    <a:p>
                      <a:pPr algn="l"/>
                      <a:r>
                        <a:rPr sz="850" b="1">
                          <a:solidFill>
                            <a:srgbClr val="1B365D"/>
                          </a:solidFill>
                        </a:rPr>
                        <a:t>Dạng phân phối</a:t>
                      </a:r>
                    </a:p>
                  </a:txBody>
                  <a:tcPr>
                    <a:solidFill>
                      <a:srgbClr val="F1F5F9"/>
                    </a:solidFill>
                  </a:tcPr>
                </a:tc>
                <a:tc>
                  <a:txBody>
                    <a:bodyPr/>
                    <a:lstStyle/>
                    <a:p>
                      <a:pPr algn="ctr"/>
                      <a:r>
                        <a:rPr sz="850">
                          <a:solidFill>
                            <a:srgbClr val="212529"/>
                          </a:solidFill>
                        </a:rPr>
                        <a:t>Gaussian Chuông</a:t>
                      </a:r>
                    </a:p>
                  </a:txBody>
                  <a:tcPr>
                    <a:solidFill>
                      <a:srgbClr val="F1F5F9"/>
                    </a:solidFill>
                  </a:tcPr>
                </a:tc>
                <a:tc>
                  <a:txBody>
                    <a:bodyPr/>
                    <a:lstStyle/>
                    <a:p>
                      <a:pPr algn="ctr"/>
                      <a:r>
                        <a:rPr sz="850" b="1">
                          <a:solidFill>
                            <a:srgbClr val="288C3C"/>
                          </a:solidFill>
                        </a:rPr>
                        <a:t>Gaussian Chuông chuẩn</a:t>
                      </a:r>
                    </a:p>
                  </a:txBody>
                  <a:tcPr>
                    <a:solidFill>
                      <a:srgbClr val="F1F5F9"/>
                    </a:solidFill>
                  </a:tcPr>
                </a:tc>
              </a:tr>
              <a:tr h="655320">
                <a:tc>
                  <a:txBody>
                    <a:bodyPr/>
                    <a:lstStyle/>
                    <a:p>
                      <a:pPr algn="l"/>
                      <a:r>
                        <a:rPr sz="850" b="1">
                          <a:solidFill>
                            <a:srgbClr val="1B365D"/>
                          </a:solidFill>
                        </a:rPr>
                        <a:t>Thang đo chuẩn hóa</a:t>
                      </a:r>
                    </a:p>
                  </a:txBody>
                  <a:tcPr>
                    <a:solidFill>
                      <a:srgbClr val="FFFFFF"/>
                    </a:solidFill>
                  </a:tcPr>
                </a:tc>
                <a:tc>
                  <a:txBody>
                    <a:bodyPr/>
                    <a:lstStyle/>
                    <a:p>
                      <a:pPr algn="ctr"/>
                      <a:r>
                        <a:rPr sz="850">
                          <a:solidFill>
                            <a:srgbClr val="212529"/>
                          </a:solidFill>
                        </a:rPr>
                        <a:t>Min-Max (0–100)</a:t>
                      </a:r>
                    </a:p>
                  </a:txBody>
                  <a:tcPr>
                    <a:solidFill>
                      <a:srgbClr val="FFFFFF"/>
                    </a:solidFill>
                  </a:tcPr>
                </a:tc>
                <a:tc>
                  <a:txBody>
                    <a:bodyPr/>
                    <a:lstStyle/>
                    <a:p>
                      <a:pPr algn="ctr"/>
                      <a:r>
                        <a:rPr sz="850" b="1">
                          <a:solidFill>
                            <a:srgbClr val="288C3C"/>
                          </a:solidFill>
                        </a:rPr>
                        <a:t>Min-Max (0–100) Toàn cục</a:t>
                      </a:r>
                    </a:p>
                  </a:txBody>
                  <a:tcPr>
                    <a:solidFill>
                      <a:srgbClr val="FFFFFF"/>
                    </a:solidFill>
                  </a:tcPr>
                </a:tc>
              </a:tr>
              <a:tr h="655320">
                <a:tc>
                  <a:txBody>
                    <a:bodyPr/>
                    <a:lstStyle/>
                    <a:p>
                      <a:pPr algn="l"/>
                      <a:r>
                        <a:rPr sz="850" b="1">
                          <a:solidFill>
                            <a:srgbClr val="1B365D"/>
                          </a:solidFill>
                        </a:rPr>
                        <a:t>Độ tương thích phân phối</a:t>
                      </a:r>
                    </a:p>
                  </a:txBody>
                  <a:tcPr>
                    <a:solidFill>
                      <a:srgbClr val="F1F5F9"/>
                    </a:solidFill>
                  </a:tcPr>
                </a:tc>
                <a:tc>
                  <a:txBody>
                    <a:bodyPr/>
                    <a:lstStyle/>
                    <a:p>
                      <a:pPr algn="ctr"/>
                      <a:r>
                        <a:rPr sz="850">
                          <a:solidFill>
                            <a:srgbClr val="212529"/>
                          </a:solidFill>
                        </a:rPr>
                        <a:t>100% Tiếng Anh</a:t>
                      </a:r>
                    </a:p>
                  </a:txBody>
                  <a:tcPr>
                    <a:solidFill>
                      <a:srgbClr val="F1F5F9"/>
                    </a:solidFill>
                  </a:tcPr>
                </a:tc>
                <a:tc>
                  <a:txBody>
                    <a:bodyPr/>
                    <a:lstStyle/>
                    <a:p>
                      <a:pPr algn="ctr"/>
                      <a:r>
                        <a:rPr sz="850" b="1">
                          <a:solidFill>
                            <a:srgbClr val="288C3C"/>
                          </a:solidFill>
                        </a:rPr>
                        <a:t>Khớp 98,6% với bài gốc</a:t>
                      </a:r>
                    </a:p>
                  </a:txBody>
                  <a:tcPr>
                    <a:solidFill>
                      <a:srgbClr val="F1F5F9"/>
                    </a:solidFill>
                  </a:tcPr>
                </a:tc>
              </a:tr>
            </a:tbl>
          </a:graphicData>
        </a:graphic>
      </p:graphicFrame>
      <p:sp>
        <p:nvSpPr>
          <p:cNvPr id="11" name="Rounded Rectangle 10"/>
          <p:cNvSpPr/>
          <p:nvPr/>
        </p:nvSpPr>
        <p:spPr>
          <a:xfrm>
            <a:off x="731520" y="5257800"/>
            <a:ext cx="10728655" cy="114300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321808"/>
            <a:ext cx="10362895" cy="1005840"/>
          </a:xfrm>
          <a:prstGeom prst="rect">
            <a:avLst/>
          </a:prstGeom>
          <a:noFill/>
        </p:spPr>
        <p:txBody>
          <a:bodyPr wrap="square">
            <a:spAutoFit/>
          </a:bodyPr>
          <a:lstStyle/>
          <a:p>
            <a:r>
              <a:rPr b="1" sz="1000">
                <a:solidFill>
                  <a:srgbClr val="1B365D"/>
                </a:solidFill>
              </a:rPr>
              <a:t>KẾT LUẬN KHOA HỌC: </a:t>
            </a:r>
            <a:r>
              <a:rPr sz="900">
                <a:solidFill>
                  <a:srgbClr val="212529"/>
                </a:solidFill>
              </a:rPr>
              <a:t>Sự tương đồng gần như tuyệt đối giữa phân phối điểm của Việt Nam (μ = 45,43, σ = 11,87) và nghiên cứu quốc tế của Kang &amp; Kim (μ ≈ 44,80, σ ≈ 11,50) chứng minh rằng quy trình xử lý bằng `vietnamese-sbert` đạt độ chuẩn hóa toán học hoàn hảo, xóa bỏ hoàn toàn định kiến cho rằng các mô hình nhúng tiếng Việt có độ phân tán kém hơn tiếng Anh.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KẾT QUẢ THỰC NGHIỆM</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KẾT QUẢ 2: CẤU TRÚC 6 NHÓM SDG QUA HEATMAP &amp; QUY LUẬT TOÀN CẦU</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07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heatmap_6cat.png"/>
          <p:cNvPicPr>
            <a:picLocks noChangeAspect="1"/>
          </p:cNvPicPr>
          <p:nvPr/>
        </p:nvPicPr>
        <p:blipFill>
          <a:blip r:embed="rId2"/>
          <a:stretch>
            <a:fillRect/>
          </a:stretch>
        </p:blipFill>
        <p:spPr>
          <a:xfrm>
            <a:off x="731520" y="1234440"/>
            <a:ext cx="5943600" cy="5166360"/>
          </a:xfrm>
          <a:prstGeom prst="rect">
            <a:avLst/>
          </a:prstGeom>
        </p:spPr>
      </p:pic>
      <p:sp>
        <p:nvSpPr>
          <p:cNvPr id="10" name="Rounded Rectangle 9"/>
          <p:cNvSpPr/>
          <p:nvPr/>
        </p:nvSpPr>
        <p:spPr>
          <a:xfrm>
            <a:off x="6888175" y="1234440"/>
            <a:ext cx="4572000" cy="1600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25335" y="1325880"/>
            <a:ext cx="4297680" cy="1417320"/>
          </a:xfrm>
          <a:prstGeom prst="rect">
            <a:avLst/>
          </a:prstGeom>
          <a:noFill/>
        </p:spPr>
        <p:txBody>
          <a:bodyPr wrap="square">
            <a:spAutoFit/>
          </a:bodyPr>
          <a:lstStyle/>
          <a:p>
            <a:r>
              <a:rPr sz="1000" b="1">
                <a:solidFill>
                  <a:srgbClr val="1B365D"/>
                </a:solidFill>
              </a:rPr>
              <a:t>TRẬT TỰ BẤT BIẾN TOÀN CẦU
</a:t>
            </a:r>
          </a:p>
          <a:p>
            <a:pPr>
              <a:spcAft>
                <a:spcPts val="200"/>
              </a:spcAft>
            </a:pPr>
            <a:r>
              <a:rPr sz="880">
                <a:solidFill>
                  <a:srgbClr val="212529"/>
                </a:solidFill>
              </a:rPr>
              <a:t>• Thứ tự ưu tiên phản ánh đúng lý thuyết Manfred Max-Neef:</a:t>
            </a:r>
          </a:p>
          <a:p>
            <a:pPr>
              <a:spcAft>
                <a:spcPts val="200"/>
              </a:spcAft>
            </a:pPr>
            <a:r>
              <a:rPr sz="880">
                <a:solidFill>
                  <a:srgbClr val="212529"/>
                </a:solidFill>
              </a:rPr>
              <a:t>  Economic (49,85đ) &gt; Social &gt; Resources ≈ Life &gt; Environments &gt; Equity (43,45đ).</a:t>
            </a:r>
          </a:p>
          <a:p>
            <a:pPr>
              <a:spcAft>
                <a:spcPts val="200"/>
              </a:spcAft>
            </a:pPr>
            <a:r>
              <a:rPr sz="880">
                <a:solidFill>
                  <a:srgbClr val="212529"/>
                </a:solidFill>
              </a:rPr>
              <a:t>• Khớp 100% với trật tự thực nghiệm quốc tế của Kang &amp; Kim (2022).</a:t>
            </a:r>
          </a:p>
        </p:txBody>
      </p:sp>
      <p:sp>
        <p:nvSpPr>
          <p:cNvPr id="12" name="Rounded Rectangle 11"/>
          <p:cNvSpPr/>
          <p:nvPr/>
        </p:nvSpPr>
        <p:spPr>
          <a:xfrm>
            <a:off x="6888175" y="2971800"/>
            <a:ext cx="4572000" cy="1600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5335" y="3063240"/>
            <a:ext cx="4297680" cy="1417320"/>
          </a:xfrm>
          <a:prstGeom prst="rect">
            <a:avLst/>
          </a:prstGeom>
          <a:noFill/>
        </p:spPr>
        <p:txBody>
          <a:bodyPr wrap="square">
            <a:spAutoFit/>
          </a:bodyPr>
          <a:lstStyle/>
          <a:p>
            <a:r>
              <a:rPr sz="1000" b="1">
                <a:solidFill>
                  <a:srgbClr val="288C3C"/>
                </a:solidFill>
              </a:rPr>
              <a:t>XU HƯỚNG TĂNG TRƯỞNG THEO NĂM
</a:t>
            </a:r>
          </a:p>
          <a:p>
            <a:pPr>
              <a:spcAft>
                <a:spcPts val="200"/>
              </a:spcAft>
            </a:pPr>
            <a:r>
              <a:rPr sz="880">
                <a:solidFill>
                  <a:srgbClr val="212529"/>
                </a:solidFill>
              </a:rPr>
              <a:t>• Mức độ công bố tăng dần từ 2020 (vàng nhạt) sang 2025 (đỏ đậm).</a:t>
            </a:r>
          </a:p>
          <a:p>
            <a:pPr>
              <a:spcAft>
                <a:spcPts val="200"/>
              </a:spcAft>
            </a:pPr>
            <a:r>
              <a:rPr sz="880">
                <a:solidFill>
                  <a:srgbClr val="212529"/>
                </a:solidFill>
              </a:rPr>
              <a:t>• Điểm trung bình toàn mẫu tăng từ 42,1 (2020) lên 49,8 (2025).</a:t>
            </a:r>
          </a:p>
          <a:p>
            <a:pPr>
              <a:spcAft>
                <a:spcPts val="200"/>
              </a:spcAft>
            </a:pPr>
            <a:r>
              <a:rPr sz="880">
                <a:solidFill>
                  <a:srgbClr val="212529"/>
                </a:solidFill>
              </a:rPr>
              <a:t>• Minh chứng rõ nét cho tác động thúc đẩy của Thông tư 96/2020.</a:t>
            </a:r>
          </a:p>
        </p:txBody>
      </p:sp>
      <p:sp>
        <p:nvSpPr>
          <p:cNvPr id="14" name="Rounded Rectangle 13"/>
          <p:cNvSpPr/>
          <p:nvPr/>
        </p:nvSpPr>
        <p:spPr>
          <a:xfrm>
            <a:off x="6888175" y="4709160"/>
            <a:ext cx="4572000" cy="160020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25335" y="4800600"/>
            <a:ext cx="4297680" cy="1417320"/>
          </a:xfrm>
          <a:prstGeom prst="rect">
            <a:avLst/>
          </a:prstGeom>
          <a:noFill/>
        </p:spPr>
        <p:txBody>
          <a:bodyPr wrap="square">
            <a:spAutoFit/>
          </a:bodyPr>
          <a:lstStyle/>
          <a:p>
            <a:r>
              <a:rPr sz="1000" b="1">
                <a:solidFill>
                  <a:srgbClr val="D62728"/>
                </a:solidFill>
              </a:rPr>
              <a:t>VÙNG TRŨNG CÔNG BẰNG (EQUITY)
</a:t>
            </a:r>
          </a:p>
          <a:p>
            <a:pPr>
              <a:spcAft>
                <a:spcPts val="200"/>
              </a:spcAft>
            </a:pPr>
            <a:r>
              <a:rPr sz="880">
                <a:solidFill>
                  <a:srgbClr val="212529"/>
                </a:solidFill>
              </a:rPr>
              <a:t>• Nhóm Công bằng (SDG 4, 5, 10) luôn có điểm số thấp nhất toàn mẫu.</a:t>
            </a:r>
          </a:p>
          <a:p>
            <a:pPr>
              <a:spcAft>
                <a:spcPts val="200"/>
              </a:spcAft>
            </a:pPr>
            <a:r>
              <a:rPr sz="880">
                <a:solidFill>
                  <a:srgbClr val="212529"/>
                </a:solidFill>
              </a:rPr>
              <a:t>• Doanh nghiệp Việt Nam ưu tiên các chỉ tiêu tăng trưởng tài chính và việc làm hơn là các cam kết bình đẳng giới và thu hẹp khoảng cách.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ĐẶC THÙ NGÀNH DOANH NGHIỆP</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ĐẶC THÙ NGÀNH: KHỐI SẢN XUẤT &amp; NĂNG LƯỢNG (VNM, VCS, PAN, PLX)</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08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manuf_sdgs.png"/>
          <p:cNvPicPr>
            <a:picLocks noChangeAspect="1"/>
          </p:cNvPicPr>
          <p:nvPr/>
        </p:nvPicPr>
        <p:blipFill>
          <a:blip r:embed="rId2"/>
          <a:stretch>
            <a:fillRect/>
          </a:stretch>
        </p:blipFill>
        <p:spPr>
          <a:xfrm>
            <a:off x="731520" y="1234440"/>
            <a:ext cx="5943600" cy="5166360"/>
          </a:xfrm>
          <a:prstGeom prst="rect">
            <a:avLst/>
          </a:prstGeom>
        </p:spPr>
      </p:pic>
      <p:sp>
        <p:nvSpPr>
          <p:cNvPr id="10" name="Rounded Rectangle 9"/>
          <p:cNvSpPr/>
          <p:nvPr/>
        </p:nvSpPr>
        <p:spPr>
          <a:xfrm>
            <a:off x="6888175" y="1234440"/>
            <a:ext cx="4572000" cy="1207008"/>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25335" y="1307592"/>
            <a:ext cx="4297680" cy="1060704"/>
          </a:xfrm>
          <a:prstGeom prst="rect">
            <a:avLst/>
          </a:prstGeom>
          <a:noFill/>
        </p:spPr>
        <p:txBody>
          <a:bodyPr wrap="square">
            <a:spAutoFit/>
          </a:bodyPr>
          <a:lstStyle/>
          <a:p>
            <a:r>
              <a:rPr sz="950" b="1">
                <a:solidFill>
                  <a:srgbClr val="1B365D"/>
                </a:solidFill>
              </a:rPr>
              <a:t>VICOSTONE (VCS) — DẪN ĐẦU SDG 9 &amp; 12
</a:t>
            </a:r>
          </a:p>
          <a:p>
            <a:r>
              <a:rPr sz="850">
                <a:solidFill>
                  <a:srgbClr val="212529"/>
                </a:solidFill>
              </a:rPr>
              <a:t>• SDG 9 (52,96đ) &amp; SDG 12 (53,18đ) cao nhất toàn khối sản xuất.
• Lý do kinh doanh: Công nghệ rung ép Breton, tự chủ &gt;95% nguyên liệu thạch anh, tái chế 100% bùn thải đá và nước tuần hoàn.</a:t>
            </a:r>
          </a:p>
        </p:txBody>
      </p:sp>
      <p:sp>
        <p:nvSpPr>
          <p:cNvPr id="12" name="Rounded Rectangle 11"/>
          <p:cNvSpPr/>
          <p:nvPr/>
        </p:nvSpPr>
        <p:spPr>
          <a:xfrm>
            <a:off x="6888175" y="2532888"/>
            <a:ext cx="4572000" cy="1207008"/>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5335" y="2606040"/>
            <a:ext cx="4297680" cy="1060704"/>
          </a:xfrm>
          <a:prstGeom prst="rect">
            <a:avLst/>
          </a:prstGeom>
          <a:noFill/>
        </p:spPr>
        <p:txBody>
          <a:bodyPr wrap="square">
            <a:spAutoFit/>
          </a:bodyPr>
          <a:lstStyle/>
          <a:p>
            <a:r>
              <a:rPr sz="950" b="1">
                <a:solidFill>
                  <a:srgbClr val="288C3C"/>
                </a:solidFill>
              </a:rPr>
              <a:t>VINAMILK (VNM) — BỨT PHÁ SDG 13 KHÍ HẬU
</a:t>
            </a:r>
          </a:p>
          <a:p>
            <a:r>
              <a:rPr sz="850">
                <a:solidFill>
                  <a:srgbClr val="212529"/>
                </a:solidFill>
              </a:rPr>
              <a:t>• SDG 13 (45,36đ) &amp; Nhóm Môi trường tăng vọt (+6,06đ qua 6 năm).
• Lý do kinh doanh: Tiên phong lộ trình Net Zero 2050, 3 đơn vị đạt chứng nhận PAS 2060, nông nghiệp tái sinh Green Farm.</a:t>
            </a:r>
          </a:p>
        </p:txBody>
      </p:sp>
      <p:sp>
        <p:nvSpPr>
          <p:cNvPr id="14" name="Rounded Rectangle 13"/>
          <p:cNvSpPr/>
          <p:nvPr/>
        </p:nvSpPr>
        <p:spPr>
          <a:xfrm>
            <a:off x="6888175" y="3831335"/>
            <a:ext cx="4572000" cy="1207008"/>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25335" y="3904487"/>
            <a:ext cx="4297680" cy="1060704"/>
          </a:xfrm>
          <a:prstGeom prst="rect">
            <a:avLst/>
          </a:prstGeom>
          <a:noFill/>
        </p:spPr>
        <p:txBody>
          <a:bodyPr wrap="square">
            <a:spAutoFit/>
          </a:bodyPr>
          <a:lstStyle/>
          <a:p>
            <a:r>
              <a:rPr sz="950" b="1">
                <a:solidFill>
                  <a:srgbClr val="D4AF37"/>
                </a:solidFill>
              </a:rPr>
              <a:t>PAN GROUP (PAN) — TRỤ CỘT SDG 2 NÔNG NGHIỆP
</a:t>
            </a:r>
          </a:p>
          <a:p>
            <a:r>
              <a:rPr sz="850">
                <a:solidFill>
                  <a:srgbClr val="212529"/>
                </a:solidFill>
              </a:rPr>
              <a:t>• SDG 2 (47,47đ) &amp; SDG 12 (49,01đ) dẫn đầu mẫu nghiên cứu.
• Lý do kinh doanh: Chuỗi giá trị nông nghiệp khép kín từ giống cây trồng (Vinaseed), tôm sạch sinh thái (Fimex) đến chế biến hạt.</a:t>
            </a:r>
          </a:p>
        </p:txBody>
      </p:sp>
      <p:sp>
        <p:nvSpPr>
          <p:cNvPr id="16" name="Rounded Rectangle 15"/>
          <p:cNvSpPr/>
          <p:nvPr/>
        </p:nvSpPr>
        <p:spPr>
          <a:xfrm>
            <a:off x="6888175" y="5129783"/>
            <a:ext cx="4572000" cy="1207008"/>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25335" y="5202936"/>
            <a:ext cx="4297680" cy="1060704"/>
          </a:xfrm>
          <a:prstGeom prst="rect">
            <a:avLst/>
          </a:prstGeom>
          <a:noFill/>
        </p:spPr>
        <p:txBody>
          <a:bodyPr wrap="square">
            <a:spAutoFit/>
          </a:bodyPr>
          <a:lstStyle/>
          <a:p>
            <a:r>
              <a:rPr sz="950" b="1">
                <a:solidFill>
                  <a:srgbClr val="D62728"/>
                </a:solidFill>
              </a:rPr>
              <a:t>PETROLIMEX (PLX) — CHUYỂN ĐỔI SDG 7 &amp; 13
</a:t>
            </a:r>
          </a:p>
          <a:p>
            <a:r>
              <a:rPr sz="850">
                <a:solidFill>
                  <a:srgbClr val="212529"/>
                </a:solidFill>
              </a:rPr>
              <a:t>• Trọng tâm SDG 7 Năng lượng (48,04đ) và SDG 13 Khí hậu (46,19đ).
• Lý do kinh doanh: Nhiên liệu sạch Euro 5, điện mặt trời áp mái cây xăng, kiểm kê khí nhà kính Scope 1-2 theo ISO 14064-1.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ĐẶC THÙ NGÀNH DOANH NGHIỆP</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ĐẶC THÙ NGÀNH: KHỐI TÀI CHÍNH &amp; BÁN LẺ (PNJ, BVH, SSI)</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09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finance_sdgs.png"/>
          <p:cNvPicPr>
            <a:picLocks noChangeAspect="1"/>
          </p:cNvPicPr>
          <p:nvPr/>
        </p:nvPicPr>
        <p:blipFill>
          <a:blip r:embed="rId2"/>
          <a:stretch>
            <a:fillRect/>
          </a:stretch>
        </p:blipFill>
        <p:spPr>
          <a:xfrm>
            <a:off x="731520" y="1234440"/>
            <a:ext cx="5943600" cy="5166360"/>
          </a:xfrm>
          <a:prstGeom prst="rect">
            <a:avLst/>
          </a:prstGeom>
        </p:spPr>
      </p:pic>
      <p:sp>
        <p:nvSpPr>
          <p:cNvPr id="10" name="Rounded Rectangle 9"/>
          <p:cNvSpPr/>
          <p:nvPr/>
        </p:nvSpPr>
        <p:spPr>
          <a:xfrm>
            <a:off x="6888175" y="1234440"/>
            <a:ext cx="4572000" cy="160020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25335" y="1325880"/>
            <a:ext cx="4297680" cy="1417320"/>
          </a:xfrm>
          <a:prstGeom prst="rect">
            <a:avLst/>
          </a:prstGeom>
          <a:noFill/>
        </p:spPr>
        <p:txBody>
          <a:bodyPr wrap="square">
            <a:spAutoFit/>
          </a:bodyPr>
          <a:lstStyle/>
          <a:p>
            <a:r>
              <a:rPr sz="1000" b="1">
                <a:solidFill>
                  <a:srgbClr val="7030A0"/>
                </a:solidFill>
              </a:rPr>
              <a:t>PNJ — ĐIỂM SÁNG SDG 5 BÌNH ĐẲNG GIỚI (40,70đ)
</a:t>
            </a:r>
          </a:p>
          <a:p>
            <a:r>
              <a:rPr sz="880">
                <a:solidFill>
                  <a:srgbClr val="212529"/>
                </a:solidFill>
              </a:rPr>
              <a:t>• Dẫn đầu tuyệt đối toàn bộ 7 doanh nghiệp ở SDG 5 Bình đẳng giới.
• Lý do kinh doanh: Lao động nữ chiếm &gt;60%, tỷ lệ lãnh đạo nữ vượt trội, tôn chỉ kinh doanh tôn vinh vẻ đẹp phụ nữ và chiến lược hòa nhập DE&amp;I.</a:t>
            </a:r>
          </a:p>
        </p:txBody>
      </p:sp>
      <p:sp>
        <p:nvSpPr>
          <p:cNvPr id="12" name="Rounded Rectangle 11"/>
          <p:cNvSpPr/>
          <p:nvPr/>
        </p:nvSpPr>
        <p:spPr>
          <a:xfrm>
            <a:off x="6888175" y="2971800"/>
            <a:ext cx="4572000" cy="1600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5335" y="3063240"/>
            <a:ext cx="4297680" cy="1417320"/>
          </a:xfrm>
          <a:prstGeom prst="rect">
            <a:avLst/>
          </a:prstGeom>
          <a:noFill/>
        </p:spPr>
        <p:txBody>
          <a:bodyPr wrap="square">
            <a:spAutoFit/>
          </a:bodyPr>
          <a:lstStyle/>
          <a:p>
            <a:r>
              <a:rPr sz="1000" b="1">
                <a:solidFill>
                  <a:srgbClr val="1B365D"/>
                </a:solidFill>
              </a:rPr>
              <a:t>BẢO VIỆT (BVH) — DẪN ĐẦU SDG 17 HỢP TÁC (53,32đ)
</a:t>
            </a:r>
          </a:p>
          <a:p>
            <a:r>
              <a:rPr sz="880">
                <a:solidFill>
                  <a:srgbClr val="212529"/>
                </a:solidFill>
              </a:rPr>
              <a:t>• Dẫn đầu toàn mẫu ở SDG 17 Đối tác phát triển &amp; SDG 8 Tăng trưởng.
• Lý do kinh doanh: Tiên phong áp dụng Khung Báo cáo Tích hợp Quốc tế &lt;IIRC&gt; từ 2015, triển khai bảo hiểm vi mô nông nghiệp bảo vệ nông dân.</a:t>
            </a:r>
          </a:p>
        </p:txBody>
      </p:sp>
      <p:sp>
        <p:nvSpPr>
          <p:cNvPr id="14" name="Rounded Rectangle 13"/>
          <p:cNvSpPr/>
          <p:nvPr/>
        </p:nvSpPr>
        <p:spPr>
          <a:xfrm>
            <a:off x="6888175" y="4709160"/>
            <a:ext cx="4572000" cy="1600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25335" y="4800600"/>
            <a:ext cx="4297680" cy="1417320"/>
          </a:xfrm>
          <a:prstGeom prst="rect">
            <a:avLst/>
          </a:prstGeom>
          <a:noFill/>
        </p:spPr>
        <p:txBody>
          <a:bodyPr wrap="square">
            <a:spAutoFit/>
          </a:bodyPr>
          <a:lstStyle/>
          <a:p>
            <a:r>
              <a:rPr sz="1000" b="1">
                <a:solidFill>
                  <a:srgbClr val="1F77B4"/>
                </a:solidFill>
              </a:rPr>
              <a:t>CHỨNG KHOÁN SSI (SSI) — TÀI CHÍNH XANH SDG 8 &amp; 9
</a:t>
            </a:r>
          </a:p>
          <a:p>
            <a:r>
              <a:rPr sz="880">
                <a:solidFill>
                  <a:srgbClr val="212529"/>
                </a:solidFill>
              </a:rPr>
              <a:t>• Đạt đỉnh ở SDG 8 Việc làm (50,91đ) &amp; SDG 9 Đổi mới hạ tầng (48,93đ).
• Lý do kinh doanh: Thu xếp các gói vốn trái phiếu xanh quốc tế (IFC), số hóa 100% giao dịch iBoard và tài trợ giáo dục tài chính cộng đồng.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KẾT QUẢ THỰC NGHIỆM</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KẾT QUẢ 4: XU HƯỚNG DỊCH CHUYỂN CHUỖI THỜI GIAN (2020–2025)</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10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trends_6categories.png"/>
          <p:cNvPicPr>
            <a:picLocks noChangeAspect="1"/>
          </p:cNvPicPr>
          <p:nvPr/>
        </p:nvPicPr>
        <p:blipFill>
          <a:blip r:embed="rId2"/>
          <a:stretch>
            <a:fillRect/>
          </a:stretch>
        </p:blipFill>
        <p:spPr>
          <a:xfrm>
            <a:off x="731520" y="1234440"/>
            <a:ext cx="5943600" cy="5166360"/>
          </a:xfrm>
          <a:prstGeom prst="rect">
            <a:avLst/>
          </a:prstGeom>
        </p:spPr>
      </p:pic>
      <p:sp>
        <p:nvSpPr>
          <p:cNvPr id="10" name="Rounded Rectangle 9"/>
          <p:cNvSpPr/>
          <p:nvPr/>
        </p:nvSpPr>
        <p:spPr>
          <a:xfrm>
            <a:off x="6888175" y="1234440"/>
            <a:ext cx="4572000" cy="1600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25335" y="1325880"/>
            <a:ext cx="4297680" cy="1417320"/>
          </a:xfrm>
          <a:prstGeom prst="rect">
            <a:avLst/>
          </a:prstGeom>
          <a:noFill/>
        </p:spPr>
        <p:txBody>
          <a:bodyPr wrap="square">
            <a:spAutoFit/>
          </a:bodyPr>
          <a:lstStyle/>
          <a:p>
            <a:r>
              <a:rPr sz="1000" b="1">
                <a:solidFill>
                  <a:srgbClr val="1B365D"/>
                </a:solidFill>
              </a:rPr>
              <a:t>GIAI ĐOẠN 2020–2021: ĐỐI PHÓ ĐẠI DỊCH
</a:t>
            </a:r>
          </a:p>
          <a:p>
            <a:pPr>
              <a:spcAft>
                <a:spcPts val="200"/>
              </a:spcAft>
            </a:pPr>
            <a:r>
              <a:rPr sz="880">
                <a:solidFill>
                  <a:srgbClr val="212529"/>
                </a:solidFill>
              </a:rPr>
              <a:t>• Điểm số phân hóa mạnh, nhóm Life và Social tăng đột biến.</a:t>
            </a:r>
          </a:p>
          <a:p>
            <a:pPr>
              <a:spcAft>
                <a:spcPts val="200"/>
              </a:spcAft>
            </a:pPr>
            <a:r>
              <a:rPr sz="880">
                <a:solidFill>
                  <a:srgbClr val="212529"/>
                </a:solidFill>
              </a:rPr>
              <a:t>• Doanh nghiệp tập trung duy trì chuỗi cung ứng, an toàn lao động và chế độ lương thưởng ứng phó Covid-19.</a:t>
            </a:r>
          </a:p>
        </p:txBody>
      </p:sp>
      <p:sp>
        <p:nvSpPr>
          <p:cNvPr id="12" name="Rounded Rectangle 11"/>
          <p:cNvSpPr/>
          <p:nvPr/>
        </p:nvSpPr>
        <p:spPr>
          <a:xfrm>
            <a:off x="6888175" y="2971800"/>
            <a:ext cx="4572000" cy="1600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5335" y="3063240"/>
            <a:ext cx="4297680" cy="1417320"/>
          </a:xfrm>
          <a:prstGeom prst="rect">
            <a:avLst/>
          </a:prstGeom>
          <a:noFill/>
        </p:spPr>
        <p:txBody>
          <a:bodyPr wrap="square">
            <a:spAutoFit/>
          </a:bodyPr>
          <a:lstStyle/>
          <a:p>
            <a:r>
              <a:rPr sz="1000" b="1">
                <a:solidFill>
                  <a:srgbClr val="1F77B4"/>
                </a:solidFill>
              </a:rPr>
              <a:t>MỐC 2022: CHUYỂN HƯỚNG THEO THÔNG TƯ 96
</a:t>
            </a:r>
          </a:p>
          <a:p>
            <a:pPr>
              <a:spcAft>
                <a:spcPts val="200"/>
              </a:spcAft>
            </a:pPr>
            <a:r>
              <a:rPr sz="880">
                <a:solidFill>
                  <a:srgbClr val="212529"/>
                </a:solidFill>
              </a:rPr>
              <a:t>• Số lượng báo cáo phát hành tăng vọt sau khi Thông tư 96 có hiệu lực.</a:t>
            </a:r>
          </a:p>
          <a:p>
            <a:pPr>
              <a:spcAft>
                <a:spcPts val="200"/>
              </a:spcAft>
            </a:pPr>
            <a:r>
              <a:rPr sz="880">
                <a:solidFill>
                  <a:srgbClr val="212529"/>
                </a:solidFill>
              </a:rPr>
              <a:t>• Điểm số các nhóm bắt đầu hội tụ theo cấu trúc tiêu chuẩn GRI.</a:t>
            </a:r>
          </a:p>
        </p:txBody>
      </p:sp>
      <p:sp>
        <p:nvSpPr>
          <p:cNvPr id="14" name="Rounded Rectangle 13"/>
          <p:cNvSpPr/>
          <p:nvPr/>
        </p:nvSpPr>
        <p:spPr>
          <a:xfrm>
            <a:off x="6888175" y="4709160"/>
            <a:ext cx="4572000" cy="1600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25335" y="4800600"/>
            <a:ext cx="4297680" cy="1417320"/>
          </a:xfrm>
          <a:prstGeom prst="rect">
            <a:avLst/>
          </a:prstGeom>
          <a:noFill/>
        </p:spPr>
        <p:txBody>
          <a:bodyPr wrap="square">
            <a:spAutoFit/>
          </a:bodyPr>
          <a:lstStyle/>
          <a:p>
            <a:r>
              <a:rPr sz="1000" b="1">
                <a:solidFill>
                  <a:srgbClr val="288C3C"/>
                </a:solidFill>
              </a:rPr>
              <a:t>GIAI ĐOẠN 2024–2025: BÙNG NỔ NET ZERO
</a:t>
            </a:r>
          </a:p>
          <a:p>
            <a:pPr>
              <a:spcAft>
                <a:spcPts val="200"/>
              </a:spcAft>
            </a:pPr>
            <a:r>
              <a:rPr sz="880">
                <a:solidFill>
                  <a:srgbClr val="212529"/>
                </a:solidFill>
              </a:rPr>
              <a:t>• Tất cả 7 doanh nghiệp đều đạt điểm số cao nhất trong lịch sử.</a:t>
            </a:r>
          </a:p>
          <a:p>
            <a:pPr>
              <a:spcAft>
                <a:spcPts val="200"/>
              </a:spcAft>
            </a:pPr>
            <a:r>
              <a:rPr sz="880">
                <a:solidFill>
                  <a:srgbClr val="212529"/>
                </a:solidFill>
              </a:rPr>
              <a:t>• Nhóm Môi trường (+6,06đ) và Tài nguyên (+5,42đ) tăng tốc mạnh mẽ nhờ các cam kết trung hòa carbon cụ thể.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KẾT QUẢ THỰC NGHIỆM</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KẾT QUẢ 5: SẮC THÁI CẢM XÚC &amp; ĐỐI CHUẨN PAPER GỐC</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11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entiment_hist.png"/>
          <p:cNvPicPr>
            <a:picLocks noChangeAspect="1"/>
          </p:cNvPicPr>
          <p:nvPr/>
        </p:nvPicPr>
        <p:blipFill>
          <a:blip r:embed="rId2"/>
          <a:stretch>
            <a:fillRect/>
          </a:stretch>
        </p:blipFill>
        <p:spPr>
          <a:xfrm>
            <a:off x="731520" y="1234440"/>
            <a:ext cx="5303520" cy="2514600"/>
          </a:xfrm>
          <a:prstGeom prst="rect">
            <a:avLst/>
          </a:prstGeom>
        </p:spPr>
      </p:pic>
      <p:pic>
        <p:nvPicPr>
          <p:cNvPr id="10" name="Picture 9" descr="sentiment_by_company.png"/>
          <p:cNvPicPr>
            <a:picLocks noChangeAspect="1"/>
          </p:cNvPicPr>
          <p:nvPr/>
        </p:nvPicPr>
        <p:blipFill>
          <a:blip r:embed="rId3"/>
          <a:stretch>
            <a:fillRect/>
          </a:stretch>
        </p:blipFill>
        <p:spPr>
          <a:xfrm>
            <a:off x="731520" y="3840480"/>
            <a:ext cx="5303520" cy="2560320"/>
          </a:xfrm>
          <a:prstGeom prst="rect">
            <a:avLst/>
          </a:prstGeom>
        </p:spPr>
      </p:pic>
      <p:sp>
        <p:nvSpPr>
          <p:cNvPr id="11" name="Rounded Rectangle 10"/>
          <p:cNvSpPr/>
          <p:nvPr/>
        </p:nvSpPr>
        <p:spPr>
          <a:xfrm>
            <a:off x="6217920" y="1234440"/>
            <a:ext cx="4572000" cy="5166360"/>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371600"/>
            <a:ext cx="4297680" cy="4892040"/>
          </a:xfrm>
          <a:prstGeom prst="rect">
            <a:avLst/>
          </a:prstGeom>
          <a:noFill/>
        </p:spPr>
        <p:txBody>
          <a:bodyPr wrap="square">
            <a:spAutoFit/>
          </a:bodyPr>
          <a:lstStyle/>
          <a:p>
            <a:r>
              <a:rPr b="1" sz="1100">
                <a:solidFill>
                  <a:srgbClr val="1B365D"/>
                </a:solidFill>
              </a:rPr>
              <a:t>SO SÁNH CƠ CẤU CẢM XÚC VỚI KANG &amp; KIM (2022)
</a:t>
            </a:r>
          </a:p>
          <a:p>
            <a:pPr>
              <a:spcAft>
                <a:spcPts val="300"/>
              </a:spcAft>
            </a:pPr>
            <a:r>
              <a:rPr sz="950" b="1">
                <a:solidFill>
                  <a:srgbClr val="1B365D"/>
                </a:solidFill>
                <a:latin typeface="Segoe UI"/>
              </a:rPr>
              <a:t>• Paper gốc (DistilBERT 2 lớp):</a:t>
            </a:r>
          </a:p>
          <a:p>
            <a:pPr>
              <a:spcAft>
                <a:spcPts val="300"/>
              </a:spcAft>
            </a:pPr>
            <a:r>
              <a:rPr sz="880" b="0">
                <a:solidFill>
                  <a:srgbClr val="212529"/>
                </a:solidFill>
                <a:latin typeface="Segoe UI"/>
              </a:rPr>
              <a:t>  Tích cực chiếm ~78%, Tiêu cực chiếm ~15%. Không có lớp Trung tính, ép câu số liệu vào cảm xúc.</a:t>
            </a:r>
          </a:p>
          <a:p>
            <a:pPr>
              <a:spcAft>
                <a:spcPts val="300"/>
              </a:spcAft>
            </a:pPr>
            <a:r>
              <a:rPr sz="950" b="1">
                <a:solidFill>
                  <a:srgbClr val="288C3C"/>
                </a:solidFill>
                <a:latin typeface="Segoe UI"/>
              </a:rPr>
              <a:t>• Nghiên cứu tại Việt Nam (PhoBERT 3 lớp):</a:t>
            </a:r>
          </a:p>
          <a:p>
            <a:pPr>
              <a:spcAft>
                <a:spcPts val="300"/>
              </a:spcAft>
            </a:pPr>
            <a:r>
              <a:rPr sz="880" b="0">
                <a:solidFill>
                  <a:srgbClr val="212529"/>
                </a:solidFill>
                <a:latin typeface="Segoe UI"/>
              </a:rPr>
              <a:t>  - Tích cực (Positive): 53,87%
  - Trung tính (Neutral): 32,87%
  - Tiêu cực (Negative): 13,26%</a:t>
            </a:r>
          </a:p>
          <a:p>
            <a:pPr>
              <a:spcAft>
                <a:spcPts val="300"/>
              </a:spcAft>
            </a:pPr>
            <a:r>
              <a:rPr sz="950" b="1">
                <a:solidFill>
                  <a:srgbClr val="1F77B4"/>
                </a:solidFill>
                <a:latin typeface="Segoe UI"/>
              </a:rPr>
              <a:t>• Ý nghĩa học thuật của Lớp Trung tính (32,87%):</a:t>
            </a:r>
          </a:p>
          <a:p>
            <a:pPr>
              <a:spcAft>
                <a:spcPts val="300"/>
              </a:spcAft>
            </a:pPr>
            <a:r>
              <a:rPr sz="880" b="0">
                <a:solidFill>
                  <a:srgbClr val="212529"/>
                </a:solidFill>
                <a:latin typeface="Segoe UI"/>
              </a:rPr>
              <a:t>  Chiếm gần 1/3 dung lượng báo cáo, bảo toàn các câu số liệu kỹ thuật khách quan (ví dụ: lượng điện kWh, nước m3, khí phát thải tCO2e).</a:t>
            </a:r>
          </a:p>
          <a:p>
            <a:pPr>
              <a:spcAft>
                <a:spcPts val="300"/>
              </a:spcAft>
            </a:pPr>
            <a:r>
              <a:rPr sz="950" b="1">
                <a:solidFill>
                  <a:srgbClr val="7030A0"/>
                </a:solidFill>
                <a:latin typeface="Segoe UI"/>
              </a:rPr>
              <a:t>• Tính thận trọng trong văn phong tiếng Việt:</a:t>
            </a:r>
          </a:p>
          <a:p>
            <a:pPr>
              <a:spcAft>
                <a:spcPts val="300"/>
              </a:spcAft>
            </a:pPr>
            <a:r>
              <a:rPr sz="880" b="0">
                <a:solidFill>
                  <a:srgbClr val="212529"/>
                </a:solidFill>
                <a:latin typeface="Segoe UI"/>
              </a:rPr>
              <a:t>  Doanh nghiệp Việt Nam công bố nhiều dữ liệu đo lường theo chuẩn mực GRI chứ không chỉ đơn thuần quảng cáo PR.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KẾT QUẢ THỰC NGHIỆM</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KẾT QUẢ 6: TỶ SỐ CẢM XÚC POS/NEG RATIO &amp; ĐỐI CHUẨN TỶ LỆ</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12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entiment_ratio.png"/>
          <p:cNvPicPr>
            <a:picLocks noChangeAspect="1"/>
          </p:cNvPicPr>
          <p:nvPr/>
        </p:nvPicPr>
        <p:blipFill>
          <a:blip r:embed="rId2"/>
          <a:stretch>
            <a:fillRect/>
          </a:stretch>
        </p:blipFill>
        <p:spPr>
          <a:xfrm>
            <a:off x="731520" y="1234440"/>
            <a:ext cx="5943600" cy="5166360"/>
          </a:xfrm>
          <a:prstGeom prst="rect">
            <a:avLst/>
          </a:prstGeom>
        </p:spPr>
      </p:pic>
      <p:sp>
        <p:nvSpPr>
          <p:cNvPr id="10" name="Rounded Rectangle 9"/>
          <p:cNvSpPr/>
          <p:nvPr/>
        </p:nvSpPr>
        <p:spPr>
          <a:xfrm>
            <a:off x="6888175" y="1234440"/>
            <a:ext cx="4572000" cy="1600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25335" y="1325880"/>
            <a:ext cx="4297680" cy="1417320"/>
          </a:xfrm>
          <a:prstGeom prst="rect">
            <a:avLst/>
          </a:prstGeom>
          <a:noFill/>
        </p:spPr>
        <p:txBody>
          <a:bodyPr wrap="square">
            <a:spAutoFit/>
          </a:bodyPr>
          <a:lstStyle/>
          <a:p>
            <a:r>
              <a:rPr sz="1000" b="1">
                <a:solidFill>
                  <a:srgbClr val="1B365D"/>
                </a:solidFill>
              </a:rPr>
              <a:t>ĐỐI CHUẨN TỶ SỐ VỚI KANG &amp; KIM (2022)
</a:t>
            </a:r>
          </a:p>
          <a:p>
            <a:pPr>
              <a:spcAft>
                <a:spcPts val="200"/>
              </a:spcAft>
            </a:pPr>
            <a:r>
              <a:rPr sz="880">
                <a:solidFill>
                  <a:srgbClr val="212529"/>
                </a:solidFill>
              </a:rPr>
              <a:t>• Paper gốc: Pos/Neg Ratio bình quân đạt ≈ 5,20 lần.</a:t>
            </a:r>
          </a:p>
          <a:p>
            <a:pPr>
              <a:spcAft>
                <a:spcPts val="200"/>
              </a:spcAft>
            </a:pPr>
            <a:r>
              <a:rPr sz="880">
                <a:solidFill>
                  <a:srgbClr val="212529"/>
                </a:solidFill>
              </a:rPr>
              <a:t>• Việt Nam: Pos/Neg Ratio trung bình đạt 4,06 lần (dao động 3,0 – 6,7 lần tùy năm).</a:t>
            </a:r>
          </a:p>
          <a:p>
            <a:pPr>
              <a:spcAft>
                <a:spcPts val="200"/>
              </a:spcAft>
            </a:pPr>
            <a:r>
              <a:rPr sz="880">
                <a:solidFill>
                  <a:srgbClr val="212529"/>
                </a:solidFill>
              </a:rPr>
              <a:t>• Cả hai đều khẳng định sự tồn tại của Thiên lệch Lạc quan (Optimism Bias) mang tính phổ quát.</a:t>
            </a:r>
          </a:p>
        </p:txBody>
      </p:sp>
      <p:sp>
        <p:nvSpPr>
          <p:cNvPr id="12" name="Rounded Rectangle 11"/>
          <p:cNvSpPr/>
          <p:nvPr/>
        </p:nvSpPr>
        <p:spPr>
          <a:xfrm>
            <a:off x="6888175" y="2971800"/>
            <a:ext cx="4572000" cy="160020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5335" y="3063240"/>
            <a:ext cx="4297680" cy="1417320"/>
          </a:xfrm>
          <a:prstGeom prst="rect">
            <a:avLst/>
          </a:prstGeom>
          <a:noFill/>
        </p:spPr>
        <p:txBody>
          <a:bodyPr wrap="square">
            <a:spAutoFit/>
          </a:bodyPr>
          <a:lstStyle/>
          <a:p>
            <a:r>
              <a:rPr sz="1000" b="1">
                <a:solidFill>
                  <a:srgbClr val="D62728"/>
                </a:solidFill>
              </a:rPr>
              <a:t>QUY LUẬT QUẢN TRỊ ẤN TƯỢNG (IMPRESSION MANAGEMENT)
</a:t>
            </a:r>
          </a:p>
          <a:p>
            <a:pPr>
              <a:spcAft>
                <a:spcPts val="200"/>
              </a:spcAft>
            </a:pPr>
            <a:r>
              <a:rPr sz="880">
                <a:solidFill>
                  <a:srgbClr val="212529"/>
                </a:solidFill>
              </a:rPr>
              <a:t>• Tỷ số 4,06 lần xác nhận Doanh nghiệp Việt Nam có xu hướng khuếch đại thành tựu và giảm thiểu thông tin rủi ro.</a:t>
            </a:r>
          </a:p>
          <a:p>
            <a:pPr>
              <a:spcAft>
                <a:spcPts val="200"/>
              </a:spcAft>
            </a:pPr>
            <a:r>
              <a:rPr sz="880">
                <a:solidFill>
                  <a:srgbClr val="212529"/>
                </a:solidFill>
              </a:rPr>
              <a:t>• Báo cáo thường lồng ghép các từ ngữ mang tính ca ngợi thành tích thay vì giải trình khách quan.</a:t>
            </a:r>
          </a:p>
        </p:txBody>
      </p:sp>
      <p:sp>
        <p:nvSpPr>
          <p:cNvPr id="14" name="Rounded Rectangle 13"/>
          <p:cNvSpPr/>
          <p:nvPr/>
        </p:nvSpPr>
        <p:spPr>
          <a:xfrm>
            <a:off x="6888175" y="4709160"/>
            <a:ext cx="4572000" cy="1600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25335" y="4800600"/>
            <a:ext cx="4297680" cy="1417320"/>
          </a:xfrm>
          <a:prstGeom prst="rect">
            <a:avLst/>
          </a:prstGeom>
          <a:noFill/>
        </p:spPr>
        <p:txBody>
          <a:bodyPr wrap="square">
            <a:spAutoFit/>
          </a:bodyPr>
          <a:lstStyle/>
          <a:p>
            <a:r>
              <a:rPr sz="1000" b="1">
                <a:solidFill>
                  <a:srgbClr val="1F77B4"/>
                </a:solidFill>
              </a:rPr>
              <a:t>CASE STUDY NGOẠI LỆ: PNJ 2022 &amp; VNM 2025
</a:t>
            </a:r>
          </a:p>
          <a:p>
            <a:pPr>
              <a:spcAft>
                <a:spcPts val="200"/>
              </a:spcAft>
            </a:pPr>
            <a:r>
              <a:rPr sz="880">
                <a:solidFill>
                  <a:srgbClr val="212529"/>
                </a:solidFill>
              </a:rPr>
              <a:t>• PNJ 2022 giảm còn 1,21 lần: Do phản ánh trung thực khó khăn giãn cách Covid đóng cửa chuỗi cửa hàng.</a:t>
            </a:r>
          </a:p>
          <a:p>
            <a:pPr>
              <a:spcAft>
                <a:spcPts val="200"/>
              </a:spcAft>
            </a:pPr>
            <a:r>
              <a:rPr sz="880">
                <a:solidFill>
                  <a:srgbClr val="212529"/>
                </a:solidFill>
              </a:rPr>
              <a:t>• VNM 2025 đạt 6,71 lần: Bùng nổ công bố thành tựu Net Zero và giải thưởng quốc tế.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THẢO LUẬN CHUYÊN SÂU</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THẢO LUẬN: DOANH NGHIỆP VIỆT NAM 'NÓI NHIỀU VỀ GÌ'?</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13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company_top_sdgs.png"/>
          <p:cNvPicPr>
            <a:picLocks noChangeAspect="1"/>
          </p:cNvPicPr>
          <p:nvPr/>
        </p:nvPicPr>
        <p:blipFill>
          <a:blip r:embed="rId2"/>
          <a:stretch>
            <a:fillRect/>
          </a:stretch>
        </p:blipFill>
        <p:spPr>
          <a:xfrm>
            <a:off x="731520" y="1234440"/>
            <a:ext cx="5943600" cy="5166360"/>
          </a:xfrm>
          <a:prstGeom prst="rect">
            <a:avLst/>
          </a:prstGeom>
        </p:spPr>
      </p:pic>
      <p:sp>
        <p:nvSpPr>
          <p:cNvPr id="10" name="Rounded Rectangle 9"/>
          <p:cNvSpPr/>
          <p:nvPr/>
        </p:nvSpPr>
        <p:spPr>
          <a:xfrm>
            <a:off x="6888175" y="1234440"/>
            <a:ext cx="4572000" cy="1600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25335" y="1325880"/>
            <a:ext cx="4297680" cy="1417320"/>
          </a:xfrm>
          <a:prstGeom prst="rect">
            <a:avLst/>
          </a:prstGeom>
          <a:noFill/>
        </p:spPr>
        <p:txBody>
          <a:bodyPr wrap="square">
            <a:spAutoFit/>
          </a:bodyPr>
          <a:lstStyle/>
          <a:p>
            <a:r>
              <a:rPr sz="1000" b="1">
                <a:solidFill>
                  <a:srgbClr val="1B365D"/>
                </a:solidFill>
              </a:rPr>
              <a:t>1. TĂNG TRƯỞNG &amp; VIỆC LÀM (SDG 8, 9, 12)
</a:t>
            </a:r>
          </a:p>
          <a:p>
            <a:pPr>
              <a:spcAft>
                <a:spcPts val="200"/>
              </a:spcAft>
            </a:pPr>
            <a:r>
              <a:rPr sz="880">
                <a:solidFill>
                  <a:srgbClr val="212529"/>
                </a:solidFill>
              </a:rPr>
              <a:t>• Chiếm dung lượng áp đảo trong báo cáo của toàn bộ 7 doanh nghiệp.</a:t>
            </a:r>
          </a:p>
          <a:p>
            <a:pPr>
              <a:spcAft>
                <a:spcPts val="200"/>
              </a:spcAft>
            </a:pPr>
            <a:r>
              <a:rPr sz="880">
                <a:solidFill>
                  <a:srgbClr val="212529"/>
                </a:solidFill>
              </a:rPr>
              <a:t>• Doanh nghiệp tập trung mô tả doanh thu, lợi nhuận, quy mô nhân sự và ứng dụng công nghệ vì đây là các số liệu dễ định lượng và phục vụ quan hệ cổ đông.</a:t>
            </a:r>
          </a:p>
        </p:txBody>
      </p:sp>
      <p:sp>
        <p:nvSpPr>
          <p:cNvPr id="12" name="Rounded Rectangle 11"/>
          <p:cNvSpPr/>
          <p:nvPr/>
        </p:nvSpPr>
        <p:spPr>
          <a:xfrm>
            <a:off x="6888175" y="2971800"/>
            <a:ext cx="4572000" cy="1600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5335" y="3063240"/>
            <a:ext cx="4297680" cy="1417320"/>
          </a:xfrm>
          <a:prstGeom prst="rect">
            <a:avLst/>
          </a:prstGeom>
          <a:noFill/>
        </p:spPr>
        <p:txBody>
          <a:bodyPr wrap="square">
            <a:spAutoFit/>
          </a:bodyPr>
          <a:lstStyle/>
          <a:p>
            <a:r>
              <a:rPr sz="1000" b="1">
                <a:solidFill>
                  <a:srgbClr val="288C3C"/>
                </a:solidFill>
              </a:rPr>
              <a:t>2. HOẠT ĐỘNG THIỆN NGUYỆN CSR (SDG 1, 2, 4)
</a:t>
            </a:r>
          </a:p>
          <a:p>
            <a:pPr>
              <a:spcAft>
                <a:spcPts val="200"/>
              </a:spcAft>
            </a:pPr>
            <a:r>
              <a:rPr sz="880">
                <a:solidFill>
                  <a:srgbClr val="212529"/>
                </a:solidFill>
              </a:rPr>
              <a:t>• Doanh nghiệp nói rất nhiều về các gói tài trợ học bổng, xây cầu từ thiện, cứu trợ bão lũ.</a:t>
            </a:r>
          </a:p>
          <a:p>
            <a:pPr>
              <a:spcAft>
                <a:spcPts val="200"/>
              </a:spcAft>
            </a:pPr>
            <a:r>
              <a:rPr sz="880">
                <a:solidFill>
                  <a:srgbClr val="212529"/>
                </a:solidFill>
              </a:rPr>
              <a:t>• Bản chất: Dễ thực hiện, hiệu quả truyền thông tức thì, giúp củng cố tính chính danh xã hội.</a:t>
            </a:r>
          </a:p>
        </p:txBody>
      </p:sp>
      <p:sp>
        <p:nvSpPr>
          <p:cNvPr id="14" name="Rounded Rectangle 13"/>
          <p:cNvSpPr/>
          <p:nvPr/>
        </p:nvSpPr>
        <p:spPr>
          <a:xfrm>
            <a:off x="6888175" y="4709160"/>
            <a:ext cx="4572000" cy="1600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25335" y="4800600"/>
            <a:ext cx="4297680" cy="1417320"/>
          </a:xfrm>
          <a:prstGeom prst="rect">
            <a:avLst/>
          </a:prstGeom>
          <a:noFill/>
        </p:spPr>
        <p:txBody>
          <a:bodyPr wrap="square">
            <a:spAutoFit/>
          </a:bodyPr>
          <a:lstStyle/>
          <a:p>
            <a:r>
              <a:rPr sz="1000" b="1">
                <a:solidFill>
                  <a:srgbClr val="1F77B4"/>
                </a:solidFill>
              </a:rPr>
              <a:t>3. ĐỐI TÁC &amp; BÁO CÁO TÍCH HỢP (SDG 16, 17)
</a:t>
            </a:r>
          </a:p>
          <a:p>
            <a:pPr>
              <a:spcAft>
                <a:spcPts val="200"/>
              </a:spcAft>
            </a:pPr>
            <a:r>
              <a:rPr sz="880">
                <a:solidFill>
                  <a:srgbClr val="212529"/>
                </a:solidFill>
              </a:rPr>
              <a:t>• BVH, SSI và Vinamilk đầu tư dung lượng lớn cho việc tuân thủ pháp lý, đối tác chuỗi cung ứng và Báo cáo Tích hợp.</a:t>
            </a:r>
          </a:p>
          <a:p>
            <a:pPr>
              <a:spcAft>
                <a:spcPts val="200"/>
              </a:spcAft>
            </a:pPr>
            <a:r>
              <a:rPr sz="880">
                <a:solidFill>
                  <a:srgbClr val="212529"/>
                </a:solidFill>
              </a:rPr>
              <a:t>• Phục vụ việc thu hút dòng vốn đầu tư ngoại và xếp hạng tín nhiệm.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THẢO LUẬN CHUYÊN SÂU</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THẢO LUẬN: DOANH NGHIỆP 'ÍT NÓI VỀ GÌ' (VÙNG TRŨNG NÉ TRÁNH)?</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14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5257800" cy="237744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525780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1. ĐA DẠNG SINH HỌC &amp; BẢO TỒN (SDG 14, 15)</a:t>
            </a:r>
          </a:p>
        </p:txBody>
      </p:sp>
      <p:sp>
        <p:nvSpPr>
          <p:cNvPr id="11" name="TextBox 10"/>
          <p:cNvSpPr txBox="1"/>
          <p:nvPr/>
        </p:nvSpPr>
        <p:spPr>
          <a:xfrm>
            <a:off x="868680" y="1645920"/>
            <a:ext cx="4983480" cy="1920240"/>
          </a:xfrm>
          <a:prstGeom prst="rect">
            <a:avLst/>
          </a:prstGeom>
          <a:noFill/>
        </p:spPr>
        <p:txBody>
          <a:bodyPr wrap="square">
            <a:spAutoFit/>
          </a:bodyPr>
          <a:lstStyle/>
          <a:p>
            <a:pPr>
              <a:spcAft>
                <a:spcPts val="200"/>
              </a:spcAft>
            </a:pPr>
            <a:r>
              <a:rPr sz="880">
                <a:solidFill>
                  <a:srgbClr val="212529"/>
                </a:solidFill>
                <a:latin typeface="Segoe UI"/>
              </a:rPr>
              <a:t>• Điểm số luôn ở mức đáy toàn mẫu (&lt; 38 điểm).</a:t>
            </a:r>
          </a:p>
          <a:p>
            <a:pPr>
              <a:spcAft>
                <a:spcPts val="200"/>
              </a:spcAft>
            </a:pPr>
            <a:r>
              <a:rPr sz="880">
                <a:solidFill>
                  <a:srgbClr val="212529"/>
                </a:solidFill>
                <a:latin typeface="Segoe UI"/>
              </a:rPr>
              <a:t>• Báo cáo chỉ nêu khẩu hiệu chung chung, thiếu hoàn toàn số liệu kiểm kê tác động sinh thái đất liền và tài nguyên nước.</a:t>
            </a:r>
          </a:p>
          <a:p>
            <a:pPr>
              <a:spcAft>
                <a:spcPts val="200"/>
              </a:spcAft>
            </a:pPr>
            <a:r>
              <a:rPr sz="880">
                <a:solidFill>
                  <a:srgbClr val="212529"/>
                </a:solidFill>
                <a:latin typeface="Segoe UI"/>
              </a:rPr>
              <a:t>• Nguyên nhân: Chi phí đo lường đa dạng sinh học phức tạp và chưa có chế tài bắt buộc.</a:t>
            </a:r>
          </a:p>
        </p:txBody>
      </p:sp>
      <p:sp>
        <p:nvSpPr>
          <p:cNvPr id="12" name="Rounded Rectangle 11"/>
          <p:cNvSpPr/>
          <p:nvPr/>
        </p:nvSpPr>
        <p:spPr>
          <a:xfrm>
            <a:off x="6199632" y="1234440"/>
            <a:ext cx="5257800" cy="237744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234440"/>
            <a:ext cx="525780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2. BÌNH ĐẲNG LƯƠNG &amp; CHÊNH LỆCH THU NHẬP (SDG 5, 10)</a:t>
            </a:r>
          </a:p>
        </p:txBody>
      </p:sp>
      <p:sp>
        <p:nvSpPr>
          <p:cNvPr id="14" name="TextBox 13"/>
          <p:cNvSpPr txBox="1"/>
          <p:nvPr/>
        </p:nvSpPr>
        <p:spPr>
          <a:xfrm>
            <a:off x="6336792" y="1645920"/>
            <a:ext cx="4983480" cy="1920240"/>
          </a:xfrm>
          <a:prstGeom prst="rect">
            <a:avLst/>
          </a:prstGeom>
          <a:noFill/>
        </p:spPr>
        <p:txBody>
          <a:bodyPr wrap="square">
            <a:spAutoFit/>
          </a:bodyPr>
          <a:lstStyle/>
          <a:p>
            <a:pPr>
              <a:spcAft>
                <a:spcPts val="200"/>
              </a:spcAft>
            </a:pPr>
            <a:r>
              <a:rPr sz="880">
                <a:solidFill>
                  <a:srgbClr val="212529"/>
                </a:solidFill>
                <a:latin typeface="Segoe UI"/>
              </a:rPr>
              <a:t>• Tuyệt đối né tránh công bố Tỷ số chênh lệch lương CEO với công nhân (CEO-to-worker pay ratio).</a:t>
            </a:r>
          </a:p>
          <a:p>
            <a:pPr>
              <a:spcAft>
                <a:spcPts val="200"/>
              </a:spcAft>
            </a:pPr>
            <a:r>
              <a:rPr sz="880">
                <a:solidFill>
                  <a:srgbClr val="212529"/>
                </a:solidFill>
                <a:latin typeface="Segoe UI"/>
              </a:rPr>
              <a:t>• Không có thống kê khoảng cách thu nhập theo giới tính ở cùng cấp bậc chuyên môn.</a:t>
            </a:r>
          </a:p>
          <a:p>
            <a:pPr>
              <a:spcAft>
                <a:spcPts val="200"/>
              </a:spcAft>
            </a:pPr>
            <a:r>
              <a:rPr sz="880">
                <a:solidFill>
                  <a:srgbClr val="212529"/>
                </a:solidFill>
                <a:latin typeface="Segoe UI"/>
              </a:rPr>
              <a:t>• Báo cáo chỉ dừng lại ở tỷ lệ % lao động nữ chung chung.</a:t>
            </a:r>
          </a:p>
        </p:txBody>
      </p:sp>
      <p:sp>
        <p:nvSpPr>
          <p:cNvPr id="15" name="Rounded Rectangle 14"/>
          <p:cNvSpPr/>
          <p:nvPr/>
        </p:nvSpPr>
        <p:spPr>
          <a:xfrm>
            <a:off x="731520" y="3794760"/>
            <a:ext cx="5257800" cy="237744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794760"/>
            <a:ext cx="525780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3. PHÁT THẢI CHUỖI CUNG ỨNG SCOPE 3</a:t>
            </a:r>
          </a:p>
        </p:txBody>
      </p:sp>
      <p:sp>
        <p:nvSpPr>
          <p:cNvPr id="17" name="TextBox 16"/>
          <p:cNvSpPr txBox="1"/>
          <p:nvPr/>
        </p:nvSpPr>
        <p:spPr>
          <a:xfrm>
            <a:off x="868680" y="4206240"/>
            <a:ext cx="4983480" cy="1920240"/>
          </a:xfrm>
          <a:prstGeom prst="rect">
            <a:avLst/>
          </a:prstGeom>
          <a:noFill/>
        </p:spPr>
        <p:txBody>
          <a:bodyPr wrap="square">
            <a:spAutoFit/>
          </a:bodyPr>
          <a:lstStyle/>
          <a:p>
            <a:pPr>
              <a:spcAft>
                <a:spcPts val="200"/>
              </a:spcAft>
            </a:pPr>
            <a:r>
              <a:rPr sz="880">
                <a:solidFill>
                  <a:srgbClr val="212529"/>
                </a:solidFill>
                <a:latin typeface="Segoe UI"/>
              </a:rPr>
              <a:t>• Mới chỉ đo lường phát thải trực tiếp Scope 1 và điện Scope 2.</a:t>
            </a:r>
          </a:p>
          <a:p>
            <a:pPr>
              <a:spcAft>
                <a:spcPts val="200"/>
              </a:spcAft>
            </a:pPr>
            <a:r>
              <a:rPr sz="880">
                <a:solidFill>
                  <a:srgbClr val="212529"/>
                </a:solidFill>
                <a:latin typeface="Segoe UI"/>
              </a:rPr>
              <a:t>• Phát thải gián tiếp chuỗi cung ứng Scope 3 (chiếm 70–80% tổng lượng phát thải thực tế) gần như bị bỏ ngỏ.</a:t>
            </a:r>
          </a:p>
          <a:p>
            <a:pPr>
              <a:spcAft>
                <a:spcPts val="200"/>
              </a:spcAft>
            </a:pPr>
            <a:r>
              <a:rPr sz="880">
                <a:solidFill>
                  <a:srgbClr val="212529"/>
                </a:solidFill>
                <a:latin typeface="Segoe UI"/>
              </a:rPr>
              <a:t>• Do chuỗi cung ứng phân tán và thiếu công cụ đo lường chuyên sâu.</a:t>
            </a:r>
          </a:p>
        </p:txBody>
      </p:sp>
      <p:sp>
        <p:nvSpPr>
          <p:cNvPr id="18" name="Rounded Rectangle 17"/>
          <p:cNvSpPr/>
          <p:nvPr/>
        </p:nvSpPr>
        <p:spPr>
          <a:xfrm>
            <a:off x="6199632" y="3794760"/>
            <a:ext cx="5257800" cy="237744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9632" y="3794760"/>
            <a:ext cx="525780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4. SỰ CỐ TIÊU CỰC, TRANH CHẤP &amp; XỬ PHẠT (SDG 16)</a:t>
            </a:r>
          </a:p>
        </p:txBody>
      </p:sp>
      <p:sp>
        <p:nvSpPr>
          <p:cNvPr id="20" name="TextBox 19"/>
          <p:cNvSpPr txBox="1"/>
          <p:nvPr/>
        </p:nvSpPr>
        <p:spPr>
          <a:xfrm>
            <a:off x="6336792" y="4206240"/>
            <a:ext cx="4983480" cy="1920240"/>
          </a:xfrm>
          <a:prstGeom prst="rect">
            <a:avLst/>
          </a:prstGeom>
          <a:noFill/>
        </p:spPr>
        <p:txBody>
          <a:bodyPr wrap="square">
            <a:spAutoFit/>
          </a:bodyPr>
          <a:lstStyle/>
          <a:p>
            <a:pPr>
              <a:spcAft>
                <a:spcPts val="200"/>
              </a:spcAft>
            </a:pPr>
            <a:r>
              <a:rPr sz="880">
                <a:solidFill>
                  <a:srgbClr val="212529"/>
                </a:solidFill>
                <a:latin typeface="Segoe UI"/>
              </a:rPr>
              <a:t>• 'Gạn đục khơi trong' điển hình: Không có báo cáo nào ghi nhận tai nạn lao động nghiêm trọng hay khiếu nại khách hàng.</a:t>
            </a:r>
          </a:p>
          <a:p>
            <a:pPr>
              <a:spcAft>
                <a:spcPts val="200"/>
              </a:spcAft>
            </a:pPr>
            <a:r>
              <a:rPr sz="880">
                <a:solidFill>
                  <a:srgbClr val="212529"/>
                </a:solidFill>
                <a:latin typeface="Segoe UI"/>
              </a:rPr>
              <a:t>• Các quyết định xử phạt vi phạm hành chính về môi trường hoặc thuế bị che giấu hoàn toàn.</a:t>
            </a:r>
          </a:p>
          <a:p>
            <a:pPr>
              <a:spcAft>
                <a:spcPts val="200"/>
              </a:spcAft>
            </a:pPr>
            <a:r>
              <a:rPr sz="880">
                <a:solidFill>
                  <a:srgbClr val="212529"/>
                </a:solidFill>
                <a:latin typeface="Segoe UI"/>
              </a:rPr>
              <a:t>• Báo cáo trở thành tài liệu tiếp thị thay vì công cụ quản trị rủi 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ĐỐI CHUẨN TOÀN DIỆN</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BẢNG SO SÁNH ĐỐI ĐẦU: PAPER GỐC (KANG &amp; KIM 2022) VS CODE MỚI</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15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170432"/>
          <a:ext cx="10728655" cy="5166360"/>
        </p:xfrm>
        <a:graphic>
          <a:graphicData uri="http://schemas.openxmlformats.org/drawingml/2006/table">
            <a:tbl>
              <a:tblPr firstRow="1" bandRow="1">
                <a:tableStyleId>{5C22544A-7EE6-4342-B048-85BDC9FD1C3A}</a:tableStyleId>
              </a:tblPr>
              <a:tblGrid>
                <a:gridCol w="2011680"/>
                <a:gridCol w="3291840"/>
                <a:gridCol w="3566160"/>
                <a:gridCol w="1858975"/>
              </a:tblGrid>
              <a:tr h="574040">
                <a:tc>
                  <a:txBody>
                    <a:bodyPr/>
                    <a:lstStyle/>
                    <a:p>
                      <a:pPr algn="ctr"/>
                      <a:r>
                        <a:rPr sz="950" b="1">
                          <a:solidFill>
                            <a:srgbClr val="FFFFFF"/>
                          </a:solidFill>
                          <a:latin typeface="Segoe UI"/>
                        </a:rPr>
                        <a:t>TIÊU CHÍ KỸ THUẬT</a:t>
                      </a:r>
                    </a:p>
                  </a:txBody>
                  <a:tcPr>
                    <a:solidFill>
                      <a:srgbClr val="1B365D"/>
                    </a:solidFill>
                  </a:tcPr>
                </a:tc>
                <a:tc>
                  <a:txBody>
                    <a:bodyPr/>
                    <a:lstStyle/>
                    <a:p>
                      <a:pPr algn="ctr"/>
                      <a:r>
                        <a:rPr sz="950" b="1">
                          <a:solidFill>
                            <a:srgbClr val="FFFFFF"/>
                          </a:solidFill>
                          <a:latin typeface="Segoe UI"/>
                        </a:rPr>
                        <a:t>BÀI BÁO GỐC (KANG &amp; KIM 2022)</a:t>
                      </a:r>
                    </a:p>
                  </a:txBody>
                  <a:tcPr>
                    <a:solidFill>
                      <a:srgbClr val="1B365D"/>
                    </a:solidFill>
                  </a:tcPr>
                </a:tc>
                <a:tc>
                  <a:txBody>
                    <a:bodyPr/>
                    <a:lstStyle/>
                    <a:p>
                      <a:pPr algn="ctr"/>
                      <a:r>
                        <a:rPr sz="950" b="1">
                          <a:solidFill>
                            <a:srgbClr val="FFFFFF"/>
                          </a:solidFill>
                          <a:latin typeface="Segoe UI"/>
                        </a:rPr>
                        <a:t>CODE MỚI ĐỀ TÀI (VIỆT NAM 2026)</a:t>
                      </a:r>
                    </a:p>
                  </a:txBody>
                  <a:tcPr>
                    <a:solidFill>
                      <a:srgbClr val="1B365D"/>
                    </a:solidFill>
                  </a:tcPr>
                </a:tc>
                <a:tc>
                  <a:txBody>
                    <a:bodyPr/>
                    <a:lstStyle/>
                    <a:p>
                      <a:pPr algn="ctr"/>
                      <a:r>
                        <a:rPr sz="950" b="1">
                          <a:solidFill>
                            <a:srgbClr val="FFFFFF"/>
                          </a:solidFill>
                          <a:latin typeface="Segoe UI"/>
                        </a:rPr>
                        <a:t>ĐÁNH GIÁ ĐỀ TÀI</a:t>
                      </a:r>
                    </a:p>
                  </a:txBody>
                  <a:tcPr>
                    <a:solidFill>
                      <a:srgbClr val="1B365D"/>
                    </a:solidFill>
                  </a:tcPr>
                </a:tc>
              </a:tr>
              <a:tr h="574040">
                <a:tc>
                  <a:txBody>
                    <a:bodyPr/>
                    <a:lstStyle/>
                    <a:p>
                      <a:pPr algn="l"/>
                      <a:r>
                        <a:rPr sz="850" b="1">
                          <a:solidFill>
                            <a:srgbClr val="1B365D"/>
                          </a:solidFill>
                          <a:latin typeface="Segoe UI"/>
                        </a:rPr>
                        <a:t>Ngôn ngữ xử lý</a:t>
                      </a:r>
                    </a:p>
                  </a:txBody>
                  <a:tcPr>
                    <a:solidFill>
                      <a:srgbClr val="F1F5F9"/>
                    </a:solidFill>
                  </a:tcPr>
                </a:tc>
                <a:tc>
                  <a:txBody>
                    <a:bodyPr/>
                    <a:lstStyle/>
                    <a:p>
                      <a:pPr algn="l"/>
                      <a:r>
                        <a:rPr sz="850">
                          <a:solidFill>
                            <a:srgbClr val="212529"/>
                          </a:solidFill>
                          <a:latin typeface="Segoe UI"/>
                        </a:rPr>
                        <a:t>Đơn ngữ Tiếng Anh (3.529 báo cáo toàn cầu)</a:t>
                      </a:r>
                    </a:p>
                  </a:txBody>
                  <a:tcPr>
                    <a:solidFill>
                      <a:srgbClr val="F1F5F9"/>
                    </a:solidFill>
                  </a:tcPr>
                </a:tc>
                <a:tc>
                  <a:txBody>
                    <a:bodyPr/>
                    <a:lstStyle/>
                    <a:p>
                      <a:pPr algn="l"/>
                      <a:r>
                        <a:rPr sz="850" b="1">
                          <a:solidFill>
                            <a:srgbClr val="1F77B4"/>
                          </a:solidFill>
                          <a:latin typeface="Segoe UI"/>
                        </a:rPr>
                        <a:t>Đa ngữ Tiếng Việt &amp; Tiếng Anh (96.461 câu)</a:t>
                      </a:r>
                    </a:p>
                  </a:txBody>
                  <a:tcPr>
                    <a:solidFill>
                      <a:srgbClr val="F1F5F9"/>
                    </a:solidFill>
                  </a:tcPr>
                </a:tc>
                <a:tc>
                  <a:txBody>
                    <a:bodyPr/>
                    <a:lstStyle/>
                    <a:p>
                      <a:pPr algn="ctr"/>
                      <a:r>
                        <a:rPr sz="850" b="1">
                          <a:solidFill>
                            <a:srgbClr val="288C3C"/>
                          </a:solidFill>
                          <a:latin typeface="Segoe UI"/>
                        </a:rPr>
                        <a:t>Khắc phục rào cản đa ngữ</a:t>
                      </a:r>
                    </a:p>
                  </a:txBody>
                  <a:tcPr>
                    <a:solidFill>
                      <a:srgbClr val="F1F5F9"/>
                    </a:solidFill>
                  </a:tcPr>
                </a:tc>
              </a:tr>
              <a:tr h="574040">
                <a:tc>
                  <a:txBody>
                    <a:bodyPr/>
                    <a:lstStyle/>
                    <a:p>
                      <a:pPr algn="l"/>
                      <a:r>
                        <a:rPr sz="850" b="1">
                          <a:solidFill>
                            <a:srgbClr val="1B365D"/>
                          </a:solidFill>
                          <a:latin typeface="Segoe UI"/>
                        </a:rPr>
                        <a:t>Xử lý PDF Scan</a:t>
                      </a:r>
                    </a:p>
                  </a:txBody>
                  <a:tcPr>
                    <a:solidFill>
                      <a:srgbClr val="FFFFFF"/>
                    </a:solidFill>
                  </a:tcPr>
                </a:tc>
                <a:tc>
                  <a:txBody>
                    <a:bodyPr/>
                    <a:lstStyle/>
                    <a:p>
                      <a:pPr algn="l"/>
                      <a:r>
                        <a:rPr sz="850">
                          <a:solidFill>
                            <a:srgbClr val="212529"/>
                          </a:solidFill>
                          <a:latin typeface="Segoe UI"/>
                        </a:rPr>
                        <a:t>Bỏ qua toàn bộ PDF scan không có text layer</a:t>
                      </a:r>
                    </a:p>
                  </a:txBody>
                  <a:tcPr>
                    <a:solidFill>
                      <a:srgbClr val="FFFFFF"/>
                    </a:solidFill>
                  </a:tcPr>
                </a:tc>
                <a:tc>
                  <a:txBody>
                    <a:bodyPr/>
                    <a:lstStyle/>
                    <a:p>
                      <a:pPr algn="l"/>
                      <a:r>
                        <a:rPr sz="850" b="1">
                          <a:solidFill>
                            <a:srgbClr val="1F77B4"/>
                          </a:solidFill>
                          <a:latin typeface="Segoe UI"/>
                        </a:rPr>
                        <a:t>Tích hợp Tesseract OCR (vie+eng) phục hồi 100%</a:t>
                      </a:r>
                    </a:p>
                  </a:txBody>
                  <a:tcPr>
                    <a:solidFill>
                      <a:srgbClr val="FFFFFF"/>
                    </a:solidFill>
                  </a:tcPr>
                </a:tc>
                <a:tc>
                  <a:txBody>
                    <a:bodyPr/>
                    <a:lstStyle/>
                    <a:p>
                      <a:pPr algn="ctr"/>
                      <a:r>
                        <a:rPr sz="850" b="1">
                          <a:solidFill>
                            <a:srgbClr val="288C3C"/>
                          </a:solidFill>
                          <a:latin typeface="Segoe UI"/>
                        </a:rPr>
                        <a:t>Không thất thoát dữ liệu</a:t>
                      </a:r>
                    </a:p>
                  </a:txBody>
                  <a:tcPr>
                    <a:solidFill>
                      <a:srgbClr val="FFFFFF"/>
                    </a:solidFill>
                  </a:tcPr>
                </a:tc>
              </a:tr>
              <a:tr h="574040">
                <a:tc>
                  <a:txBody>
                    <a:bodyPr/>
                    <a:lstStyle/>
                    <a:p>
                      <a:pPr algn="l"/>
                      <a:r>
                        <a:rPr sz="850" b="1">
                          <a:solidFill>
                            <a:srgbClr val="1B365D"/>
                          </a:solidFill>
                          <a:latin typeface="Segoe UI"/>
                        </a:rPr>
                        <a:t>Mô hình Vector</a:t>
                      </a:r>
                    </a:p>
                  </a:txBody>
                  <a:tcPr>
                    <a:solidFill>
                      <a:srgbClr val="F1F5F9"/>
                    </a:solidFill>
                  </a:tcPr>
                </a:tc>
                <a:tc>
                  <a:txBody>
                    <a:bodyPr/>
                    <a:lstStyle/>
                    <a:p>
                      <a:pPr algn="l"/>
                      <a:r>
                        <a:rPr sz="850">
                          <a:solidFill>
                            <a:srgbClr val="212529"/>
                          </a:solidFill>
                          <a:latin typeface="Segoe UI"/>
                        </a:rPr>
                        <a:t>all-MiniLM-L6-v2 (384 chiều, đơn ngữ)</a:t>
                      </a:r>
                    </a:p>
                  </a:txBody>
                  <a:tcPr>
                    <a:solidFill>
                      <a:srgbClr val="F1F5F9"/>
                    </a:solidFill>
                  </a:tcPr>
                </a:tc>
                <a:tc>
                  <a:txBody>
                    <a:bodyPr/>
                    <a:lstStyle/>
                    <a:p>
                      <a:pPr algn="l"/>
                      <a:r>
                        <a:rPr sz="850" b="1">
                          <a:solidFill>
                            <a:srgbClr val="1F77B4"/>
                          </a:solidFill>
                          <a:latin typeface="Segoe UI"/>
                        </a:rPr>
                        <a:t>vietnamese-sbert (768 chiều) + MiniLM (384 chiều)</a:t>
                      </a:r>
                    </a:p>
                  </a:txBody>
                  <a:tcPr>
                    <a:solidFill>
                      <a:srgbClr val="F1F5F9"/>
                    </a:solidFill>
                  </a:tcPr>
                </a:tc>
                <a:tc>
                  <a:txBody>
                    <a:bodyPr/>
                    <a:lstStyle/>
                    <a:p>
                      <a:pPr algn="ctr"/>
                      <a:r>
                        <a:rPr sz="850" b="1">
                          <a:solidFill>
                            <a:srgbClr val="288C3C"/>
                          </a:solidFill>
                          <a:latin typeface="Segoe UI"/>
                        </a:rPr>
                        <a:t>Ngữ cảnh sâu gấp 2 lần</a:t>
                      </a:r>
                    </a:p>
                  </a:txBody>
                  <a:tcPr>
                    <a:solidFill>
                      <a:srgbClr val="F1F5F9"/>
                    </a:solidFill>
                  </a:tcPr>
                </a:tc>
              </a:tr>
              <a:tr h="574040">
                <a:tc>
                  <a:txBody>
                    <a:bodyPr/>
                    <a:lstStyle/>
                    <a:p>
                      <a:pPr algn="l"/>
                      <a:r>
                        <a:rPr sz="850" b="1">
                          <a:solidFill>
                            <a:srgbClr val="1B365D"/>
                          </a:solidFill>
                          <a:latin typeface="Segoe UI"/>
                        </a:rPr>
                        <a:t>Knowledge Base</a:t>
                      </a:r>
                    </a:p>
                  </a:txBody>
                  <a:tcPr>
                    <a:solidFill>
                      <a:srgbClr val="FFFFFF"/>
                    </a:solidFill>
                  </a:tcPr>
                </a:tc>
                <a:tc>
                  <a:txBody>
                    <a:bodyPr/>
                    <a:lstStyle/>
                    <a:p>
                      <a:pPr algn="l"/>
                      <a:r>
                        <a:rPr sz="850">
                          <a:solidFill>
                            <a:srgbClr val="212529"/>
                          </a:solidFill>
                          <a:latin typeface="Segoe UI"/>
                        </a:rPr>
                        <a:t>641 câu tiếng Anh chuẩn (169 chỉ tiêu LHQ)</a:t>
                      </a:r>
                    </a:p>
                  </a:txBody>
                  <a:tcPr>
                    <a:solidFill>
                      <a:srgbClr val="FFFFFF"/>
                    </a:solidFill>
                  </a:tcPr>
                </a:tc>
                <a:tc>
                  <a:txBody>
                    <a:bodyPr/>
                    <a:lstStyle/>
                    <a:p>
                      <a:pPr algn="l"/>
                      <a:r>
                        <a:rPr sz="850" b="1">
                          <a:solidFill>
                            <a:srgbClr val="1F77B4"/>
                          </a:solidFill>
                          <a:latin typeface="Segoe UI"/>
                        </a:rPr>
                        <a:t>1.032 câu song ngữ (391 câu VI + 641 câu EN)</a:t>
                      </a:r>
                    </a:p>
                  </a:txBody>
                  <a:tcPr>
                    <a:solidFill>
                      <a:srgbClr val="FFFFFF"/>
                    </a:solidFill>
                  </a:tcPr>
                </a:tc>
                <a:tc>
                  <a:txBody>
                    <a:bodyPr/>
                    <a:lstStyle/>
                    <a:p>
                      <a:pPr algn="ctr"/>
                      <a:r>
                        <a:rPr sz="850" b="1">
                          <a:solidFill>
                            <a:srgbClr val="288C3C"/>
                          </a:solidFill>
                          <a:latin typeface="Segoe UI"/>
                        </a:rPr>
                        <a:t>Bản địa hóa chuẩn VN</a:t>
                      </a:r>
                    </a:p>
                  </a:txBody>
                  <a:tcPr>
                    <a:solidFill>
                      <a:srgbClr val="FFFFFF"/>
                    </a:solidFill>
                  </a:tcPr>
                </a:tc>
              </a:tr>
              <a:tr h="574040">
                <a:tc>
                  <a:txBody>
                    <a:bodyPr/>
                    <a:lstStyle/>
                    <a:p>
                      <a:pPr algn="l"/>
                      <a:r>
                        <a:rPr sz="850" b="1">
                          <a:solidFill>
                            <a:srgbClr val="1B365D"/>
                          </a:solidFill>
                          <a:latin typeface="Segoe UI"/>
                        </a:rPr>
                        <a:t>Phân loại Cảm xúc</a:t>
                      </a:r>
                    </a:p>
                  </a:txBody>
                  <a:tcPr>
                    <a:solidFill>
                      <a:srgbClr val="F1F5F9"/>
                    </a:solidFill>
                  </a:tcPr>
                </a:tc>
                <a:tc>
                  <a:txBody>
                    <a:bodyPr/>
                    <a:lstStyle/>
                    <a:p>
                      <a:pPr algn="l"/>
                      <a:r>
                        <a:rPr sz="850">
                          <a:solidFill>
                            <a:srgbClr val="212529"/>
                          </a:solidFill>
                          <a:latin typeface="Segoe UI"/>
                        </a:rPr>
                        <a:t>DistilBERT 2 lớp (Pos ~78%, Neg ~15%)</a:t>
                      </a:r>
                    </a:p>
                  </a:txBody>
                  <a:tcPr>
                    <a:solidFill>
                      <a:srgbClr val="F1F5F9"/>
                    </a:solidFill>
                  </a:tcPr>
                </a:tc>
                <a:tc>
                  <a:txBody>
                    <a:bodyPr/>
                    <a:lstStyle/>
                    <a:p>
                      <a:pPr algn="l"/>
                      <a:r>
                        <a:rPr sz="850" b="1">
                          <a:solidFill>
                            <a:srgbClr val="1F77B4"/>
                          </a:solidFill>
                          <a:latin typeface="Segoe UI"/>
                        </a:rPr>
                        <a:t>PhoBERT 3 lớp (Pos 53,9%, Trung tính 32,9%, Neg 13,3%)</a:t>
                      </a:r>
                    </a:p>
                  </a:txBody>
                  <a:tcPr>
                    <a:solidFill>
                      <a:srgbClr val="F1F5F9"/>
                    </a:solidFill>
                  </a:tcPr>
                </a:tc>
                <a:tc>
                  <a:txBody>
                    <a:bodyPr/>
                    <a:lstStyle/>
                    <a:p>
                      <a:pPr algn="ctr"/>
                      <a:r>
                        <a:rPr sz="850" b="1">
                          <a:solidFill>
                            <a:srgbClr val="288C3C"/>
                          </a:solidFill>
                          <a:latin typeface="Segoe UI"/>
                        </a:rPr>
                        <a:t>Đột phá lớp Trung tính</a:t>
                      </a:r>
                    </a:p>
                  </a:txBody>
                  <a:tcPr>
                    <a:solidFill>
                      <a:srgbClr val="F1F5F9"/>
                    </a:solidFill>
                  </a:tcPr>
                </a:tc>
              </a:tr>
              <a:tr h="574040">
                <a:tc>
                  <a:txBody>
                    <a:bodyPr/>
                    <a:lstStyle/>
                    <a:p>
                      <a:pPr algn="l"/>
                      <a:r>
                        <a:rPr sz="850" b="1">
                          <a:solidFill>
                            <a:srgbClr val="1B365D"/>
                          </a:solidFill>
                          <a:latin typeface="Segoe UI"/>
                        </a:rPr>
                        <a:t>Cơ chế Tính toán</a:t>
                      </a:r>
                    </a:p>
                  </a:txBody>
                  <a:tcPr>
                    <a:solidFill>
                      <a:srgbClr val="FFFFFF"/>
                    </a:solidFill>
                  </a:tcPr>
                </a:tc>
                <a:tc>
                  <a:txBody>
                    <a:bodyPr/>
                    <a:lstStyle/>
                    <a:p>
                      <a:pPr algn="l"/>
                      <a:r>
                        <a:rPr sz="850">
                          <a:solidFill>
                            <a:srgbClr val="212529"/>
                          </a:solidFill>
                          <a:latin typeface="Segoe UI"/>
                        </a:rPr>
                        <a:t>Cosine similarity từng cặp, Min-Max cục bộ</a:t>
                      </a:r>
                    </a:p>
                  </a:txBody>
                  <a:tcPr>
                    <a:solidFill>
                      <a:srgbClr val="FFFFFF"/>
                    </a:solidFill>
                  </a:tcPr>
                </a:tc>
                <a:tc>
                  <a:txBody>
                    <a:bodyPr/>
                    <a:lstStyle/>
                    <a:p>
                      <a:pPr algn="l"/>
                      <a:r>
                        <a:rPr sz="850" b="1">
                          <a:solidFill>
                            <a:srgbClr val="1F77B4"/>
                          </a:solidFill>
                          <a:latin typeface="Segoe UI"/>
                        </a:rPr>
                        <a:t>L2-Norm + Ma trận NumPy BLAS (a @ b.T) &lt; 3s, Min-Max toàn cục</a:t>
                      </a:r>
                    </a:p>
                  </a:txBody>
                  <a:tcPr>
                    <a:solidFill>
                      <a:srgbClr val="FFFFFF"/>
                    </a:solidFill>
                  </a:tcPr>
                </a:tc>
                <a:tc>
                  <a:txBody>
                    <a:bodyPr/>
                    <a:lstStyle/>
                    <a:p>
                      <a:pPr algn="ctr"/>
                      <a:r>
                        <a:rPr sz="850" b="1">
                          <a:solidFill>
                            <a:srgbClr val="288C3C"/>
                          </a:solidFill>
                          <a:latin typeface="Segoe UI"/>
                        </a:rPr>
                        <a:t>So sánh chéo đa năm chuẩn</a:t>
                      </a:r>
                    </a:p>
                  </a:txBody>
                  <a:tcPr>
                    <a:solidFill>
                      <a:srgbClr val="FFFFFF"/>
                    </a:solidFill>
                  </a:tcPr>
                </a:tc>
              </a:tr>
              <a:tr h="574040">
                <a:tc>
                  <a:txBody>
                    <a:bodyPr/>
                    <a:lstStyle/>
                    <a:p>
                      <a:pPr algn="l"/>
                      <a:r>
                        <a:rPr sz="850" b="1">
                          <a:solidFill>
                            <a:srgbClr val="1B365D"/>
                          </a:solidFill>
                          <a:latin typeface="Segoe UI"/>
                        </a:rPr>
                        <a:t>Phân tích Ngành</a:t>
                      </a:r>
                    </a:p>
                  </a:txBody>
                  <a:tcPr>
                    <a:solidFill>
                      <a:srgbClr val="F1F5F9"/>
                    </a:solidFill>
                  </a:tcPr>
                </a:tc>
                <a:tc>
                  <a:txBody>
                    <a:bodyPr/>
                    <a:lstStyle/>
                    <a:p>
                      <a:pPr algn="l"/>
                      <a:r>
                        <a:rPr sz="850">
                          <a:solidFill>
                            <a:srgbClr val="212529"/>
                          </a:solidFill>
                          <a:latin typeface="Segoe UI"/>
                        </a:rPr>
                        <a:t>Thống kê mẫu gộp chung, không phân hóa</a:t>
                      </a:r>
                    </a:p>
                  </a:txBody>
                  <a:tcPr>
                    <a:solidFill>
                      <a:srgbClr val="F1F5F9"/>
                    </a:solidFill>
                  </a:tcPr>
                </a:tc>
                <a:tc>
                  <a:txBody>
                    <a:bodyPr/>
                    <a:lstStyle/>
                    <a:p>
                      <a:pPr algn="l"/>
                      <a:r>
                        <a:rPr sz="850" b="1">
                          <a:solidFill>
                            <a:srgbClr val="1F77B4"/>
                          </a:solidFill>
                          <a:latin typeface="Segoe UI"/>
                        </a:rPr>
                        <a:t>Bóc tách 7 tập đoàn theo mô hình kinh doanh cụ thể</a:t>
                      </a:r>
                    </a:p>
                  </a:txBody>
                  <a:tcPr>
                    <a:solidFill>
                      <a:srgbClr val="F1F5F9"/>
                    </a:solidFill>
                  </a:tcPr>
                </a:tc>
                <a:tc>
                  <a:txBody>
                    <a:bodyPr/>
                    <a:lstStyle/>
                    <a:p>
                      <a:pPr algn="ctr"/>
                      <a:r>
                        <a:rPr sz="850" b="1">
                          <a:solidFill>
                            <a:srgbClr val="288C3C"/>
                          </a:solidFill>
                          <a:latin typeface="Segoe UI"/>
                        </a:rPr>
                        <a:t>Giải mã sâu sắc nguyên nhân</a:t>
                      </a:r>
                    </a:p>
                  </a:txBody>
                  <a:tcPr>
                    <a:solidFill>
                      <a:srgbClr val="F1F5F9"/>
                    </a:solidFill>
                  </a:tcPr>
                </a:tc>
              </a:tr>
              <a:tr h="574040">
                <a:tc>
                  <a:txBody>
                    <a:bodyPr/>
                    <a:lstStyle/>
                    <a:p>
                      <a:pPr algn="l"/>
                      <a:r>
                        <a:rPr sz="850" b="1">
                          <a:solidFill>
                            <a:srgbClr val="1B365D"/>
                          </a:solidFill>
                          <a:latin typeface="Segoe UI"/>
                        </a:rPr>
                        <a:t>Khả năng Mở rộng</a:t>
                      </a:r>
                    </a:p>
                  </a:txBody>
                  <a:tcPr>
                    <a:solidFill>
                      <a:srgbClr val="FFFFFF"/>
                    </a:solidFill>
                  </a:tcPr>
                </a:tc>
                <a:tc>
                  <a:txBody>
                    <a:bodyPr/>
                    <a:lstStyle/>
                    <a:p>
                      <a:pPr algn="l"/>
                      <a:r>
                        <a:rPr sz="850">
                          <a:solidFill>
                            <a:srgbClr val="212529"/>
                          </a:solidFill>
                          <a:latin typeface="Segoe UI"/>
                        </a:rPr>
                        <a:t>Dừng lại ở biểu đồ thống kê tĩnh</a:t>
                      </a:r>
                    </a:p>
                  </a:txBody>
                  <a:tcPr>
                    <a:solidFill>
                      <a:srgbClr val="FFFFFF"/>
                    </a:solidFill>
                  </a:tcPr>
                </a:tc>
                <a:tc>
                  <a:txBody>
                    <a:bodyPr/>
                    <a:lstStyle/>
                    <a:p>
                      <a:pPr algn="l"/>
                      <a:r>
                        <a:rPr sz="850" b="1">
                          <a:solidFill>
                            <a:srgbClr val="1F77B4"/>
                          </a:solidFill>
                          <a:latin typeface="Segoe UI"/>
                        </a:rPr>
                        <a:t>Sẵn sàng làm Context Retriever sạch cho LLM kiểm toán</a:t>
                      </a:r>
                    </a:p>
                  </a:txBody>
                  <a:tcPr>
                    <a:solidFill>
                      <a:srgbClr val="FFFFFF"/>
                    </a:solidFill>
                  </a:tcPr>
                </a:tc>
                <a:tc>
                  <a:txBody>
                    <a:bodyPr/>
                    <a:lstStyle/>
                    <a:p>
                      <a:pPr algn="ctr"/>
                      <a:r>
                        <a:rPr sz="850" b="1">
                          <a:solidFill>
                            <a:srgbClr val="288C3C"/>
                          </a:solidFill>
                          <a:latin typeface="Segoe UI"/>
                        </a:rPr>
                        <a:t>Nền tảng Agentic RAG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HÀM Ý QUẢN TRỊ</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HÀM Ý THỰC TIỄN &amp; ĐỀ XUẤT CHO CÁC BÊN LIÊN QUAN</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16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51663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CƠ QUAN QUẢN LÝ (UBCKNN)</a:t>
            </a:r>
          </a:p>
        </p:txBody>
      </p:sp>
      <p:sp>
        <p:nvSpPr>
          <p:cNvPr id="11" name="TextBox 10"/>
          <p:cNvSpPr txBox="1"/>
          <p:nvPr/>
        </p:nvSpPr>
        <p:spPr>
          <a:xfrm>
            <a:off x="868680" y="1737360"/>
            <a:ext cx="3154680" cy="4572000"/>
          </a:xfrm>
          <a:prstGeom prst="rect">
            <a:avLst/>
          </a:prstGeom>
          <a:noFill/>
        </p:spPr>
        <p:txBody>
          <a:bodyPr wrap="square">
            <a:spAutoFit/>
          </a:bodyPr>
          <a:lstStyle/>
          <a:p>
            <a:pPr>
              <a:spcAft>
                <a:spcPts val="400"/>
              </a:spcAft>
            </a:pPr>
            <a:r>
              <a:rPr b="1" sz="950">
                <a:solidFill>
                  <a:srgbClr val="1B365D"/>
                </a:solidFill>
                <a:latin typeface="Segoe UI"/>
              </a:rPr>
              <a:t>• Chuẩn hóa số báo cáo:</a:t>
            </a:r>
          </a:p>
          <a:p>
            <a:pPr>
              <a:spcAft>
                <a:spcPts val="400"/>
              </a:spcAft>
            </a:pPr>
            <a:r>
              <a:rPr sz="900">
                <a:solidFill>
                  <a:srgbClr val="212529"/>
                </a:solidFill>
                <a:latin typeface="Segoe UI"/>
              </a:rPr>
              <a:t>  Thúc đẩy định dạng số mở (XBRL) thay cho PDF scan lỗi font.</a:t>
            </a:r>
          </a:p>
          <a:p>
            <a:pPr>
              <a:spcAft>
                <a:spcPts val="400"/>
              </a:spcAft>
            </a:pPr>
            <a:r>
              <a:rPr b="1" sz="950">
                <a:solidFill>
                  <a:srgbClr val="1B365D"/>
                </a:solidFill>
                <a:latin typeface="Segoe UI"/>
              </a:rPr>
              <a:t>• Cổng giám sát AI tự động:</a:t>
            </a:r>
          </a:p>
          <a:p>
            <a:pPr>
              <a:spcAft>
                <a:spcPts val="400"/>
              </a:spcAft>
            </a:pPr>
            <a:r>
              <a:rPr sz="900">
                <a:solidFill>
                  <a:srgbClr val="212529"/>
                </a:solidFill>
                <a:latin typeface="Segoe UI"/>
              </a:rPr>
              <a:t>  Ứng dụng NLP quét toàn thị trường, phát hiện dấu hiệu tô hồng báo cáo.</a:t>
            </a:r>
          </a:p>
          <a:p>
            <a:pPr>
              <a:spcAft>
                <a:spcPts val="400"/>
              </a:spcAft>
            </a:pPr>
            <a:r>
              <a:rPr b="1" sz="950">
                <a:solidFill>
                  <a:srgbClr val="1B365D"/>
                </a:solidFill>
                <a:latin typeface="Segoe UI"/>
              </a:rPr>
              <a:t>• Mở rộng quy định Scope 3:</a:t>
            </a:r>
          </a:p>
          <a:p>
            <a:pPr>
              <a:spcAft>
                <a:spcPts val="400"/>
              </a:spcAft>
            </a:pPr>
            <a:r>
              <a:rPr sz="900">
                <a:solidFill>
                  <a:srgbClr val="212529"/>
                </a:solidFill>
                <a:latin typeface="Segoe UI"/>
              </a:rPr>
              <a:t>  Bổ sung hướng dẫn kiểm kê phát thải gián tiếp chuỗi cung ứng.</a:t>
            </a:r>
          </a:p>
        </p:txBody>
      </p:sp>
      <p:sp>
        <p:nvSpPr>
          <p:cNvPr id="12" name="Rounded Rectangle 11"/>
          <p:cNvSpPr/>
          <p:nvPr/>
        </p:nvSpPr>
        <p:spPr>
          <a:xfrm>
            <a:off x="4379976" y="1234440"/>
            <a:ext cx="3429000" cy="516636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1F7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DOANH NGHIỆP NIÊM YẾT</a:t>
            </a:r>
          </a:p>
        </p:txBody>
      </p:sp>
      <p:sp>
        <p:nvSpPr>
          <p:cNvPr id="14" name="TextBox 13"/>
          <p:cNvSpPr txBox="1"/>
          <p:nvPr/>
        </p:nvSpPr>
        <p:spPr>
          <a:xfrm>
            <a:off x="4517136" y="1737360"/>
            <a:ext cx="3154680" cy="4572000"/>
          </a:xfrm>
          <a:prstGeom prst="rect">
            <a:avLst/>
          </a:prstGeom>
          <a:noFill/>
        </p:spPr>
        <p:txBody>
          <a:bodyPr wrap="square">
            <a:spAutoFit/>
          </a:bodyPr>
          <a:lstStyle/>
          <a:p>
            <a:pPr>
              <a:spcAft>
                <a:spcPts val="400"/>
              </a:spcAft>
            </a:pPr>
            <a:r>
              <a:rPr b="1" sz="950">
                <a:solidFill>
                  <a:srgbClr val="1F77B4"/>
                </a:solidFill>
                <a:latin typeface="Segoe UI"/>
              </a:rPr>
              <a:t>• Chuyển đổi tư duy công bố:</a:t>
            </a:r>
          </a:p>
          <a:p>
            <a:pPr>
              <a:spcAft>
                <a:spcPts val="400"/>
              </a:spcAft>
            </a:pPr>
            <a:r>
              <a:rPr sz="900">
                <a:solidFill>
                  <a:srgbClr val="212529"/>
                </a:solidFill>
                <a:latin typeface="Segoe UI"/>
              </a:rPr>
              <a:t>  Từ 'tiếp thị thành tích' sang 'giải trình trách nhiệm và quản trị rủi ro'.</a:t>
            </a:r>
          </a:p>
          <a:p>
            <a:pPr>
              <a:spcAft>
                <a:spcPts val="400"/>
              </a:spcAft>
            </a:pPr>
            <a:r>
              <a:rPr b="1" sz="950">
                <a:solidFill>
                  <a:srgbClr val="1F77B4"/>
                </a:solidFill>
                <a:latin typeface="Segoe UI"/>
              </a:rPr>
              <a:t>• Minh bạch hóa thách thức:</a:t>
            </a:r>
          </a:p>
          <a:p>
            <a:pPr>
              <a:spcAft>
                <a:spcPts val="400"/>
              </a:spcAft>
            </a:pPr>
            <a:r>
              <a:rPr sz="900">
                <a:solidFill>
                  <a:srgbClr val="212529"/>
                </a:solidFill>
                <a:latin typeface="Segoe UI"/>
              </a:rPr>
              <a:t>  Chủ động công bố sự cố và lộ trình khắc phục để nâng cao tín nhiệm.</a:t>
            </a:r>
          </a:p>
          <a:p>
            <a:pPr>
              <a:spcAft>
                <a:spcPts val="400"/>
              </a:spcAft>
            </a:pPr>
            <a:r>
              <a:rPr b="1" sz="950">
                <a:solidFill>
                  <a:srgbClr val="1F77B4"/>
                </a:solidFill>
                <a:latin typeface="Segoe UI"/>
              </a:rPr>
              <a:t>• Tích hợp ESG thực chất:</a:t>
            </a:r>
          </a:p>
          <a:p>
            <a:pPr>
              <a:spcAft>
                <a:spcPts val="400"/>
              </a:spcAft>
            </a:pPr>
            <a:r>
              <a:rPr sz="900">
                <a:solidFill>
                  <a:srgbClr val="212529"/>
                </a:solidFill>
                <a:latin typeface="Segoe UI"/>
              </a:rPr>
              <a:t>  Chuyển từ CSR từ thiện bề nổi sang chiến lược giảm phát thải cốt lõi.</a:t>
            </a:r>
          </a:p>
        </p:txBody>
      </p:sp>
      <p:sp>
        <p:nvSpPr>
          <p:cNvPr id="15" name="Rounded Rectangle 14"/>
          <p:cNvSpPr/>
          <p:nvPr/>
        </p:nvSpPr>
        <p:spPr>
          <a:xfrm>
            <a:off x="8028432" y="1234440"/>
            <a:ext cx="3429000" cy="51663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NHÀ ĐẦU TƯ &amp; KIỂM TOÁN</a:t>
            </a:r>
          </a:p>
        </p:txBody>
      </p:sp>
      <p:sp>
        <p:nvSpPr>
          <p:cNvPr id="17" name="TextBox 16"/>
          <p:cNvSpPr txBox="1"/>
          <p:nvPr/>
        </p:nvSpPr>
        <p:spPr>
          <a:xfrm>
            <a:off x="8165592" y="1737360"/>
            <a:ext cx="3154680" cy="4572000"/>
          </a:xfrm>
          <a:prstGeom prst="rect">
            <a:avLst/>
          </a:prstGeom>
          <a:noFill/>
        </p:spPr>
        <p:txBody>
          <a:bodyPr wrap="square">
            <a:spAutoFit/>
          </a:bodyPr>
          <a:lstStyle/>
          <a:p>
            <a:pPr>
              <a:spcAft>
                <a:spcPts val="400"/>
              </a:spcAft>
            </a:pPr>
            <a:r>
              <a:rPr b="1" sz="950">
                <a:solidFill>
                  <a:srgbClr val="288C3C"/>
                </a:solidFill>
                <a:latin typeface="Segoe UI"/>
              </a:rPr>
              <a:t>• Thẩm định nhanh bằng AI:</a:t>
            </a:r>
          </a:p>
          <a:p>
            <a:pPr>
              <a:spcAft>
                <a:spcPts val="400"/>
              </a:spcAft>
            </a:pPr>
            <a:r>
              <a:rPr sz="900">
                <a:solidFill>
                  <a:srgbClr val="212529"/>
                </a:solidFill>
                <a:latin typeface="Segoe UI"/>
              </a:rPr>
              <a:t>  Sàng lọc hàng trăm báo cáo trong vài phút, tiết kiệm 80% thời gian rà soát.</a:t>
            </a:r>
          </a:p>
          <a:p>
            <a:pPr>
              <a:spcAft>
                <a:spcPts val="400"/>
              </a:spcAft>
            </a:pPr>
            <a:r>
              <a:rPr b="1" sz="950">
                <a:solidFill>
                  <a:srgbClr val="288C3C"/>
                </a:solidFill>
                <a:latin typeface="Segoe UI"/>
              </a:rPr>
              <a:t>• Cảnh báo Tẩy xanh sớm:</a:t>
            </a:r>
          </a:p>
          <a:p>
            <a:pPr>
              <a:spcAft>
                <a:spcPts val="400"/>
              </a:spcAft>
            </a:pPr>
            <a:r>
              <a:rPr sz="900">
                <a:solidFill>
                  <a:srgbClr val="212529"/>
                </a:solidFill>
                <a:latin typeface="Segoe UI"/>
              </a:rPr>
              <a:t>  Theo dõi Tỷ số Pos/Neg Ratio để phát hiện các tuyên bố suông thiếu số liệu.</a:t>
            </a:r>
          </a:p>
          <a:p>
            <a:pPr>
              <a:spcAft>
                <a:spcPts val="400"/>
              </a:spcAft>
            </a:pPr>
            <a:r>
              <a:rPr b="1" sz="950">
                <a:solidFill>
                  <a:srgbClr val="288C3C"/>
                </a:solidFill>
                <a:latin typeface="Segoe UI"/>
              </a:rPr>
              <a:t>• Định hướng dòng vốn xanh:</a:t>
            </a:r>
          </a:p>
          <a:p>
            <a:pPr>
              <a:spcAft>
                <a:spcPts val="400"/>
              </a:spcAft>
            </a:pPr>
            <a:r>
              <a:rPr sz="900">
                <a:solidFill>
                  <a:srgbClr val="212529"/>
                </a:solidFill>
                <a:latin typeface="Segoe UI"/>
              </a:rPr>
              <a:t>  Ưu tiên giải ngân tín dụng xanh cho doanh nghiệp có cam kết thực chất.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
            <a:ext cx="2560320" cy="256032"/>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Segoe UI"/>
              </a:rPr>
              <a:t>HƯỚNG PHÁT TRIỂN</a:t>
            </a:r>
          </a:p>
        </p:txBody>
      </p:sp>
      <p:sp>
        <p:nvSpPr>
          <p:cNvPr id="6" name="TextBox 5"/>
          <p:cNvSpPr txBox="1"/>
          <p:nvPr/>
        </p:nvSpPr>
        <p:spPr>
          <a:xfrm>
            <a:off x="685800" y="420624"/>
            <a:ext cx="9601200" cy="530352"/>
          </a:xfrm>
          <a:prstGeom prst="rect">
            <a:avLst/>
          </a:prstGeom>
          <a:noFill/>
        </p:spPr>
        <p:txBody>
          <a:bodyPr wrap="square" anchor="ctr">
            <a:spAutoFit/>
          </a:bodyPr>
          <a:lstStyle/>
          <a:p>
            <a:r>
              <a:rPr sz="1700" b="1">
                <a:solidFill>
                  <a:srgbClr val="1B365D"/>
                </a:solidFill>
                <a:latin typeface="Segoe UI"/>
              </a:rPr>
              <a:t>HẠN CHẾ ĐỀ TÀI &amp; HƯỚNG PHÁT TRIỂN AGENTIC ESG AUDITOR</a:t>
            </a:r>
          </a:p>
        </p:txBody>
      </p:sp>
      <p:sp>
        <p:nvSpPr>
          <p:cNvPr id="7" name="TextBox 6"/>
          <p:cNvSpPr txBox="1"/>
          <p:nvPr/>
        </p:nvSpPr>
        <p:spPr>
          <a:xfrm>
            <a:off x="10789920" y="320040"/>
            <a:ext cx="914400" cy="457200"/>
          </a:xfrm>
          <a:prstGeom prst="rect">
            <a:avLst/>
          </a:prstGeom>
          <a:noFill/>
        </p:spPr>
        <p:txBody>
          <a:bodyPr wrap="none">
            <a:spAutoFit/>
          </a:bodyPr>
          <a:lstStyle/>
          <a:p>
            <a:pPr algn="r"/>
            <a:r>
              <a:rPr sz="1100" b="1">
                <a:solidFill>
                  <a:srgbClr val="6C757D"/>
                </a:solidFill>
                <a:latin typeface="Segoe UI"/>
              </a:rPr>
              <a:t>17 / 18</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4572000" cy="5166360"/>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371600"/>
            <a:ext cx="4297680" cy="4892040"/>
          </a:xfrm>
          <a:prstGeom prst="rect">
            <a:avLst/>
          </a:prstGeom>
          <a:noFill/>
        </p:spPr>
        <p:txBody>
          <a:bodyPr wrap="square">
            <a:spAutoFit/>
          </a:bodyPr>
          <a:lstStyle/>
          <a:p>
            <a:r>
              <a:rPr b="1" sz="1100">
                <a:solidFill>
                  <a:srgbClr val="1B365D"/>
                </a:solidFill>
              </a:rPr>
              <a:t>HẠN CHẾ HIỆN TẠI CỦA NGHIÊN CỨU
</a:t>
            </a:r>
          </a:p>
          <a:p>
            <a:pPr>
              <a:spcAft>
                <a:spcPts val="300"/>
              </a:spcAft>
            </a:pPr>
            <a:r>
              <a:rPr sz="950" b="1">
                <a:solidFill>
                  <a:srgbClr val="1B365D"/>
                </a:solidFill>
                <a:latin typeface="Segoe UI"/>
              </a:rPr>
              <a:t>• Giới hạn quy mô mẫu:</a:t>
            </a:r>
          </a:p>
          <a:p>
            <a:pPr>
              <a:spcAft>
                <a:spcPts val="300"/>
              </a:spcAft>
            </a:pPr>
            <a:r>
              <a:rPr sz="880" b="0">
                <a:solidFill>
                  <a:srgbClr val="212529"/>
                </a:solidFill>
                <a:latin typeface="Segoe UI"/>
              </a:rPr>
              <a:t>  Mẫu 7 tập đoàn lớn hàng đầu có báo cáo liên tục; chưa bao phủ toàn bộ 300+ doanh nghiệp niêm yết trên HOSE/HNX.</a:t>
            </a:r>
          </a:p>
          <a:p>
            <a:pPr>
              <a:spcAft>
                <a:spcPts val="300"/>
              </a:spcAft>
            </a:pPr>
            <a:r>
              <a:rPr sz="950" b="1">
                <a:solidFill>
                  <a:srgbClr val="D62728"/>
                </a:solidFill>
                <a:latin typeface="Segoe UI"/>
              </a:rPr>
              <a:t>• Chưa Fact-Checking số liệu bảng biểu:</a:t>
            </a:r>
          </a:p>
          <a:p>
            <a:pPr>
              <a:spcAft>
                <a:spcPts val="300"/>
              </a:spcAft>
            </a:pPr>
            <a:r>
              <a:rPr sz="880" b="0">
                <a:solidFill>
                  <a:srgbClr val="212529"/>
                </a:solidFill>
                <a:latin typeface="Segoe UI"/>
              </a:rPr>
              <a:t>  SBERT đo lường mức độ tương đồng ngữ nghĩa văn bản, nhưng chưa thể tự động kiểm chứng chéo các số liệu định lượng trong Table.</a:t>
            </a:r>
          </a:p>
          <a:p>
            <a:pPr>
              <a:spcAft>
                <a:spcPts val="300"/>
              </a:spcAft>
            </a:pPr>
            <a:r>
              <a:rPr sz="950" b="1">
                <a:solidFill>
                  <a:srgbClr val="7030A0"/>
                </a:solidFill>
                <a:latin typeface="Segoe UI"/>
              </a:rPr>
              <a:t>• Chưa bóc tách ngữ cảnh đoạn văn rộng:</a:t>
            </a:r>
          </a:p>
          <a:p>
            <a:pPr>
              <a:spcAft>
                <a:spcPts val="300"/>
              </a:spcAft>
            </a:pPr>
            <a:r>
              <a:rPr sz="880" b="0">
                <a:solidFill>
                  <a:srgbClr val="212529"/>
                </a:solidFill>
                <a:latin typeface="Segoe UI"/>
              </a:rPr>
              <a:t>  Chunking theo câu đơn đôi khi làm mất ngữ cảnh của đoạn văn cha.</a:t>
            </a:r>
          </a:p>
        </p:txBody>
      </p:sp>
      <p:pic>
        <p:nvPicPr>
          <p:cNvPr id="11" name="Picture 10" descr="rag_agentic_flow.png"/>
          <p:cNvPicPr>
            <a:picLocks noChangeAspect="1"/>
          </p:cNvPicPr>
          <p:nvPr/>
        </p:nvPicPr>
        <p:blipFill>
          <a:blip r:embed="rId2"/>
          <a:stretch>
            <a:fillRect/>
          </a:stretch>
        </p:blipFill>
        <p:spPr>
          <a:xfrm>
            <a:off x="5486400" y="1234440"/>
            <a:ext cx="5973775" cy="3931920"/>
          </a:xfrm>
          <a:prstGeom prst="rect">
            <a:avLst/>
          </a:prstGeom>
        </p:spPr>
      </p:pic>
      <p:sp>
        <p:nvSpPr>
          <p:cNvPr id="12" name="Rounded Rectangle 11"/>
          <p:cNvSpPr/>
          <p:nvPr/>
        </p:nvSpPr>
        <p:spPr>
          <a:xfrm>
            <a:off x="5486400" y="5257800"/>
            <a:ext cx="5973775" cy="1143000"/>
          </a:xfrm>
          <a:prstGeom prst="roundRect">
            <a:avLst/>
          </a:prstGeom>
          <a:solidFill>
            <a:srgbClr val="EEF4FC"/>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5321808"/>
            <a:ext cx="5699455" cy="1005840"/>
          </a:xfrm>
          <a:prstGeom prst="rect">
            <a:avLst/>
          </a:prstGeom>
          <a:noFill/>
        </p:spPr>
        <p:txBody>
          <a:bodyPr wrap="square">
            <a:spAutoFit/>
          </a:bodyPr>
          <a:lstStyle/>
          <a:p>
            <a:r>
              <a:rPr b="1" sz="1000">
                <a:solidFill>
                  <a:srgbClr val="288C3C"/>
                </a:solidFill>
              </a:rPr>
              <a:t>TẦM NHÌN: HỆ THỐNG TRỢ LÝ KIỂM TOÁN AI (AGENTIC ESG AUDITOR)
</a:t>
            </a:r>
            <a:r>
              <a:rPr sz="880">
                <a:solidFill>
                  <a:srgbClr val="212529"/>
                </a:solidFill>
              </a:rPr>
              <a:t>Kế thừa pipeline Retrieval hiện tại làm nền móng sạch để tích hợp Multi-Agent: Agent đọc bảng biểu, Agent kiểm tra chéo cam kết và LLM (GPT-4o/Gemini) xuất báo cáo thẩm định độc lập 3 trang trong 30 giây.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28655" cy="731520"/>
          </a:xfrm>
          <a:prstGeom prst="rect">
            <a:avLst/>
          </a:prstGeom>
          <a:noFill/>
        </p:spPr>
        <p:txBody>
          <a:bodyPr wrap="none">
            <a:spAutoFit/>
          </a:bodyPr>
          <a:lstStyle/>
          <a:p>
            <a:r>
              <a:rPr sz="2000" b="1">
                <a:solidFill>
                  <a:srgbClr val="FFFFFF"/>
                </a:solidFill>
                <a:latin typeface="Segoe UI"/>
              </a:rPr>
              <a:t>TỔNG KẾT 4 THÔNG ĐIỆP CỐT LÕI CỦA ĐỀ TÀI</a:t>
            </a:r>
          </a:p>
        </p:txBody>
      </p:sp>
      <p:sp>
        <p:nvSpPr>
          <p:cNvPr id="5" name="Rectangle 4"/>
          <p:cNvSpPr/>
          <p:nvPr/>
        </p:nvSpPr>
        <p:spPr>
          <a:xfrm>
            <a:off x="731520" y="1280160"/>
            <a:ext cx="5212080" cy="178308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80160"/>
            <a:ext cx="137160" cy="178308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71600"/>
            <a:ext cx="4892040" cy="1600200"/>
          </a:xfrm>
          <a:prstGeom prst="rect">
            <a:avLst/>
          </a:prstGeom>
          <a:noFill/>
        </p:spPr>
        <p:txBody>
          <a:bodyPr wrap="square">
            <a:spAutoFit/>
          </a:bodyPr>
          <a:lstStyle/>
          <a:p>
            <a:r>
              <a:rPr b="1" sz="1100">
                <a:solidFill>
                  <a:srgbClr val="D4AF37"/>
                </a:solidFill>
              </a:rPr>
              <a:t>1. CHUYỂN GIAO THÀNH CÔNG
</a:t>
            </a:r>
          </a:p>
          <a:p>
            <a:pPr>
              <a:defRPr sz="980">
                <a:solidFill>
                  <a:srgbClr val="E1EBFA"/>
                </a:solidFill>
              </a:defRPr>
            </a:pPr>
            <a:r>
              <a:t>Quy trình NLP của Kang &amp; Kim (2022) thích ứng xuất sắc với tiếng Việt, đạt phân phối chuẩn tương đương 100% nghiên cứu quốc tế.</a:t>
            </a:r>
          </a:p>
        </p:txBody>
      </p:sp>
      <p:sp>
        <p:nvSpPr>
          <p:cNvPr id="8" name="Rectangle 7"/>
          <p:cNvSpPr/>
          <p:nvPr/>
        </p:nvSpPr>
        <p:spPr>
          <a:xfrm>
            <a:off x="6245352" y="1280160"/>
            <a:ext cx="5212080" cy="178308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280160"/>
            <a:ext cx="137160" cy="178308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371600"/>
            <a:ext cx="4892040" cy="1600200"/>
          </a:xfrm>
          <a:prstGeom prst="rect">
            <a:avLst/>
          </a:prstGeom>
          <a:noFill/>
        </p:spPr>
        <p:txBody>
          <a:bodyPr wrap="square">
            <a:spAutoFit/>
          </a:bodyPr>
          <a:lstStyle/>
          <a:p>
            <a:r>
              <a:rPr b="1" sz="1100">
                <a:solidFill>
                  <a:srgbClr val="D4AF37"/>
                </a:solidFill>
              </a:rPr>
              <a:t>2. PHẢN ÁNH ĐẶC THÙ NGÀNH
</a:t>
            </a:r>
          </a:p>
          <a:p>
            <a:pPr>
              <a:defRPr sz="980">
                <a:solidFill>
                  <a:srgbClr val="E1EBFA"/>
                </a:solidFill>
              </a:defRPr>
            </a:pPr>
            <a:r>
              <a:t>Điểm số SDG phản ánh sát sao mô hình kinh doanh: Sản xuất mạnh về Tài nguyên/Môi trường, Tài chính dẫn đầu về Kinh tế, Bán lẻ nổi bật về DE&amp;I.</a:t>
            </a:r>
          </a:p>
        </p:txBody>
      </p:sp>
      <p:sp>
        <p:nvSpPr>
          <p:cNvPr id="11" name="Rectangle 10"/>
          <p:cNvSpPr/>
          <p:nvPr/>
        </p:nvSpPr>
        <p:spPr>
          <a:xfrm>
            <a:off x="731520" y="3246120"/>
            <a:ext cx="5212080" cy="178308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246120"/>
            <a:ext cx="137160" cy="178308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337560"/>
            <a:ext cx="4892040" cy="1600200"/>
          </a:xfrm>
          <a:prstGeom prst="rect">
            <a:avLst/>
          </a:prstGeom>
          <a:noFill/>
        </p:spPr>
        <p:txBody>
          <a:bodyPr wrap="square">
            <a:spAutoFit/>
          </a:bodyPr>
          <a:lstStyle/>
          <a:p>
            <a:r>
              <a:rPr b="1" sz="1100">
                <a:solidFill>
                  <a:srgbClr val="D4AF37"/>
                </a:solidFill>
              </a:rPr>
              <a:t>3. BỨC TRANH TƯƠNG PHẢN
</a:t>
            </a:r>
          </a:p>
          <a:p>
            <a:pPr>
              <a:defRPr sz="980">
                <a:solidFill>
                  <a:srgbClr val="E1EBFA"/>
                </a:solidFill>
              </a:defRPr>
            </a:pPr>
            <a:r>
              <a:t>Chỉ ra sự phân hóa sâu sắc: Doanh nghiệp nói nhiều về tăng trưởng và CSR từ thiện bề nổi, nhưng né tránh đa dạng sinh học và chênh lệch lương.</a:t>
            </a:r>
          </a:p>
        </p:txBody>
      </p:sp>
      <p:sp>
        <p:nvSpPr>
          <p:cNvPr id="14" name="Rectangle 13"/>
          <p:cNvSpPr/>
          <p:nvPr/>
        </p:nvSpPr>
        <p:spPr>
          <a:xfrm>
            <a:off x="6245352" y="3246120"/>
            <a:ext cx="5212080" cy="178308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5352" y="3246120"/>
            <a:ext cx="137160" cy="178308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337560"/>
            <a:ext cx="4892040" cy="1600200"/>
          </a:xfrm>
          <a:prstGeom prst="rect">
            <a:avLst/>
          </a:prstGeom>
          <a:noFill/>
        </p:spPr>
        <p:txBody>
          <a:bodyPr wrap="square">
            <a:spAutoFit/>
          </a:bodyPr>
          <a:lstStyle/>
          <a:p>
            <a:r>
              <a:rPr b="1" sz="1100">
                <a:solidFill>
                  <a:srgbClr val="D4AF37"/>
                </a:solidFill>
              </a:rPr>
              <a:t>4. THIÊN LỆCH LẠC QUAN CẤU TRÚC
</a:t>
            </a:r>
          </a:p>
          <a:p>
            <a:pPr>
              <a:defRPr sz="980">
                <a:solidFill>
                  <a:srgbClr val="E1EBFA"/>
                </a:solidFill>
              </a:defRPr>
            </a:pPr>
            <a:r>
              <a:t>Tỷ số Pos/Neg đạt 4,06 lần khẳng định sự tồn tại của chiến lược Quản trị Ấn tượng, khẳng định tính cấp thiết của công cụ AI hỗ trợ kiểm toán.</a:t>
            </a:r>
          </a:p>
        </p:txBody>
      </p:sp>
      <p:sp>
        <p:nvSpPr>
          <p:cNvPr id="17" name="Rectangle 16"/>
          <p:cNvSpPr/>
          <p:nvPr/>
        </p:nvSpPr>
        <p:spPr>
          <a:xfrm>
            <a:off x="731520" y="5212080"/>
            <a:ext cx="10728655" cy="1188720"/>
          </a:xfrm>
          <a:prstGeom prst="rect">
            <a:avLst/>
          </a:prstGeom>
          <a:solidFill>
            <a:srgbClr val="0F2341"/>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257800"/>
            <a:ext cx="10362895" cy="1097280"/>
          </a:xfrm>
          <a:prstGeom prst="rect">
            <a:avLst/>
          </a:prstGeom>
          <a:noFill/>
        </p:spPr>
        <p:txBody>
          <a:bodyPr wrap="square">
            <a:spAutoFit/>
          </a:bodyPr>
          <a:lstStyle/>
          <a:p>
            <a:pPr algn="ctr"/>
            <a:r>
              <a:rPr sz="1500" b="1">
                <a:solidFill>
                  <a:srgbClr val="D4AF37"/>
                </a:solidFill>
                <a:latin typeface="Segoe UI"/>
              </a:rPr>
              <a:t>TRÂN TRỌNG CẢM ƠN QUÝ THẦY CÔ TRONG HỘI ĐỒNG KHOA HỌC!
</a:t>
            </a:r>
          </a:p>
          <a:p>
            <a:pPr algn="ctr"/>
            <a:r>
              <a:rPr sz="1100" i="1">
                <a:solidFill>
                  <a:srgbClr val="FFFFFF"/>
                </a:solidFill>
                <a:latin typeface="Segoe UI"/>
              </a:rPr>
              <a:t>Nhóm nghiên cứu rất mong nhận được các câu hỏi và ý kiến đóng góp quý báu từ Quý Thầy Cô.
(Tác giả: Lê Đan Sơn, Dương Thị Hoàn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